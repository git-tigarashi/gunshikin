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slideMasters/slideMaster8.xml" ContentType="application/vnd.openxmlformats-officedocument.presentationml.slideMaster+xml"/>
  <Override PartName="/ppt/slides/slide8.xml" ContentType="application/vnd.openxmlformats-officedocument.presentationml.slide+xml"/>
  <Override PartName="/ppt/slideMasters/slideMaster9.xml" ContentType="application/vnd.openxmlformats-officedocument.presentationml.slideMaster+xml"/>
  <Override PartName="/ppt/slides/slide9.xml" ContentType="application/vnd.openxmlformats-officedocument.presentationml.slide+xml"/>
  <Override PartName="/ppt/slideMasters/slideMaster10.xml" ContentType="application/vnd.openxmlformats-officedocument.presentationml.slideMaster+xml"/>
  <Override PartName="/ppt/slides/slide10.xml" ContentType="application/vnd.openxmlformats-officedocument.presentationml.slide+xml"/>
  <Override PartName="/ppt/slideMasters/slideMaster11.xml" ContentType="application/vnd.openxmlformats-officedocument.presentationml.slideMaster+xml"/>
  <Override PartName="/ppt/slides/slide11.xml" ContentType="application/vnd.openxmlformats-officedocument.presentationml.slide+xml"/>
  <Override PartName="/ppt/slideMasters/slideMaster12.xml" ContentType="application/vnd.openxmlformats-officedocument.presentationml.slideMaster+xml"/>
  <Override PartName="/ppt/slides/slide12.xml" ContentType="application/vnd.openxmlformats-officedocument.presentationml.slide+xml"/>
  <Override PartName="/ppt/slideMasters/slideMaster13.xml" ContentType="application/vnd.openxmlformats-officedocument.presentationml.slideMaster+xml"/>
  <Override PartName="/ppt/slides/slide13.xml" ContentType="application/vnd.openxmlformats-officedocument.presentationml.slide+xml"/>
  <Override PartName="/ppt/slideMasters/slideMaster14.xml" ContentType="application/vnd.openxmlformats-officedocument.presentationml.slideMaster+xml"/>
  <Override PartName="/ppt/slides/slide14.xml" ContentType="application/vnd.openxmlformats-officedocument.presentationml.slide+xml"/>
  <Override PartName="/ppt/slideMasters/slideMaster15.xml" ContentType="application/vnd.openxmlformats-officedocument.presentationml.slideMaster+xml"/>
  <Override PartName="/ppt/slides/slide15.xml" ContentType="application/vnd.openxmlformats-officedocument.presentationml.slide+xml"/>
  <Override PartName="/ppt/slideMasters/slideMaster16.xml" ContentType="application/vnd.openxmlformats-officedocument.presentationml.slideMaster+xml"/>
  <Override PartName="/ppt/slides/slide16.xml" ContentType="application/vnd.openxmlformats-officedocument.presentationml.slide+xml"/>
  <Override PartName="/ppt/slideMasters/slideMaster17.xml" ContentType="application/vnd.openxmlformats-officedocument.presentationml.slideMaster+xml"/>
  <Override PartName="/ppt/slides/slide17.xml" ContentType="application/vnd.openxmlformats-officedocument.presentationml.slide+xml"/>
  <Override PartName="/ppt/slideMasters/slideMaster18.xml" ContentType="application/vnd.openxmlformats-officedocument.presentationml.slideMaster+xml"/>
  <Override PartName="/ppt/slides/slide18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15.xml" ContentType="application/vnd.openxmlformats-officedocument.presentationml.notesSlide+xml"/>
  <Override PartName="/ppt/notesSlides/notesSlide16.xml" ContentType="application/vnd.openxmlformats-officedocument.presentationml.notesSlide+xml"/>
  <Override PartName="/ppt/notesSlides/notesSlide17.xml" ContentType="application/vnd.openxmlformats-officedocument.presentationml.notesSlide+xml"/>
  <Override PartName="/ppt/notesSlides/notesSlide18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  <p:sldId id="268" r:id="rId14"/>
    <p:sldId id="269" r:id="rId15"/>
    <p:sldId id="270" r:id="rId16"/>
    <p:sldId id="271" r:id="rId17"/>
    <p:sldId id="272" r:id="rId18"/>
    <p:sldId id="273" r:id="rId19"/>
  </p:sldIdLst>
  <p:notesMasterIdLst>
    <p:notesMasterId r:id="rId20"/>
  </p:notesMasterIdLst>
  <p:sldSz cx="12192000" cy="6858000"/>
  <p:notesSz cx="6858000" cy="12192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slide" Target="slides/slide9.xml"/><Relationship Id="rId11" Type="http://schemas.openxmlformats.org/officeDocument/2006/relationships/slide" Target="slides/slide10.xml"/><Relationship Id="rId12" Type="http://schemas.openxmlformats.org/officeDocument/2006/relationships/slide" Target="slides/slide11.xml"/><Relationship Id="rId13" Type="http://schemas.openxmlformats.org/officeDocument/2006/relationships/slide" Target="slides/slide12.xml"/><Relationship Id="rId14" Type="http://schemas.openxmlformats.org/officeDocument/2006/relationships/slide" Target="slides/slide13.xml"/><Relationship Id="rId15" Type="http://schemas.openxmlformats.org/officeDocument/2006/relationships/slide" Target="slides/slide14.xml"/><Relationship Id="rId16" Type="http://schemas.openxmlformats.org/officeDocument/2006/relationships/slide" Target="slides/slide15.xml"/><Relationship Id="rId17" Type="http://schemas.openxmlformats.org/officeDocument/2006/relationships/slide" Target="slides/slide16.xml"/><Relationship Id="rId18" Type="http://schemas.openxmlformats.org/officeDocument/2006/relationships/slide" Target="slides/slide17.xml"/><Relationship Id="rId19" Type="http://schemas.openxmlformats.org/officeDocument/2006/relationships/slide" Target="slides/slide18.xml"/><Relationship Id="rId20" Type="http://schemas.openxmlformats.org/officeDocument/2006/relationships/notesMaster" Target="notesMasters/notesMaster1.xml"/><Relationship Id="rId21" Type="http://schemas.openxmlformats.org/officeDocument/2006/relationships/presProps" Target="presProps.xml"/><Relationship Id="rId22" Type="http://schemas.openxmlformats.org/officeDocument/2006/relationships/viewProps" Target="viewProps.xml"/><Relationship Id="rId23" Type="http://schemas.openxmlformats.org/officeDocument/2006/relationships/theme" Target="theme/theme1.xml"/><Relationship Id="rId24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_rels/notesSlide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.xml"/>
		</Relationships>
</file>

<file path=ppt/notesSlides/_rels/notesSlide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9.xml"/>
		</Relationships>
</file>

<file path=ppt/notesSlides/_rels/notesSlide1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0.xml"/>
		</Relationships>
</file>

<file path=ppt/notesSlides/_rels/notesSlide1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1.xml"/>
		</Relationships>
</file>

<file path=ppt/notesSlides/_rels/notesSlide1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2.xml"/>
		</Relationships>
</file>

<file path=ppt/notesSlides/_rels/notesSlide1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3.xml"/>
		</Relationships>
</file>

<file path=ppt/notesSlides/_rels/notesSlide1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4.xml"/>
		</Relationships>
</file>

<file path=ppt/notesSlides/_rels/notesSlide1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5.xml"/>
		</Relationships>
</file>

<file path=ppt/notesSlides/_rels/notesSlide1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6.xml"/>
		</Relationships>
</file>

<file path=ppt/notesSlides/_rels/notesSlide1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7.xml"/>
		</Relationships>
</file>

<file path=ppt/notesSlides/_rels/notesSlide1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8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8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9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0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1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2.xml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3.xml"/></Relationships>
</file>

<file path=ppt/slides/_rels/slide1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4.xml"/></Relationships>
</file>

<file path=ppt/slides/_rels/slide1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5.xml"/></Relationships>
</file>

<file path=ppt/slides/_rels/slide1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6.xml"/></Relationships>
</file>

<file path=ppt/slides/_rels/slide1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7.xml"/></Relationships>
</file>

<file path=ppt/slides/_rels/slide1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8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rgbClr val="1A2744"/>
          </a:solidFill>
          <a:ln/>
        </p:spPr>
      </p:sp>
      <p:sp>
        <p:nvSpPr>
          <p:cNvPr id="3" name="Shape 1"/>
          <p:cNvSpPr/>
          <p:nvPr/>
        </p:nvSpPr>
        <p:spPr>
          <a:xfrm>
            <a:off x="0" y="5303520"/>
            <a:ext cx="12192000" cy="54864"/>
          </a:xfrm>
          <a:prstGeom prst="rect">
            <a:avLst/>
          </a:prstGeom>
          <a:solidFill>
            <a:srgbClr val="D4A843"/>
          </a:solidFill>
          <a:ln/>
        </p:spPr>
      </p:sp>
      <p:sp>
        <p:nvSpPr>
          <p:cNvPr id="4" name="Shape 2"/>
          <p:cNvSpPr/>
          <p:nvPr/>
        </p:nvSpPr>
        <p:spPr>
          <a:xfrm>
            <a:off x="0" y="5394960"/>
            <a:ext cx="12192000" cy="36576"/>
          </a:xfrm>
          <a:prstGeom prst="rect">
            <a:avLst/>
          </a:prstGeom>
          <a:solidFill>
            <a:srgbClr val="E8602C"/>
          </a:solidFill>
          <a:ln/>
        </p:spPr>
      </p:sp>
      <p:sp>
        <p:nvSpPr>
          <p:cNvPr id="5" name="Text 3"/>
          <p:cNvSpPr/>
          <p:nvPr/>
        </p:nvSpPr>
        <p:spPr>
          <a:xfrm>
            <a:off x="731520" y="914400"/>
            <a:ext cx="10698480" cy="9144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4400" b="1" dirty="0">
                <a:solidFill>
                  <a:srgbClr val="FFFFFF"/>
                </a:solidFill>
                <a:latin typeface="メイリオ" pitchFamily="34" charset="0"/>
                <a:ea typeface="メイリオ" pitchFamily="34" charset="-122"/>
                <a:cs typeface="メイリオ" pitchFamily="34" charset="-120"/>
              </a:rPr>
              <a:t>投資の軍資金を作る</a:t>
            </a:r>
            <a:endParaRPr lang="en-US" sz="4400" dirty="0"/>
          </a:p>
        </p:txBody>
      </p:sp>
      <p:sp>
        <p:nvSpPr>
          <p:cNvPr id="6" name="Text 4"/>
          <p:cNvSpPr/>
          <p:nvPr/>
        </p:nvSpPr>
        <p:spPr>
          <a:xfrm>
            <a:off x="731520" y="1828800"/>
            <a:ext cx="10698480" cy="10972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6000" b="1" dirty="0">
                <a:solidFill>
                  <a:srgbClr val="D4A843"/>
                </a:solidFill>
                <a:latin typeface="メイリオ" pitchFamily="34" charset="0"/>
                <a:ea typeface="メイリオ" pitchFamily="34" charset="-122"/>
                <a:cs typeface="メイリオ" pitchFamily="34" charset="-120"/>
              </a:rPr>
              <a:t>8つの方法</a:t>
            </a:r>
            <a:endParaRPr lang="en-US" sz="6000" dirty="0"/>
          </a:p>
        </p:txBody>
      </p:sp>
      <p:sp>
        <p:nvSpPr>
          <p:cNvPr id="7" name="Text 5"/>
          <p:cNvSpPr/>
          <p:nvPr/>
        </p:nvSpPr>
        <p:spPr>
          <a:xfrm>
            <a:off x="731520" y="3017520"/>
            <a:ext cx="1069848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800" dirty="0">
                <a:solidFill>
                  <a:srgbClr val="AABBCC"/>
                </a:solidFill>
                <a:latin typeface="メイリオ" pitchFamily="34" charset="0"/>
                <a:ea typeface="メイリオ" pitchFamily="34" charset="-122"/>
                <a:cs typeface="メイリオ" pitchFamily="34" charset="-120"/>
              </a:rPr>
              <a:t>〜 将来不安をゼロにする資金作りの全技術 〜</a:t>
            </a:r>
            <a:endParaRPr lang="en-US" sz="1800" dirty="0"/>
          </a:p>
        </p:txBody>
      </p:sp>
      <p:sp>
        <p:nvSpPr>
          <p:cNvPr id="8" name="Shape 6"/>
          <p:cNvSpPr/>
          <p:nvPr/>
        </p:nvSpPr>
        <p:spPr>
          <a:xfrm>
            <a:off x="3200400" y="3657600"/>
            <a:ext cx="5760720" cy="45720"/>
          </a:xfrm>
          <a:prstGeom prst="rect">
            <a:avLst/>
          </a:prstGeom>
          <a:solidFill>
            <a:srgbClr val="D4A843"/>
          </a:solidFill>
          <a:ln/>
        </p:spPr>
      </p:sp>
      <p:sp>
        <p:nvSpPr>
          <p:cNvPr id="9" name="Text 7"/>
          <p:cNvSpPr/>
          <p:nvPr/>
        </p:nvSpPr>
        <p:spPr>
          <a:xfrm>
            <a:off x="731520" y="3840480"/>
            <a:ext cx="1069848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600" dirty="0">
                <a:solidFill>
                  <a:srgbClr val="CCDDEE"/>
                </a:solidFill>
                <a:latin typeface="メイリオ" pitchFamily="34" charset="0"/>
                <a:ea typeface="メイリオ" pitchFamily="34" charset="-122"/>
                <a:cs typeface="メイリオ" pitchFamily="34" charset="-120"/>
              </a:rPr>
              <a:t>高速資産形成セミナー  集客講義</a:t>
            </a:r>
            <a:endParaRPr lang="en-US" sz="16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rgbClr val="F4F6FA"/>
          </a:solidFill>
          <a:ln/>
        </p:spPr>
      </p:sp>
      <p:sp>
        <p:nvSpPr>
          <p:cNvPr id="3" name="Shape 1"/>
          <p:cNvSpPr/>
          <p:nvPr/>
        </p:nvSpPr>
        <p:spPr>
          <a:xfrm>
            <a:off x="365760" y="457200"/>
            <a:ext cx="73152" cy="640080"/>
          </a:xfrm>
          <a:prstGeom prst="rect">
            <a:avLst/>
          </a:prstGeom>
          <a:solidFill>
            <a:srgbClr val="D4A843"/>
          </a:solidFill>
          <a:ln/>
        </p:spPr>
      </p:sp>
      <p:sp>
        <p:nvSpPr>
          <p:cNvPr id="4" name="Text 2"/>
          <p:cNvSpPr/>
          <p:nvPr/>
        </p:nvSpPr>
        <p:spPr>
          <a:xfrm>
            <a:off x="594360" y="457200"/>
            <a:ext cx="1069848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1A2744"/>
                </a:solidFill>
                <a:latin typeface="メイリオ" pitchFamily="34" charset="0"/>
                <a:ea typeface="メイリオ" pitchFamily="34" charset="-122"/>
                <a:cs typeface="メイリオ" pitchFamily="34" charset="-120"/>
              </a:rPr>
              <a:t>本日の講義ゴール</a:t>
            </a:r>
            <a:endParaRPr lang="en-US" sz="2800" dirty="0"/>
          </a:p>
        </p:txBody>
      </p:sp>
      <p:sp>
        <p:nvSpPr>
          <p:cNvPr id="5" name="Shape 3"/>
          <p:cNvSpPr/>
          <p:nvPr/>
        </p:nvSpPr>
        <p:spPr>
          <a:xfrm>
            <a:off x="457200" y="1463040"/>
            <a:ext cx="11247120" cy="1005840"/>
          </a:xfrm>
          <a:prstGeom prst="rect">
            <a:avLst/>
          </a:prstGeom>
          <a:solidFill>
            <a:srgbClr val="FFFFFF"/>
          </a:solidFill>
          <a:ln w="12700">
            <a:solidFill>
              <a:srgbClr val="DDDDDD"/>
            </a:solidFill>
            <a:prstDash val="solid"/>
          </a:ln>
        </p:spPr>
      </p:sp>
      <p:sp>
        <p:nvSpPr>
          <p:cNvPr id="6" name="Shape 4"/>
          <p:cNvSpPr/>
          <p:nvPr/>
        </p:nvSpPr>
        <p:spPr>
          <a:xfrm>
            <a:off x="640080" y="1645920"/>
            <a:ext cx="640080" cy="640080"/>
          </a:xfrm>
          <a:prstGeom prst="ellipse">
            <a:avLst/>
          </a:prstGeom>
          <a:solidFill>
            <a:srgbClr val="1A2744"/>
          </a:solidFill>
          <a:ln/>
        </p:spPr>
      </p:sp>
      <p:sp>
        <p:nvSpPr>
          <p:cNvPr id="7" name="Text 5"/>
          <p:cNvSpPr/>
          <p:nvPr/>
        </p:nvSpPr>
        <p:spPr>
          <a:xfrm>
            <a:off x="640080" y="1645920"/>
            <a:ext cx="64008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①</a:t>
            </a:r>
            <a:endParaRPr lang="en-US" sz="1600" dirty="0"/>
          </a:p>
        </p:txBody>
      </p:sp>
      <p:sp>
        <p:nvSpPr>
          <p:cNvPr id="8" name="Text 6"/>
          <p:cNvSpPr/>
          <p:nvPr/>
        </p:nvSpPr>
        <p:spPr>
          <a:xfrm>
            <a:off x="1463040" y="1645920"/>
            <a:ext cx="1005840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800" dirty="0">
                <a:solidFill>
                  <a:srgbClr val="333333"/>
                </a:solidFill>
                <a:latin typeface="メイリオ" pitchFamily="34" charset="0"/>
                <a:ea typeface="メイリオ" pitchFamily="34" charset="-122"/>
                <a:cs typeface="メイリオ" pitchFamily="34" charset="-120"/>
              </a:rPr>
              <a:t>軍資金（投資元本）を作る8つの具体的手法を知る</a:t>
            </a:r>
            <a:endParaRPr lang="en-US" sz="1800" dirty="0"/>
          </a:p>
        </p:txBody>
      </p:sp>
      <p:sp>
        <p:nvSpPr>
          <p:cNvPr id="9" name="Shape 7"/>
          <p:cNvSpPr/>
          <p:nvPr/>
        </p:nvSpPr>
        <p:spPr>
          <a:xfrm>
            <a:off x="457200" y="2743200"/>
            <a:ext cx="11247120" cy="1005840"/>
          </a:xfrm>
          <a:prstGeom prst="rect">
            <a:avLst/>
          </a:prstGeom>
          <a:solidFill>
            <a:srgbClr val="FFFFFF"/>
          </a:solidFill>
          <a:ln w="12700">
            <a:solidFill>
              <a:srgbClr val="DDDDDD"/>
            </a:solidFill>
            <a:prstDash val="solid"/>
          </a:ln>
        </p:spPr>
      </p:sp>
      <p:sp>
        <p:nvSpPr>
          <p:cNvPr id="10" name="Shape 8"/>
          <p:cNvSpPr/>
          <p:nvPr/>
        </p:nvSpPr>
        <p:spPr>
          <a:xfrm>
            <a:off x="640080" y="2926080"/>
            <a:ext cx="640080" cy="640080"/>
          </a:xfrm>
          <a:prstGeom prst="ellipse">
            <a:avLst/>
          </a:prstGeom>
          <a:solidFill>
            <a:srgbClr val="1A2744"/>
          </a:solidFill>
          <a:ln/>
        </p:spPr>
      </p:sp>
      <p:sp>
        <p:nvSpPr>
          <p:cNvPr id="11" name="Text 9"/>
          <p:cNvSpPr/>
          <p:nvPr/>
        </p:nvSpPr>
        <p:spPr>
          <a:xfrm>
            <a:off x="640080" y="2926080"/>
            <a:ext cx="64008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②</a:t>
            </a:r>
            <a:endParaRPr lang="en-US" sz="1600" dirty="0"/>
          </a:p>
        </p:txBody>
      </p:sp>
      <p:sp>
        <p:nvSpPr>
          <p:cNvPr id="12" name="Text 10"/>
          <p:cNvSpPr/>
          <p:nvPr/>
        </p:nvSpPr>
        <p:spPr>
          <a:xfrm>
            <a:off x="1463040" y="2926080"/>
            <a:ext cx="1005840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800" dirty="0">
                <a:solidFill>
                  <a:srgbClr val="333333"/>
                </a:solidFill>
                <a:latin typeface="メイリオ" pitchFamily="34" charset="0"/>
                <a:ea typeface="メイリオ" pitchFamily="34" charset="-122"/>
                <a:cs typeface="メイリオ" pitchFamily="34" charset="-120"/>
              </a:rPr>
              <a:t>月3〜10万円の軍資金を継続的に確保できるようになる</a:t>
            </a:r>
            <a:endParaRPr lang="en-US" sz="1800" dirty="0"/>
          </a:p>
        </p:txBody>
      </p:sp>
      <p:sp>
        <p:nvSpPr>
          <p:cNvPr id="13" name="Shape 11"/>
          <p:cNvSpPr/>
          <p:nvPr/>
        </p:nvSpPr>
        <p:spPr>
          <a:xfrm>
            <a:off x="457200" y="4023360"/>
            <a:ext cx="11247120" cy="1005840"/>
          </a:xfrm>
          <a:prstGeom prst="rect">
            <a:avLst/>
          </a:prstGeom>
          <a:solidFill>
            <a:srgbClr val="FFFFFF"/>
          </a:solidFill>
          <a:ln w="12700">
            <a:solidFill>
              <a:srgbClr val="DDDDDD"/>
            </a:solidFill>
            <a:prstDash val="solid"/>
          </a:ln>
        </p:spPr>
      </p:sp>
      <p:sp>
        <p:nvSpPr>
          <p:cNvPr id="14" name="Shape 12"/>
          <p:cNvSpPr/>
          <p:nvPr/>
        </p:nvSpPr>
        <p:spPr>
          <a:xfrm>
            <a:off x="640080" y="4206240"/>
            <a:ext cx="640080" cy="640080"/>
          </a:xfrm>
          <a:prstGeom prst="ellipse">
            <a:avLst/>
          </a:prstGeom>
          <a:solidFill>
            <a:srgbClr val="E8602C"/>
          </a:solidFill>
          <a:ln/>
        </p:spPr>
      </p:sp>
      <p:sp>
        <p:nvSpPr>
          <p:cNvPr id="15" name="Text 13"/>
          <p:cNvSpPr/>
          <p:nvPr/>
        </p:nvSpPr>
        <p:spPr>
          <a:xfrm>
            <a:off x="640080" y="4206240"/>
            <a:ext cx="64008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③</a:t>
            </a:r>
            <a:endParaRPr lang="en-US" sz="1600" dirty="0"/>
          </a:p>
        </p:txBody>
      </p:sp>
      <p:sp>
        <p:nvSpPr>
          <p:cNvPr id="16" name="Text 14"/>
          <p:cNvSpPr/>
          <p:nvPr/>
        </p:nvSpPr>
        <p:spPr>
          <a:xfrm>
            <a:off x="1463040" y="4206240"/>
            <a:ext cx="1005840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800" dirty="0">
                <a:solidFill>
                  <a:srgbClr val="333333"/>
                </a:solidFill>
                <a:latin typeface="メイリオ" pitchFamily="34" charset="0"/>
                <a:ea typeface="メイリオ" pitchFamily="34" charset="-122"/>
                <a:cs typeface="メイリオ" pitchFamily="34" charset="-120"/>
              </a:rPr>
              <a:t>貯めた軍資金を「どう増やすか」の選択肢を広げる</a:t>
            </a:r>
            <a:endParaRPr lang="en-US" sz="1800" dirty="0"/>
          </a:p>
        </p:txBody>
      </p:sp>
      <p:sp>
        <p:nvSpPr>
          <p:cNvPr id="17" name="Text 15"/>
          <p:cNvSpPr/>
          <p:nvPr/>
        </p:nvSpPr>
        <p:spPr>
          <a:xfrm>
            <a:off x="274320" y="6309360"/>
            <a:ext cx="1161288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666666"/>
                </a:solidFill>
                <a:latin typeface="メイリオ" pitchFamily="34" charset="0"/>
                <a:ea typeface="メイリオ" pitchFamily="34" charset="-122"/>
                <a:cs typeface="メイリオ" pitchFamily="34" charset="-120"/>
              </a:rPr>
              <a:t>高速資産形成セミナー集客講義</a:t>
            </a:r>
            <a:endParaRPr lang="en-US" sz="9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rgbClr val="1A2744"/>
          </a:solidFill>
          <a:ln/>
        </p:spPr>
      </p:sp>
      <p:sp>
        <p:nvSpPr>
          <p:cNvPr id="3" name="Shape 1"/>
          <p:cNvSpPr/>
          <p:nvPr/>
        </p:nvSpPr>
        <p:spPr>
          <a:xfrm>
            <a:off x="0" y="0"/>
            <a:ext cx="12192000" cy="54864"/>
          </a:xfrm>
          <a:prstGeom prst="rect">
            <a:avLst/>
          </a:prstGeom>
          <a:solidFill>
            <a:srgbClr val="D4A843"/>
          </a:solidFill>
          <a:ln/>
        </p:spPr>
      </p:sp>
      <p:sp>
        <p:nvSpPr>
          <p:cNvPr id="4" name="Text 2"/>
          <p:cNvSpPr/>
          <p:nvPr/>
        </p:nvSpPr>
        <p:spPr>
          <a:xfrm>
            <a:off x="457200" y="274320"/>
            <a:ext cx="1124712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3000" b="1" dirty="0">
                <a:solidFill>
                  <a:srgbClr val="FFFFFF"/>
                </a:solidFill>
                <a:latin typeface="メイリオ" pitchFamily="34" charset="0"/>
                <a:ea typeface="メイリオ" pitchFamily="34" charset="-122"/>
                <a:cs typeface="メイリオ" pitchFamily="34" charset="-120"/>
              </a:rPr>
              <a:t>あなたの老後、今のままで大丈夫ですか？</a:t>
            </a:r>
            <a:endParaRPr lang="en-US" sz="3000" dirty="0"/>
          </a:p>
        </p:txBody>
      </p:sp>
      <p:sp>
        <p:nvSpPr>
          <p:cNvPr id="5" name="Shape 3"/>
          <p:cNvSpPr/>
          <p:nvPr/>
        </p:nvSpPr>
        <p:spPr>
          <a:xfrm>
            <a:off x="457200" y="1188720"/>
            <a:ext cx="5394960" cy="1828800"/>
          </a:xfrm>
          <a:prstGeom prst="rect">
            <a:avLst/>
          </a:prstGeom>
          <a:solidFill>
            <a:srgbClr val="243060"/>
          </a:solidFill>
          <a:ln w="12700">
            <a:solidFill>
              <a:srgbClr val="E8602C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457200" y="1280160"/>
            <a:ext cx="5394960" cy="9144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3800" b="1" dirty="0">
                <a:solidFill>
                  <a:srgbClr val="E8602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¥148,000</a:t>
            </a:r>
            <a:endParaRPr lang="en-US" sz="3800" dirty="0"/>
          </a:p>
        </p:txBody>
      </p:sp>
      <p:sp>
        <p:nvSpPr>
          <p:cNvPr id="7" name="Text 5"/>
          <p:cNvSpPr/>
          <p:nvPr/>
        </p:nvSpPr>
        <p:spPr>
          <a:xfrm>
            <a:off x="457200" y="2103120"/>
            <a:ext cx="539496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メイリオ" pitchFamily="34" charset="0"/>
                <a:ea typeface="メイリオ" pitchFamily="34" charset="-122"/>
                <a:cs typeface="メイリオ" pitchFamily="34" charset="-120"/>
              </a:rPr>
              <a:t>厚生年金の平均月額</a:t>
            </a:r>
            <a:endParaRPr lang="en-US" sz="1600" dirty="0"/>
          </a:p>
        </p:txBody>
      </p:sp>
      <p:sp>
        <p:nvSpPr>
          <p:cNvPr id="8" name="Text 6"/>
          <p:cNvSpPr/>
          <p:nvPr/>
        </p:nvSpPr>
        <p:spPr>
          <a:xfrm>
            <a:off x="457200" y="2560320"/>
            <a:ext cx="539496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dirty="0">
                <a:solidFill>
                  <a:srgbClr val="AABBCC"/>
                </a:solidFill>
                <a:latin typeface="メイリオ" pitchFamily="34" charset="0"/>
                <a:ea typeface="メイリオ" pitchFamily="34" charset="-122"/>
                <a:cs typeface="メイリオ" pitchFamily="34" charset="-120"/>
              </a:rPr>
              <a:t>（2024年度）</a:t>
            </a:r>
            <a:endParaRPr lang="en-US" sz="1200" dirty="0"/>
          </a:p>
        </p:txBody>
      </p:sp>
      <p:sp>
        <p:nvSpPr>
          <p:cNvPr id="9" name="Shape 7"/>
          <p:cNvSpPr/>
          <p:nvPr/>
        </p:nvSpPr>
        <p:spPr>
          <a:xfrm>
            <a:off x="6126480" y="1188720"/>
            <a:ext cx="5394960" cy="1828800"/>
          </a:xfrm>
          <a:prstGeom prst="rect">
            <a:avLst/>
          </a:prstGeom>
          <a:solidFill>
            <a:srgbClr val="243060"/>
          </a:solidFill>
          <a:ln w="12700">
            <a:solidFill>
              <a:srgbClr val="C62828"/>
            </a:solidFill>
            <a:prstDash val="solid"/>
          </a:ln>
        </p:spPr>
      </p:sp>
      <p:sp>
        <p:nvSpPr>
          <p:cNvPr id="10" name="Text 8"/>
          <p:cNvSpPr/>
          <p:nvPr/>
        </p:nvSpPr>
        <p:spPr>
          <a:xfrm>
            <a:off x="6126480" y="1280160"/>
            <a:ext cx="5394960" cy="9144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3800" b="1" dirty="0">
                <a:solidFill>
                  <a:srgbClr val="C6282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0.1%</a:t>
            </a:r>
            <a:endParaRPr lang="en-US" sz="3800" dirty="0"/>
          </a:p>
        </p:txBody>
      </p:sp>
      <p:sp>
        <p:nvSpPr>
          <p:cNvPr id="11" name="Text 9"/>
          <p:cNvSpPr/>
          <p:nvPr/>
        </p:nvSpPr>
        <p:spPr>
          <a:xfrm>
            <a:off x="6126480" y="2103120"/>
            <a:ext cx="539496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メイリオ" pitchFamily="34" charset="0"/>
                <a:ea typeface="メイリオ" pitchFamily="34" charset="-122"/>
                <a:cs typeface="メイリオ" pitchFamily="34" charset="-120"/>
              </a:rPr>
              <a:t>銀行普通預金の金利</a:t>
            </a:r>
            <a:endParaRPr lang="en-US" sz="1600" dirty="0"/>
          </a:p>
        </p:txBody>
      </p:sp>
      <p:sp>
        <p:nvSpPr>
          <p:cNvPr id="12" name="Text 10"/>
          <p:cNvSpPr/>
          <p:nvPr/>
        </p:nvSpPr>
        <p:spPr>
          <a:xfrm>
            <a:off x="6126480" y="2560320"/>
            <a:ext cx="539496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dirty="0">
                <a:solidFill>
                  <a:srgbClr val="AABBCC"/>
                </a:solidFill>
                <a:latin typeface="メイリオ" pitchFamily="34" charset="0"/>
                <a:ea typeface="メイリオ" pitchFamily="34" charset="-122"/>
                <a:cs typeface="メイリオ" pitchFamily="34" charset="-120"/>
              </a:rPr>
              <a:t>100万円で年1,000円</a:t>
            </a:r>
            <a:endParaRPr lang="en-US" sz="1200" dirty="0"/>
          </a:p>
        </p:txBody>
      </p:sp>
      <p:sp>
        <p:nvSpPr>
          <p:cNvPr id="13" name="Shape 11"/>
          <p:cNvSpPr/>
          <p:nvPr/>
        </p:nvSpPr>
        <p:spPr>
          <a:xfrm>
            <a:off x="457200" y="3291840"/>
            <a:ext cx="5394960" cy="1828800"/>
          </a:xfrm>
          <a:prstGeom prst="rect">
            <a:avLst/>
          </a:prstGeom>
          <a:solidFill>
            <a:srgbClr val="243060"/>
          </a:solidFill>
          <a:ln w="12700">
            <a:solidFill>
              <a:srgbClr val="E8602C"/>
            </a:solidFill>
            <a:prstDash val="solid"/>
          </a:ln>
        </p:spPr>
      </p:sp>
      <p:sp>
        <p:nvSpPr>
          <p:cNvPr id="14" name="Text 12"/>
          <p:cNvSpPr/>
          <p:nvPr/>
        </p:nvSpPr>
        <p:spPr>
          <a:xfrm>
            <a:off x="457200" y="3383280"/>
            <a:ext cx="5394960" cy="9144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3800" b="1" dirty="0">
                <a:solidFill>
                  <a:srgbClr val="E8602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+30%</a:t>
            </a:r>
            <a:endParaRPr lang="en-US" sz="3800" dirty="0"/>
          </a:p>
        </p:txBody>
      </p:sp>
      <p:sp>
        <p:nvSpPr>
          <p:cNvPr id="15" name="Text 13"/>
          <p:cNvSpPr/>
          <p:nvPr/>
        </p:nvSpPr>
        <p:spPr>
          <a:xfrm>
            <a:off x="457200" y="4206240"/>
            <a:ext cx="539496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メイリオ" pitchFamily="34" charset="0"/>
                <a:ea typeface="メイリオ" pitchFamily="34" charset="-122"/>
                <a:cs typeface="メイリオ" pitchFamily="34" charset="-120"/>
              </a:rPr>
              <a:t>物価上昇（2020年比）</a:t>
            </a:r>
            <a:endParaRPr lang="en-US" sz="1600" dirty="0"/>
          </a:p>
        </p:txBody>
      </p:sp>
      <p:sp>
        <p:nvSpPr>
          <p:cNvPr id="16" name="Text 14"/>
          <p:cNvSpPr/>
          <p:nvPr/>
        </p:nvSpPr>
        <p:spPr>
          <a:xfrm>
            <a:off x="457200" y="4663440"/>
            <a:ext cx="539496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dirty="0">
                <a:solidFill>
                  <a:srgbClr val="AABBCC"/>
                </a:solidFill>
                <a:latin typeface="メイリオ" pitchFamily="34" charset="0"/>
                <a:ea typeface="メイリオ" pitchFamily="34" charset="-122"/>
                <a:cs typeface="メイリオ" pitchFamily="34" charset="-120"/>
              </a:rPr>
              <a:t>実質的な購買力は低下</a:t>
            </a:r>
            <a:endParaRPr lang="en-US" sz="1200" dirty="0"/>
          </a:p>
        </p:txBody>
      </p:sp>
      <p:sp>
        <p:nvSpPr>
          <p:cNvPr id="17" name="Shape 15"/>
          <p:cNvSpPr/>
          <p:nvPr/>
        </p:nvSpPr>
        <p:spPr>
          <a:xfrm>
            <a:off x="6126480" y="3291840"/>
            <a:ext cx="5394960" cy="1828800"/>
          </a:xfrm>
          <a:prstGeom prst="rect">
            <a:avLst/>
          </a:prstGeom>
          <a:solidFill>
            <a:srgbClr val="243060"/>
          </a:solidFill>
          <a:ln w="12700">
            <a:solidFill>
              <a:srgbClr val="C62828"/>
            </a:solidFill>
            <a:prstDash val="solid"/>
          </a:ln>
        </p:spPr>
      </p:sp>
      <p:sp>
        <p:nvSpPr>
          <p:cNvPr id="18" name="Text 16"/>
          <p:cNvSpPr/>
          <p:nvPr/>
        </p:nvSpPr>
        <p:spPr>
          <a:xfrm>
            <a:off x="6126480" y="3383280"/>
            <a:ext cx="5394960" cy="9144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3800" b="1" dirty="0">
                <a:solidFill>
                  <a:srgbClr val="C6282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2,000万円</a:t>
            </a:r>
            <a:endParaRPr lang="en-US" sz="3800" dirty="0"/>
          </a:p>
        </p:txBody>
      </p:sp>
      <p:sp>
        <p:nvSpPr>
          <p:cNvPr id="19" name="Text 17"/>
          <p:cNvSpPr/>
          <p:nvPr/>
        </p:nvSpPr>
        <p:spPr>
          <a:xfrm>
            <a:off x="6126480" y="4206240"/>
            <a:ext cx="539496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メイリオ" pitchFamily="34" charset="0"/>
                <a:ea typeface="メイリオ" pitchFamily="34" charset="-122"/>
                <a:cs typeface="メイリオ" pitchFamily="34" charset="-120"/>
              </a:rPr>
              <a:t>老後に必要と言われる不足額</a:t>
            </a:r>
            <a:endParaRPr lang="en-US" sz="1600" dirty="0"/>
          </a:p>
        </p:txBody>
      </p:sp>
      <p:sp>
        <p:nvSpPr>
          <p:cNvPr id="20" name="Text 18"/>
          <p:cNvSpPr/>
          <p:nvPr/>
        </p:nvSpPr>
        <p:spPr>
          <a:xfrm>
            <a:off x="6126480" y="4663440"/>
            <a:ext cx="539496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dirty="0">
                <a:solidFill>
                  <a:srgbClr val="AABBCC"/>
                </a:solidFill>
                <a:latin typeface="メイリオ" pitchFamily="34" charset="0"/>
                <a:ea typeface="メイリオ" pitchFamily="34" charset="-122"/>
                <a:cs typeface="メイリオ" pitchFamily="34" charset="-120"/>
              </a:rPr>
              <a:t>（金融庁試算）</a:t>
            </a:r>
            <a:endParaRPr lang="en-US" sz="1200" dirty="0"/>
          </a:p>
        </p:txBody>
      </p:sp>
      <p:sp>
        <p:nvSpPr>
          <p:cNvPr id="21" name="Text 19"/>
          <p:cNvSpPr/>
          <p:nvPr/>
        </p:nvSpPr>
        <p:spPr>
          <a:xfrm>
            <a:off x="274320" y="6309360"/>
            <a:ext cx="1161288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666666"/>
                </a:solidFill>
                <a:latin typeface="メイリオ" pitchFamily="34" charset="0"/>
                <a:ea typeface="メイリオ" pitchFamily="34" charset="-122"/>
                <a:cs typeface="メイリオ" pitchFamily="34" charset="-120"/>
              </a:rPr>
              <a:t>高速資産形成セミナー集客講義</a:t>
            </a:r>
            <a:endParaRPr lang="en-US" sz="90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rgbClr val="F4F6FA"/>
          </a:solidFill>
          <a:ln/>
        </p:spPr>
      </p:sp>
      <p:sp>
        <p:nvSpPr>
          <p:cNvPr id="3" name="Shape 1"/>
          <p:cNvSpPr/>
          <p:nvPr/>
        </p:nvSpPr>
        <p:spPr>
          <a:xfrm>
            <a:off x="365760" y="457200"/>
            <a:ext cx="73152" cy="640080"/>
          </a:xfrm>
          <a:prstGeom prst="rect">
            <a:avLst/>
          </a:prstGeom>
          <a:solidFill>
            <a:srgbClr val="D4A843"/>
          </a:solidFill>
          <a:ln/>
        </p:spPr>
      </p:sp>
      <p:sp>
        <p:nvSpPr>
          <p:cNvPr id="4" name="Text 2"/>
          <p:cNvSpPr/>
          <p:nvPr/>
        </p:nvSpPr>
        <p:spPr>
          <a:xfrm>
            <a:off x="594360" y="457200"/>
            <a:ext cx="1069848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1A2744"/>
                </a:solidFill>
                <a:latin typeface="メイリオ" pitchFamily="34" charset="0"/>
                <a:ea typeface="メイリオ" pitchFamily="34" charset="-122"/>
                <a:cs typeface="メイリオ" pitchFamily="34" charset="-120"/>
              </a:rPr>
              <a:t>「軍資金」という発想の転換</a:t>
            </a:r>
            <a:endParaRPr lang="en-US" sz="2800" dirty="0"/>
          </a:p>
        </p:txBody>
      </p:sp>
      <p:sp>
        <p:nvSpPr>
          <p:cNvPr id="5" name="Shape 3"/>
          <p:cNvSpPr/>
          <p:nvPr/>
        </p:nvSpPr>
        <p:spPr>
          <a:xfrm>
            <a:off x="457200" y="1371600"/>
            <a:ext cx="11247120" cy="914400"/>
          </a:xfrm>
          <a:prstGeom prst="rect">
            <a:avLst/>
          </a:prstGeom>
          <a:solidFill>
            <a:srgbClr val="1A2744"/>
          </a:solidFill>
          <a:ln/>
        </p:spPr>
      </p:sp>
      <p:sp>
        <p:nvSpPr>
          <p:cNvPr id="6" name="Text 4"/>
          <p:cNvSpPr/>
          <p:nvPr/>
        </p:nvSpPr>
        <p:spPr>
          <a:xfrm>
            <a:off x="457200" y="1371600"/>
            <a:ext cx="11247120" cy="9144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000" b="1" dirty="0">
                <a:solidFill>
                  <a:srgbClr val="D4A843"/>
                </a:solidFill>
                <a:latin typeface="メイリオ" pitchFamily="34" charset="0"/>
                <a:ea typeface="メイリオ" pitchFamily="34" charset="-122"/>
                <a:cs typeface="メイリオ" pitchFamily="34" charset="-120"/>
              </a:rPr>
              <a:t>給料 = 生活費だけではなく「生活費」＋「軍資金」に分けて考える</a:t>
            </a:r>
            <a:endParaRPr lang="en-US" sz="2000" dirty="0"/>
          </a:p>
        </p:txBody>
      </p:sp>
      <p:sp>
        <p:nvSpPr>
          <p:cNvPr id="7" name="Shape 5"/>
          <p:cNvSpPr/>
          <p:nvPr/>
        </p:nvSpPr>
        <p:spPr>
          <a:xfrm>
            <a:off x="548640" y="2651760"/>
            <a:ext cx="2743200" cy="1280160"/>
          </a:xfrm>
          <a:prstGeom prst="rect">
            <a:avLst/>
          </a:prstGeom>
          <a:solidFill>
            <a:srgbClr val="1565C0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548640" y="2651760"/>
            <a:ext cx="2743200" cy="12801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FFFFFF"/>
                </a:solidFill>
                <a:latin typeface="メイリオ" pitchFamily="34" charset="0"/>
                <a:ea typeface="メイリオ" pitchFamily="34" charset="-122"/>
                <a:cs typeface="メイリオ" pitchFamily="34" charset="-120"/>
              </a:rPr>
              <a:t>給与収入</a:t>
            </a:r>
            <a:endParaRPr lang="en-US" sz="1800" dirty="0"/>
          </a:p>
        </p:txBody>
      </p:sp>
      <p:sp>
        <p:nvSpPr>
          <p:cNvPr id="9" name="Shape 7"/>
          <p:cNvSpPr/>
          <p:nvPr/>
        </p:nvSpPr>
        <p:spPr>
          <a:xfrm>
            <a:off x="3337560" y="3063240"/>
            <a:ext cx="365760" cy="457200"/>
          </a:xfrm>
          <a:prstGeom prst="rect">
            <a:avLst/>
          </a:prstGeom>
          <a:solidFill>
            <a:srgbClr val="D4A843"/>
          </a:solidFill>
          <a:ln/>
        </p:spPr>
      </p:sp>
      <p:sp>
        <p:nvSpPr>
          <p:cNvPr id="10" name="Text 8"/>
          <p:cNvSpPr/>
          <p:nvPr/>
        </p:nvSpPr>
        <p:spPr>
          <a:xfrm>
            <a:off x="3337560" y="3063240"/>
            <a:ext cx="36576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1A274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▶</a:t>
            </a:r>
            <a:endParaRPr lang="en-US" sz="1800" dirty="0"/>
          </a:p>
        </p:txBody>
      </p:sp>
      <p:sp>
        <p:nvSpPr>
          <p:cNvPr id="11" name="Shape 9"/>
          <p:cNvSpPr/>
          <p:nvPr/>
        </p:nvSpPr>
        <p:spPr>
          <a:xfrm>
            <a:off x="3749040" y="2651760"/>
            <a:ext cx="2743200" cy="1280160"/>
          </a:xfrm>
          <a:prstGeom prst="rect">
            <a:avLst/>
          </a:prstGeom>
          <a:solidFill>
            <a:srgbClr val="666666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12" name="Text 10"/>
          <p:cNvSpPr/>
          <p:nvPr/>
        </p:nvSpPr>
        <p:spPr>
          <a:xfrm>
            <a:off x="3749040" y="2651760"/>
            <a:ext cx="2743200" cy="12801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FFFFFF"/>
                </a:solidFill>
                <a:latin typeface="メイリオ" pitchFamily="34" charset="0"/>
                <a:ea typeface="メイリオ" pitchFamily="34" charset="-122"/>
                <a:cs typeface="メイリオ" pitchFamily="34" charset="-120"/>
              </a:rPr>
              <a:t>生活費</a:t>
            </a:r>
            <a:endParaRPr lang="en-US" sz="1800" dirty="0"/>
          </a:p>
          <a:p>
            <a:pPr algn="ctr" indent="0" marL="0">
              <a:buNone/>
            </a:pPr>
            <a:r>
              <a:rPr lang="en-US" sz="1800" b="1" dirty="0">
                <a:solidFill>
                  <a:srgbClr val="FFFFFF"/>
                </a:solidFill>
                <a:latin typeface="メイリオ" pitchFamily="34" charset="0"/>
                <a:ea typeface="メイリオ" pitchFamily="34" charset="-122"/>
                <a:cs typeface="メイリオ" pitchFamily="34" charset="-120"/>
              </a:rPr>
              <a:t>（支出）</a:t>
            </a:r>
            <a:endParaRPr lang="en-US" sz="1800" dirty="0"/>
          </a:p>
        </p:txBody>
      </p:sp>
      <p:sp>
        <p:nvSpPr>
          <p:cNvPr id="13" name="Shape 11"/>
          <p:cNvSpPr/>
          <p:nvPr/>
        </p:nvSpPr>
        <p:spPr>
          <a:xfrm>
            <a:off x="6537960" y="3063240"/>
            <a:ext cx="365760" cy="457200"/>
          </a:xfrm>
          <a:prstGeom prst="rect">
            <a:avLst/>
          </a:prstGeom>
          <a:solidFill>
            <a:srgbClr val="D4A843"/>
          </a:solidFill>
          <a:ln/>
        </p:spPr>
      </p:sp>
      <p:sp>
        <p:nvSpPr>
          <p:cNvPr id="14" name="Text 12"/>
          <p:cNvSpPr/>
          <p:nvPr/>
        </p:nvSpPr>
        <p:spPr>
          <a:xfrm>
            <a:off x="6537960" y="3063240"/>
            <a:ext cx="36576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1A274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▶</a:t>
            </a:r>
            <a:endParaRPr lang="en-US" sz="1800" dirty="0"/>
          </a:p>
        </p:txBody>
      </p:sp>
      <p:sp>
        <p:nvSpPr>
          <p:cNvPr id="15" name="Shape 13"/>
          <p:cNvSpPr/>
          <p:nvPr/>
        </p:nvSpPr>
        <p:spPr>
          <a:xfrm>
            <a:off x="6949440" y="2651760"/>
            <a:ext cx="2743200" cy="1280160"/>
          </a:xfrm>
          <a:prstGeom prst="rect">
            <a:avLst/>
          </a:prstGeom>
          <a:solidFill>
            <a:srgbClr val="2E7D32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16" name="Text 14"/>
          <p:cNvSpPr/>
          <p:nvPr/>
        </p:nvSpPr>
        <p:spPr>
          <a:xfrm>
            <a:off x="6949440" y="2651760"/>
            <a:ext cx="2743200" cy="12801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FFFFFF"/>
                </a:solidFill>
                <a:latin typeface="メイリオ" pitchFamily="34" charset="0"/>
                <a:ea typeface="メイリオ" pitchFamily="34" charset="-122"/>
                <a:cs typeface="メイリオ" pitchFamily="34" charset="-120"/>
              </a:rPr>
              <a:t>軍資金</a:t>
            </a:r>
            <a:endParaRPr lang="en-US" sz="1800" dirty="0"/>
          </a:p>
          <a:p>
            <a:pPr algn="ctr" indent="0" marL="0">
              <a:buNone/>
            </a:pPr>
            <a:r>
              <a:rPr lang="en-US" sz="1800" b="1" dirty="0">
                <a:solidFill>
                  <a:srgbClr val="FFFFFF"/>
                </a:solidFill>
                <a:latin typeface="メイリオ" pitchFamily="34" charset="0"/>
                <a:ea typeface="メイリオ" pitchFamily="34" charset="-122"/>
                <a:cs typeface="メイリオ" pitchFamily="34" charset="-120"/>
              </a:rPr>
              <a:t>（投資元本）</a:t>
            </a:r>
            <a:endParaRPr lang="en-US" sz="1800" dirty="0"/>
          </a:p>
        </p:txBody>
      </p:sp>
      <p:sp>
        <p:nvSpPr>
          <p:cNvPr id="17" name="Shape 15"/>
          <p:cNvSpPr/>
          <p:nvPr/>
        </p:nvSpPr>
        <p:spPr>
          <a:xfrm>
            <a:off x="9738360" y="3063240"/>
            <a:ext cx="365760" cy="457200"/>
          </a:xfrm>
          <a:prstGeom prst="rect">
            <a:avLst/>
          </a:prstGeom>
          <a:solidFill>
            <a:srgbClr val="D4A843"/>
          </a:solidFill>
          <a:ln/>
        </p:spPr>
      </p:sp>
      <p:sp>
        <p:nvSpPr>
          <p:cNvPr id="18" name="Text 16"/>
          <p:cNvSpPr/>
          <p:nvPr/>
        </p:nvSpPr>
        <p:spPr>
          <a:xfrm>
            <a:off x="9738360" y="3063240"/>
            <a:ext cx="36576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1A274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▶</a:t>
            </a:r>
            <a:endParaRPr lang="en-US" sz="1800" dirty="0"/>
          </a:p>
        </p:txBody>
      </p:sp>
      <p:sp>
        <p:nvSpPr>
          <p:cNvPr id="19" name="Shape 17"/>
          <p:cNvSpPr/>
          <p:nvPr/>
        </p:nvSpPr>
        <p:spPr>
          <a:xfrm>
            <a:off x="10149840" y="2651760"/>
            <a:ext cx="2743200" cy="1280160"/>
          </a:xfrm>
          <a:prstGeom prst="rect">
            <a:avLst/>
          </a:prstGeom>
          <a:solidFill>
            <a:srgbClr val="E8602C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20" name="Text 18"/>
          <p:cNvSpPr/>
          <p:nvPr/>
        </p:nvSpPr>
        <p:spPr>
          <a:xfrm>
            <a:off x="10149840" y="2651760"/>
            <a:ext cx="2743200" cy="12801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FFFFFF"/>
                </a:solidFill>
                <a:latin typeface="メイリオ" pitchFamily="34" charset="0"/>
                <a:ea typeface="メイリオ" pitchFamily="34" charset="-122"/>
                <a:cs typeface="メイリオ" pitchFamily="34" charset="-120"/>
              </a:rPr>
              <a:t>資産形成</a:t>
            </a:r>
            <a:endParaRPr lang="en-US" sz="1800" dirty="0"/>
          </a:p>
          <a:p>
            <a:pPr algn="ctr" indent="0" marL="0">
              <a:buNone/>
            </a:pPr>
            <a:r>
              <a:rPr lang="en-US" sz="1800" b="1" dirty="0">
                <a:solidFill>
                  <a:srgbClr val="FFFFFF"/>
                </a:solidFill>
                <a:latin typeface="メイリオ" pitchFamily="34" charset="0"/>
                <a:ea typeface="メイリオ" pitchFamily="34" charset="-122"/>
                <a:cs typeface="メイリオ" pitchFamily="34" charset="-120"/>
              </a:rPr>
              <a:t>（未来の収入）</a:t>
            </a:r>
            <a:endParaRPr lang="en-US" sz="1800" dirty="0"/>
          </a:p>
        </p:txBody>
      </p:sp>
      <p:sp>
        <p:nvSpPr>
          <p:cNvPr id="21" name="Text 19"/>
          <p:cNvSpPr/>
          <p:nvPr/>
        </p:nvSpPr>
        <p:spPr>
          <a:xfrm>
            <a:off x="457200" y="4206240"/>
            <a:ext cx="1124712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E8602C"/>
                </a:solidFill>
                <a:latin typeface="メイリオ" pitchFamily="34" charset="0"/>
                <a:ea typeface="メイリオ" pitchFamily="34" charset="-122"/>
                <a:cs typeface="メイリオ" pitchFamily="34" charset="-120"/>
              </a:rPr>
              <a:t>今日の講義：軍資金を作る「8つの方法」をすべてお伝えします</a:t>
            </a:r>
            <a:endParaRPr lang="en-US" sz="1800" dirty="0"/>
          </a:p>
        </p:txBody>
      </p:sp>
      <p:sp>
        <p:nvSpPr>
          <p:cNvPr id="22" name="Text 20"/>
          <p:cNvSpPr/>
          <p:nvPr/>
        </p:nvSpPr>
        <p:spPr>
          <a:xfrm>
            <a:off x="274320" y="6309360"/>
            <a:ext cx="1161288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666666"/>
                </a:solidFill>
                <a:latin typeface="メイリオ" pitchFamily="34" charset="0"/>
                <a:ea typeface="メイリオ" pitchFamily="34" charset="-122"/>
                <a:cs typeface="メイリオ" pitchFamily="34" charset="-120"/>
              </a:rPr>
              <a:t>高速資産形成セミナー集客講義</a:t>
            </a:r>
            <a:endParaRPr lang="en-US" sz="90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rgbClr val="1A2744"/>
          </a:solidFill>
          <a:ln/>
        </p:spPr>
      </p:sp>
      <p:sp>
        <p:nvSpPr>
          <p:cNvPr id="3" name="Shape 1"/>
          <p:cNvSpPr/>
          <p:nvPr/>
        </p:nvSpPr>
        <p:spPr>
          <a:xfrm>
            <a:off x="0" y="0"/>
            <a:ext cx="12192000" cy="54864"/>
          </a:xfrm>
          <a:prstGeom prst="rect">
            <a:avLst/>
          </a:prstGeom>
          <a:solidFill>
            <a:srgbClr val="D4A843"/>
          </a:solidFill>
          <a:ln/>
        </p:spPr>
      </p:sp>
      <p:sp>
        <p:nvSpPr>
          <p:cNvPr id="4" name="Text 2"/>
          <p:cNvSpPr/>
          <p:nvPr/>
        </p:nvSpPr>
        <p:spPr>
          <a:xfrm>
            <a:off x="457200" y="182880"/>
            <a:ext cx="1124712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FFFFFF"/>
                </a:solidFill>
                <a:latin typeface="メイリオ" pitchFamily="34" charset="0"/>
                <a:ea typeface="メイリオ" pitchFamily="34" charset="-122"/>
                <a:cs typeface="メイリオ" pitchFamily="34" charset="-120"/>
              </a:rPr>
              <a:t>8つの軍資金作成法　全体マップ</a:t>
            </a:r>
            <a:endParaRPr lang="en-US" sz="2600" dirty="0"/>
          </a:p>
        </p:txBody>
      </p:sp>
      <p:sp>
        <p:nvSpPr>
          <p:cNvPr id="5" name="Shape 3"/>
          <p:cNvSpPr/>
          <p:nvPr/>
        </p:nvSpPr>
        <p:spPr>
          <a:xfrm>
            <a:off x="365760" y="1005840"/>
            <a:ext cx="5394960" cy="1051560"/>
          </a:xfrm>
          <a:prstGeom prst="rect">
            <a:avLst/>
          </a:prstGeom>
          <a:solidFill>
            <a:srgbClr val="243060"/>
          </a:solidFill>
          <a:ln w="12700">
            <a:solidFill>
              <a:srgbClr val="3A4A80"/>
            </a:solidFill>
            <a:prstDash val="solid"/>
          </a:ln>
        </p:spPr>
      </p:sp>
      <p:sp>
        <p:nvSpPr>
          <p:cNvPr id="6" name="Shape 4"/>
          <p:cNvSpPr/>
          <p:nvPr/>
        </p:nvSpPr>
        <p:spPr>
          <a:xfrm>
            <a:off x="365760" y="1005840"/>
            <a:ext cx="502920" cy="1051560"/>
          </a:xfrm>
          <a:prstGeom prst="rect">
            <a:avLst/>
          </a:prstGeom>
          <a:solidFill>
            <a:srgbClr val="D4A843"/>
          </a:solidFill>
          <a:ln/>
        </p:spPr>
      </p:sp>
      <p:sp>
        <p:nvSpPr>
          <p:cNvPr id="7" name="Text 5"/>
          <p:cNvSpPr/>
          <p:nvPr/>
        </p:nvSpPr>
        <p:spPr>
          <a:xfrm>
            <a:off x="365760" y="1234440"/>
            <a:ext cx="502920" cy="594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1A274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01</a:t>
            </a:r>
            <a:endParaRPr lang="en-US" sz="1600" dirty="0"/>
          </a:p>
        </p:txBody>
      </p:sp>
      <p:sp>
        <p:nvSpPr>
          <p:cNvPr id="8" name="Text 6"/>
          <p:cNvSpPr/>
          <p:nvPr/>
        </p:nvSpPr>
        <p:spPr>
          <a:xfrm>
            <a:off x="914400" y="1051560"/>
            <a:ext cx="3200400" cy="594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FFFFFF"/>
                </a:solidFill>
                <a:latin typeface="メイリオ" pitchFamily="34" charset="0"/>
                <a:ea typeface="メイリオ" pitchFamily="34" charset="-122"/>
                <a:cs typeface="メイリオ" pitchFamily="34" charset="-120"/>
              </a:rPr>
              <a:t>先取り貯蓄の自動化</a:t>
            </a:r>
            <a:endParaRPr lang="en-US" sz="1500" dirty="0"/>
          </a:p>
        </p:txBody>
      </p:sp>
      <p:sp>
        <p:nvSpPr>
          <p:cNvPr id="9" name="Shape 7"/>
          <p:cNvSpPr/>
          <p:nvPr/>
        </p:nvSpPr>
        <p:spPr>
          <a:xfrm>
            <a:off x="914400" y="1664208"/>
            <a:ext cx="822960" cy="274320"/>
          </a:xfrm>
          <a:prstGeom prst="rect">
            <a:avLst/>
          </a:prstGeom>
          <a:solidFill>
            <a:srgbClr val="1565C0"/>
          </a:solidFill>
          <a:ln/>
        </p:spPr>
      </p:sp>
      <p:sp>
        <p:nvSpPr>
          <p:cNvPr id="10" name="Text 8"/>
          <p:cNvSpPr/>
          <p:nvPr/>
        </p:nvSpPr>
        <p:spPr>
          <a:xfrm>
            <a:off x="914400" y="1664208"/>
            <a:ext cx="82296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FFFFFF"/>
                </a:solidFill>
                <a:latin typeface="メイリオ" pitchFamily="34" charset="0"/>
                <a:ea typeface="メイリオ" pitchFamily="34" charset="-122"/>
                <a:cs typeface="メイリオ" pitchFamily="34" charset="-120"/>
              </a:rPr>
              <a:t>支出削減</a:t>
            </a:r>
            <a:endParaRPr lang="en-US" sz="1000" dirty="0"/>
          </a:p>
        </p:txBody>
      </p:sp>
      <p:sp>
        <p:nvSpPr>
          <p:cNvPr id="11" name="Text 9"/>
          <p:cNvSpPr/>
          <p:nvPr/>
        </p:nvSpPr>
        <p:spPr>
          <a:xfrm>
            <a:off x="4160520" y="1280160"/>
            <a:ext cx="155448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300" b="1" dirty="0">
                <a:solidFill>
                  <a:srgbClr val="D4A843"/>
                </a:solidFill>
                <a:latin typeface="メイリオ" pitchFamily="34" charset="0"/>
                <a:ea typeface="メイリオ" pitchFamily="34" charset="-122"/>
                <a:cs typeface="メイリオ" pitchFamily="34" charset="-120"/>
              </a:rPr>
              <a:t>月1〜3万円</a:t>
            </a:r>
            <a:endParaRPr lang="en-US" sz="1300" dirty="0"/>
          </a:p>
        </p:txBody>
      </p:sp>
      <p:sp>
        <p:nvSpPr>
          <p:cNvPr id="12" name="Shape 10"/>
          <p:cNvSpPr/>
          <p:nvPr/>
        </p:nvSpPr>
        <p:spPr>
          <a:xfrm>
            <a:off x="6080760" y="1005840"/>
            <a:ext cx="5394960" cy="1051560"/>
          </a:xfrm>
          <a:prstGeom prst="rect">
            <a:avLst/>
          </a:prstGeom>
          <a:solidFill>
            <a:srgbClr val="243060"/>
          </a:solidFill>
          <a:ln w="12700">
            <a:solidFill>
              <a:srgbClr val="3A4A80"/>
            </a:solidFill>
            <a:prstDash val="solid"/>
          </a:ln>
        </p:spPr>
      </p:sp>
      <p:sp>
        <p:nvSpPr>
          <p:cNvPr id="13" name="Shape 11"/>
          <p:cNvSpPr/>
          <p:nvPr/>
        </p:nvSpPr>
        <p:spPr>
          <a:xfrm>
            <a:off x="6080760" y="1005840"/>
            <a:ext cx="502920" cy="1051560"/>
          </a:xfrm>
          <a:prstGeom prst="rect">
            <a:avLst/>
          </a:prstGeom>
          <a:solidFill>
            <a:srgbClr val="D4A843"/>
          </a:solidFill>
          <a:ln/>
        </p:spPr>
      </p:sp>
      <p:sp>
        <p:nvSpPr>
          <p:cNvPr id="14" name="Text 12"/>
          <p:cNvSpPr/>
          <p:nvPr/>
        </p:nvSpPr>
        <p:spPr>
          <a:xfrm>
            <a:off x="6080760" y="1234440"/>
            <a:ext cx="502920" cy="594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1A274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02</a:t>
            </a:r>
            <a:endParaRPr lang="en-US" sz="1600" dirty="0"/>
          </a:p>
        </p:txBody>
      </p:sp>
      <p:sp>
        <p:nvSpPr>
          <p:cNvPr id="15" name="Text 13"/>
          <p:cNvSpPr/>
          <p:nvPr/>
        </p:nvSpPr>
        <p:spPr>
          <a:xfrm>
            <a:off x="6629400" y="1051560"/>
            <a:ext cx="3200400" cy="594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FFFFFF"/>
                </a:solidFill>
                <a:latin typeface="メイリオ" pitchFamily="34" charset="0"/>
                <a:ea typeface="メイリオ" pitchFamily="34" charset="-122"/>
                <a:cs typeface="メイリオ" pitchFamily="34" charset="-120"/>
              </a:rPr>
              <a:t>固定費の徹底見直し</a:t>
            </a:r>
            <a:endParaRPr lang="en-US" sz="1500" dirty="0"/>
          </a:p>
        </p:txBody>
      </p:sp>
      <p:sp>
        <p:nvSpPr>
          <p:cNvPr id="16" name="Shape 14"/>
          <p:cNvSpPr/>
          <p:nvPr/>
        </p:nvSpPr>
        <p:spPr>
          <a:xfrm>
            <a:off x="6629400" y="1664208"/>
            <a:ext cx="822960" cy="274320"/>
          </a:xfrm>
          <a:prstGeom prst="rect">
            <a:avLst/>
          </a:prstGeom>
          <a:solidFill>
            <a:srgbClr val="1565C0"/>
          </a:solidFill>
          <a:ln/>
        </p:spPr>
      </p:sp>
      <p:sp>
        <p:nvSpPr>
          <p:cNvPr id="17" name="Text 15"/>
          <p:cNvSpPr/>
          <p:nvPr/>
        </p:nvSpPr>
        <p:spPr>
          <a:xfrm>
            <a:off x="6629400" y="1664208"/>
            <a:ext cx="82296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FFFFFF"/>
                </a:solidFill>
                <a:latin typeface="メイリオ" pitchFamily="34" charset="0"/>
                <a:ea typeface="メイリオ" pitchFamily="34" charset="-122"/>
                <a:cs typeface="メイリオ" pitchFamily="34" charset="-120"/>
              </a:rPr>
              <a:t>支出削減</a:t>
            </a:r>
            <a:endParaRPr lang="en-US" sz="1000" dirty="0"/>
          </a:p>
        </p:txBody>
      </p:sp>
      <p:sp>
        <p:nvSpPr>
          <p:cNvPr id="18" name="Text 16"/>
          <p:cNvSpPr/>
          <p:nvPr/>
        </p:nvSpPr>
        <p:spPr>
          <a:xfrm>
            <a:off x="9875520" y="1280160"/>
            <a:ext cx="155448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300" b="1" dirty="0">
                <a:solidFill>
                  <a:srgbClr val="D4A843"/>
                </a:solidFill>
                <a:latin typeface="メイリオ" pitchFamily="34" charset="0"/>
                <a:ea typeface="メイリオ" pitchFamily="34" charset="-122"/>
                <a:cs typeface="メイリオ" pitchFamily="34" charset="-120"/>
              </a:rPr>
              <a:t>月5千〜3万円</a:t>
            </a:r>
            <a:endParaRPr lang="en-US" sz="1300" dirty="0"/>
          </a:p>
        </p:txBody>
      </p:sp>
      <p:sp>
        <p:nvSpPr>
          <p:cNvPr id="19" name="Shape 17"/>
          <p:cNvSpPr/>
          <p:nvPr/>
        </p:nvSpPr>
        <p:spPr>
          <a:xfrm>
            <a:off x="365760" y="2240280"/>
            <a:ext cx="5394960" cy="1051560"/>
          </a:xfrm>
          <a:prstGeom prst="rect">
            <a:avLst/>
          </a:prstGeom>
          <a:solidFill>
            <a:srgbClr val="243060"/>
          </a:solidFill>
          <a:ln w="12700">
            <a:solidFill>
              <a:srgbClr val="3A4A80"/>
            </a:solidFill>
            <a:prstDash val="solid"/>
          </a:ln>
        </p:spPr>
      </p:sp>
      <p:sp>
        <p:nvSpPr>
          <p:cNvPr id="20" name="Shape 18"/>
          <p:cNvSpPr/>
          <p:nvPr/>
        </p:nvSpPr>
        <p:spPr>
          <a:xfrm>
            <a:off x="365760" y="2240280"/>
            <a:ext cx="502920" cy="1051560"/>
          </a:xfrm>
          <a:prstGeom prst="rect">
            <a:avLst/>
          </a:prstGeom>
          <a:solidFill>
            <a:srgbClr val="D4A843"/>
          </a:solidFill>
          <a:ln/>
        </p:spPr>
      </p:sp>
      <p:sp>
        <p:nvSpPr>
          <p:cNvPr id="21" name="Text 19"/>
          <p:cNvSpPr/>
          <p:nvPr/>
        </p:nvSpPr>
        <p:spPr>
          <a:xfrm>
            <a:off x="365760" y="2468880"/>
            <a:ext cx="502920" cy="594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1A274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03</a:t>
            </a:r>
            <a:endParaRPr lang="en-US" sz="1600" dirty="0"/>
          </a:p>
        </p:txBody>
      </p:sp>
      <p:sp>
        <p:nvSpPr>
          <p:cNvPr id="22" name="Text 20"/>
          <p:cNvSpPr/>
          <p:nvPr/>
        </p:nvSpPr>
        <p:spPr>
          <a:xfrm>
            <a:off x="914400" y="2286000"/>
            <a:ext cx="3200400" cy="594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FFFFFF"/>
                </a:solidFill>
                <a:latin typeface="メイリオ" pitchFamily="34" charset="0"/>
                <a:ea typeface="メイリオ" pitchFamily="34" charset="-122"/>
                <a:cs typeface="メイリオ" pitchFamily="34" charset="-120"/>
              </a:rPr>
              <a:t>変動費の最適化</a:t>
            </a:r>
            <a:endParaRPr lang="en-US" sz="1500" dirty="0"/>
          </a:p>
        </p:txBody>
      </p:sp>
      <p:sp>
        <p:nvSpPr>
          <p:cNvPr id="23" name="Shape 21"/>
          <p:cNvSpPr/>
          <p:nvPr/>
        </p:nvSpPr>
        <p:spPr>
          <a:xfrm>
            <a:off x="914400" y="2898648"/>
            <a:ext cx="822960" cy="274320"/>
          </a:xfrm>
          <a:prstGeom prst="rect">
            <a:avLst/>
          </a:prstGeom>
          <a:solidFill>
            <a:srgbClr val="1565C0"/>
          </a:solidFill>
          <a:ln/>
        </p:spPr>
      </p:sp>
      <p:sp>
        <p:nvSpPr>
          <p:cNvPr id="24" name="Text 22"/>
          <p:cNvSpPr/>
          <p:nvPr/>
        </p:nvSpPr>
        <p:spPr>
          <a:xfrm>
            <a:off x="914400" y="2898648"/>
            <a:ext cx="82296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FFFFFF"/>
                </a:solidFill>
                <a:latin typeface="メイリオ" pitchFamily="34" charset="0"/>
                <a:ea typeface="メイリオ" pitchFamily="34" charset="-122"/>
                <a:cs typeface="メイリオ" pitchFamily="34" charset="-120"/>
              </a:rPr>
              <a:t>支出削減</a:t>
            </a:r>
            <a:endParaRPr lang="en-US" sz="1000" dirty="0"/>
          </a:p>
        </p:txBody>
      </p:sp>
      <p:sp>
        <p:nvSpPr>
          <p:cNvPr id="25" name="Text 23"/>
          <p:cNvSpPr/>
          <p:nvPr/>
        </p:nvSpPr>
        <p:spPr>
          <a:xfrm>
            <a:off x="4160520" y="2514600"/>
            <a:ext cx="155448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300" b="1" dirty="0">
                <a:solidFill>
                  <a:srgbClr val="D4A843"/>
                </a:solidFill>
                <a:latin typeface="メイリオ" pitchFamily="34" charset="0"/>
                <a:ea typeface="メイリオ" pitchFamily="34" charset="-122"/>
                <a:cs typeface="メイリオ" pitchFamily="34" charset="-120"/>
              </a:rPr>
              <a:t>月3千〜1.5万円</a:t>
            </a:r>
            <a:endParaRPr lang="en-US" sz="1300" dirty="0"/>
          </a:p>
        </p:txBody>
      </p:sp>
      <p:sp>
        <p:nvSpPr>
          <p:cNvPr id="26" name="Shape 24"/>
          <p:cNvSpPr/>
          <p:nvPr/>
        </p:nvSpPr>
        <p:spPr>
          <a:xfrm>
            <a:off x="6080760" y="2240280"/>
            <a:ext cx="5394960" cy="1051560"/>
          </a:xfrm>
          <a:prstGeom prst="rect">
            <a:avLst/>
          </a:prstGeom>
          <a:solidFill>
            <a:srgbClr val="243060"/>
          </a:solidFill>
          <a:ln w="12700">
            <a:solidFill>
              <a:srgbClr val="3A4A80"/>
            </a:solidFill>
            <a:prstDash val="solid"/>
          </a:ln>
        </p:spPr>
      </p:sp>
      <p:sp>
        <p:nvSpPr>
          <p:cNvPr id="27" name="Shape 25"/>
          <p:cNvSpPr/>
          <p:nvPr/>
        </p:nvSpPr>
        <p:spPr>
          <a:xfrm>
            <a:off x="6080760" y="2240280"/>
            <a:ext cx="502920" cy="1051560"/>
          </a:xfrm>
          <a:prstGeom prst="rect">
            <a:avLst/>
          </a:prstGeom>
          <a:solidFill>
            <a:srgbClr val="D4A843"/>
          </a:solidFill>
          <a:ln/>
        </p:spPr>
      </p:sp>
      <p:sp>
        <p:nvSpPr>
          <p:cNvPr id="28" name="Text 26"/>
          <p:cNvSpPr/>
          <p:nvPr/>
        </p:nvSpPr>
        <p:spPr>
          <a:xfrm>
            <a:off x="6080760" y="2468880"/>
            <a:ext cx="502920" cy="594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1A274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04</a:t>
            </a:r>
            <a:endParaRPr lang="en-US" sz="1600" dirty="0"/>
          </a:p>
        </p:txBody>
      </p:sp>
      <p:sp>
        <p:nvSpPr>
          <p:cNvPr id="29" name="Text 27"/>
          <p:cNvSpPr/>
          <p:nvPr/>
        </p:nvSpPr>
        <p:spPr>
          <a:xfrm>
            <a:off x="6629400" y="2286000"/>
            <a:ext cx="3200400" cy="594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FFFFFF"/>
                </a:solidFill>
                <a:latin typeface="メイリオ" pitchFamily="34" charset="0"/>
                <a:ea typeface="メイリオ" pitchFamily="34" charset="-122"/>
                <a:cs typeface="メイリオ" pitchFamily="34" charset="-120"/>
              </a:rPr>
              <a:t>キャッシュレス還元の集約</a:t>
            </a:r>
            <a:endParaRPr lang="en-US" sz="1500" dirty="0"/>
          </a:p>
        </p:txBody>
      </p:sp>
      <p:sp>
        <p:nvSpPr>
          <p:cNvPr id="30" name="Shape 28"/>
          <p:cNvSpPr/>
          <p:nvPr/>
        </p:nvSpPr>
        <p:spPr>
          <a:xfrm>
            <a:off x="6629400" y="2898648"/>
            <a:ext cx="822960" cy="274320"/>
          </a:xfrm>
          <a:prstGeom prst="rect">
            <a:avLst/>
          </a:prstGeom>
          <a:solidFill>
            <a:srgbClr val="E8602C"/>
          </a:solidFill>
          <a:ln/>
        </p:spPr>
      </p:sp>
      <p:sp>
        <p:nvSpPr>
          <p:cNvPr id="31" name="Text 29"/>
          <p:cNvSpPr/>
          <p:nvPr/>
        </p:nvSpPr>
        <p:spPr>
          <a:xfrm>
            <a:off x="6629400" y="2898648"/>
            <a:ext cx="82296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FFFFFF"/>
                </a:solidFill>
                <a:latin typeface="メイリオ" pitchFamily="34" charset="0"/>
                <a:ea typeface="メイリオ" pitchFamily="34" charset="-122"/>
                <a:cs typeface="メイリオ" pitchFamily="34" charset="-120"/>
              </a:rPr>
              <a:t>支出最適化</a:t>
            </a:r>
            <a:endParaRPr lang="en-US" sz="1000" dirty="0"/>
          </a:p>
        </p:txBody>
      </p:sp>
      <p:sp>
        <p:nvSpPr>
          <p:cNvPr id="32" name="Text 30"/>
          <p:cNvSpPr/>
          <p:nvPr/>
        </p:nvSpPr>
        <p:spPr>
          <a:xfrm>
            <a:off x="9875520" y="2514600"/>
            <a:ext cx="155448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300" b="1" dirty="0">
                <a:solidFill>
                  <a:srgbClr val="D4A843"/>
                </a:solidFill>
                <a:latin typeface="メイリオ" pitchFamily="34" charset="0"/>
                <a:ea typeface="メイリオ" pitchFamily="34" charset="-122"/>
                <a:cs typeface="メイリオ" pitchFamily="34" charset="-120"/>
              </a:rPr>
              <a:t>月2千〜1万円</a:t>
            </a:r>
            <a:endParaRPr lang="en-US" sz="1300" dirty="0"/>
          </a:p>
        </p:txBody>
      </p:sp>
      <p:sp>
        <p:nvSpPr>
          <p:cNvPr id="33" name="Shape 31"/>
          <p:cNvSpPr/>
          <p:nvPr/>
        </p:nvSpPr>
        <p:spPr>
          <a:xfrm>
            <a:off x="365760" y="3474720"/>
            <a:ext cx="5394960" cy="1051560"/>
          </a:xfrm>
          <a:prstGeom prst="rect">
            <a:avLst/>
          </a:prstGeom>
          <a:solidFill>
            <a:srgbClr val="243060"/>
          </a:solidFill>
          <a:ln w="12700">
            <a:solidFill>
              <a:srgbClr val="3A4A80"/>
            </a:solidFill>
            <a:prstDash val="solid"/>
          </a:ln>
        </p:spPr>
      </p:sp>
      <p:sp>
        <p:nvSpPr>
          <p:cNvPr id="34" name="Shape 32"/>
          <p:cNvSpPr/>
          <p:nvPr/>
        </p:nvSpPr>
        <p:spPr>
          <a:xfrm>
            <a:off x="365760" y="3474720"/>
            <a:ext cx="502920" cy="1051560"/>
          </a:xfrm>
          <a:prstGeom prst="rect">
            <a:avLst/>
          </a:prstGeom>
          <a:solidFill>
            <a:srgbClr val="D4A843"/>
          </a:solidFill>
          <a:ln/>
        </p:spPr>
      </p:sp>
      <p:sp>
        <p:nvSpPr>
          <p:cNvPr id="35" name="Text 33"/>
          <p:cNvSpPr/>
          <p:nvPr/>
        </p:nvSpPr>
        <p:spPr>
          <a:xfrm>
            <a:off x="365760" y="3703320"/>
            <a:ext cx="502920" cy="594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1A274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05</a:t>
            </a:r>
            <a:endParaRPr lang="en-US" sz="1600" dirty="0"/>
          </a:p>
        </p:txBody>
      </p:sp>
      <p:sp>
        <p:nvSpPr>
          <p:cNvPr id="36" name="Text 34"/>
          <p:cNvSpPr/>
          <p:nvPr/>
        </p:nvSpPr>
        <p:spPr>
          <a:xfrm>
            <a:off x="914400" y="3520440"/>
            <a:ext cx="3200400" cy="594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FFFFFF"/>
                </a:solidFill>
                <a:latin typeface="メイリオ" pitchFamily="34" charset="0"/>
                <a:ea typeface="メイリオ" pitchFamily="34" charset="-122"/>
                <a:cs typeface="メイリオ" pitchFamily="34" charset="-120"/>
              </a:rPr>
              <a:t>ポイントサイト活用</a:t>
            </a:r>
            <a:endParaRPr lang="en-US" sz="1500" dirty="0"/>
          </a:p>
        </p:txBody>
      </p:sp>
      <p:sp>
        <p:nvSpPr>
          <p:cNvPr id="37" name="Shape 35"/>
          <p:cNvSpPr/>
          <p:nvPr/>
        </p:nvSpPr>
        <p:spPr>
          <a:xfrm>
            <a:off x="914400" y="4133088"/>
            <a:ext cx="822960" cy="274320"/>
          </a:xfrm>
          <a:prstGeom prst="rect">
            <a:avLst/>
          </a:prstGeom>
          <a:solidFill>
            <a:srgbClr val="2E7D32"/>
          </a:solidFill>
          <a:ln/>
        </p:spPr>
      </p:sp>
      <p:sp>
        <p:nvSpPr>
          <p:cNvPr id="38" name="Text 36"/>
          <p:cNvSpPr/>
          <p:nvPr/>
        </p:nvSpPr>
        <p:spPr>
          <a:xfrm>
            <a:off x="914400" y="4133088"/>
            <a:ext cx="82296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FFFFFF"/>
                </a:solidFill>
                <a:latin typeface="メイリオ" pitchFamily="34" charset="0"/>
                <a:ea typeface="メイリオ" pitchFamily="34" charset="-122"/>
                <a:cs typeface="メイリオ" pitchFamily="34" charset="-120"/>
              </a:rPr>
              <a:t>収入増加</a:t>
            </a:r>
            <a:endParaRPr lang="en-US" sz="1000" dirty="0"/>
          </a:p>
        </p:txBody>
      </p:sp>
      <p:sp>
        <p:nvSpPr>
          <p:cNvPr id="39" name="Text 37"/>
          <p:cNvSpPr/>
          <p:nvPr/>
        </p:nvSpPr>
        <p:spPr>
          <a:xfrm>
            <a:off x="4160520" y="3749040"/>
            <a:ext cx="155448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300" b="1" dirty="0">
                <a:solidFill>
                  <a:srgbClr val="D4A843"/>
                </a:solidFill>
                <a:latin typeface="メイリオ" pitchFamily="34" charset="0"/>
                <a:ea typeface="メイリオ" pitchFamily="34" charset="-122"/>
                <a:cs typeface="メイリオ" pitchFamily="34" charset="-120"/>
              </a:rPr>
              <a:t>月3千〜3万円</a:t>
            </a:r>
            <a:endParaRPr lang="en-US" sz="1300" dirty="0"/>
          </a:p>
        </p:txBody>
      </p:sp>
      <p:sp>
        <p:nvSpPr>
          <p:cNvPr id="40" name="Shape 38"/>
          <p:cNvSpPr/>
          <p:nvPr/>
        </p:nvSpPr>
        <p:spPr>
          <a:xfrm>
            <a:off x="6080760" y="3474720"/>
            <a:ext cx="5394960" cy="1051560"/>
          </a:xfrm>
          <a:prstGeom prst="rect">
            <a:avLst/>
          </a:prstGeom>
          <a:solidFill>
            <a:srgbClr val="243060"/>
          </a:solidFill>
          <a:ln w="12700">
            <a:solidFill>
              <a:srgbClr val="3A4A80"/>
            </a:solidFill>
            <a:prstDash val="solid"/>
          </a:ln>
        </p:spPr>
      </p:sp>
      <p:sp>
        <p:nvSpPr>
          <p:cNvPr id="41" name="Shape 39"/>
          <p:cNvSpPr/>
          <p:nvPr/>
        </p:nvSpPr>
        <p:spPr>
          <a:xfrm>
            <a:off x="6080760" y="3474720"/>
            <a:ext cx="502920" cy="1051560"/>
          </a:xfrm>
          <a:prstGeom prst="rect">
            <a:avLst/>
          </a:prstGeom>
          <a:solidFill>
            <a:srgbClr val="D4A843"/>
          </a:solidFill>
          <a:ln/>
        </p:spPr>
      </p:sp>
      <p:sp>
        <p:nvSpPr>
          <p:cNvPr id="42" name="Text 40"/>
          <p:cNvSpPr/>
          <p:nvPr/>
        </p:nvSpPr>
        <p:spPr>
          <a:xfrm>
            <a:off x="6080760" y="3703320"/>
            <a:ext cx="502920" cy="594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1A274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06</a:t>
            </a:r>
            <a:endParaRPr lang="en-US" sz="1600" dirty="0"/>
          </a:p>
        </p:txBody>
      </p:sp>
      <p:sp>
        <p:nvSpPr>
          <p:cNvPr id="43" name="Text 41"/>
          <p:cNvSpPr/>
          <p:nvPr/>
        </p:nvSpPr>
        <p:spPr>
          <a:xfrm>
            <a:off x="6629400" y="3520440"/>
            <a:ext cx="3200400" cy="594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FFFFFF"/>
                </a:solidFill>
                <a:latin typeface="メイリオ" pitchFamily="34" charset="0"/>
                <a:ea typeface="メイリオ" pitchFamily="34" charset="-122"/>
                <a:cs typeface="メイリオ" pitchFamily="34" charset="-120"/>
              </a:rPr>
              <a:t>不用品売却・断捨離</a:t>
            </a:r>
            <a:endParaRPr lang="en-US" sz="1500" dirty="0"/>
          </a:p>
        </p:txBody>
      </p:sp>
      <p:sp>
        <p:nvSpPr>
          <p:cNvPr id="44" name="Shape 42"/>
          <p:cNvSpPr/>
          <p:nvPr/>
        </p:nvSpPr>
        <p:spPr>
          <a:xfrm>
            <a:off x="6629400" y="4133088"/>
            <a:ext cx="822960" cy="274320"/>
          </a:xfrm>
          <a:prstGeom prst="rect">
            <a:avLst/>
          </a:prstGeom>
          <a:solidFill>
            <a:srgbClr val="2E7D32"/>
          </a:solidFill>
          <a:ln/>
        </p:spPr>
      </p:sp>
      <p:sp>
        <p:nvSpPr>
          <p:cNvPr id="45" name="Text 43"/>
          <p:cNvSpPr/>
          <p:nvPr/>
        </p:nvSpPr>
        <p:spPr>
          <a:xfrm>
            <a:off x="6629400" y="4133088"/>
            <a:ext cx="82296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FFFFFF"/>
                </a:solidFill>
                <a:latin typeface="メイリオ" pitchFamily="34" charset="0"/>
                <a:ea typeface="メイリオ" pitchFamily="34" charset="-122"/>
                <a:cs typeface="メイリオ" pitchFamily="34" charset="-120"/>
              </a:rPr>
              <a:t>収入増加</a:t>
            </a:r>
            <a:endParaRPr lang="en-US" sz="1000" dirty="0"/>
          </a:p>
        </p:txBody>
      </p:sp>
      <p:sp>
        <p:nvSpPr>
          <p:cNvPr id="46" name="Text 44"/>
          <p:cNvSpPr/>
          <p:nvPr/>
        </p:nvSpPr>
        <p:spPr>
          <a:xfrm>
            <a:off x="9875520" y="3749040"/>
            <a:ext cx="155448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300" b="1" dirty="0">
                <a:solidFill>
                  <a:srgbClr val="D4A843"/>
                </a:solidFill>
                <a:latin typeface="メイリオ" pitchFamily="34" charset="0"/>
                <a:ea typeface="メイリオ" pitchFamily="34" charset="-122"/>
                <a:cs typeface="メイリオ" pitchFamily="34" charset="-120"/>
              </a:rPr>
              <a:t>初回〜5万円</a:t>
            </a:r>
            <a:endParaRPr lang="en-US" sz="1300" dirty="0"/>
          </a:p>
        </p:txBody>
      </p:sp>
      <p:sp>
        <p:nvSpPr>
          <p:cNvPr id="47" name="Shape 45"/>
          <p:cNvSpPr/>
          <p:nvPr/>
        </p:nvSpPr>
        <p:spPr>
          <a:xfrm>
            <a:off x="365760" y="4709160"/>
            <a:ext cx="5394960" cy="1051560"/>
          </a:xfrm>
          <a:prstGeom prst="rect">
            <a:avLst/>
          </a:prstGeom>
          <a:solidFill>
            <a:srgbClr val="243060"/>
          </a:solidFill>
          <a:ln w="12700">
            <a:solidFill>
              <a:srgbClr val="3A4A80"/>
            </a:solidFill>
            <a:prstDash val="solid"/>
          </a:ln>
        </p:spPr>
      </p:sp>
      <p:sp>
        <p:nvSpPr>
          <p:cNvPr id="48" name="Shape 46"/>
          <p:cNvSpPr/>
          <p:nvPr/>
        </p:nvSpPr>
        <p:spPr>
          <a:xfrm>
            <a:off x="365760" y="4709160"/>
            <a:ext cx="502920" cy="1051560"/>
          </a:xfrm>
          <a:prstGeom prst="rect">
            <a:avLst/>
          </a:prstGeom>
          <a:solidFill>
            <a:srgbClr val="D4A843"/>
          </a:solidFill>
          <a:ln/>
        </p:spPr>
      </p:sp>
      <p:sp>
        <p:nvSpPr>
          <p:cNvPr id="49" name="Text 47"/>
          <p:cNvSpPr/>
          <p:nvPr/>
        </p:nvSpPr>
        <p:spPr>
          <a:xfrm>
            <a:off x="365760" y="4937760"/>
            <a:ext cx="502920" cy="594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1A274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07</a:t>
            </a:r>
            <a:endParaRPr lang="en-US" sz="1600" dirty="0"/>
          </a:p>
        </p:txBody>
      </p:sp>
      <p:sp>
        <p:nvSpPr>
          <p:cNvPr id="50" name="Text 48"/>
          <p:cNvSpPr/>
          <p:nvPr/>
        </p:nvSpPr>
        <p:spPr>
          <a:xfrm>
            <a:off x="914400" y="4754880"/>
            <a:ext cx="3200400" cy="594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FFFFFF"/>
                </a:solidFill>
                <a:latin typeface="メイリオ" pitchFamily="34" charset="0"/>
                <a:ea typeface="メイリオ" pitchFamily="34" charset="-122"/>
                <a:cs typeface="メイリオ" pitchFamily="34" charset="-120"/>
              </a:rPr>
              <a:t>副業・スキル収益化</a:t>
            </a:r>
            <a:endParaRPr lang="en-US" sz="1500" dirty="0"/>
          </a:p>
        </p:txBody>
      </p:sp>
      <p:sp>
        <p:nvSpPr>
          <p:cNvPr id="51" name="Shape 49"/>
          <p:cNvSpPr/>
          <p:nvPr/>
        </p:nvSpPr>
        <p:spPr>
          <a:xfrm>
            <a:off x="914400" y="5367528"/>
            <a:ext cx="822960" cy="274320"/>
          </a:xfrm>
          <a:prstGeom prst="rect">
            <a:avLst/>
          </a:prstGeom>
          <a:solidFill>
            <a:srgbClr val="2E7D32"/>
          </a:solidFill>
          <a:ln/>
        </p:spPr>
      </p:sp>
      <p:sp>
        <p:nvSpPr>
          <p:cNvPr id="52" name="Text 50"/>
          <p:cNvSpPr/>
          <p:nvPr/>
        </p:nvSpPr>
        <p:spPr>
          <a:xfrm>
            <a:off x="914400" y="5367528"/>
            <a:ext cx="82296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FFFFFF"/>
                </a:solidFill>
                <a:latin typeface="メイリオ" pitchFamily="34" charset="0"/>
                <a:ea typeface="メイリオ" pitchFamily="34" charset="-122"/>
                <a:cs typeface="メイリオ" pitchFamily="34" charset="-120"/>
              </a:rPr>
              <a:t>収入増加</a:t>
            </a:r>
            <a:endParaRPr lang="en-US" sz="1000" dirty="0"/>
          </a:p>
        </p:txBody>
      </p:sp>
      <p:sp>
        <p:nvSpPr>
          <p:cNvPr id="53" name="Text 51"/>
          <p:cNvSpPr/>
          <p:nvPr/>
        </p:nvSpPr>
        <p:spPr>
          <a:xfrm>
            <a:off x="4160520" y="4983480"/>
            <a:ext cx="155448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300" b="1" dirty="0">
                <a:solidFill>
                  <a:srgbClr val="D4A843"/>
                </a:solidFill>
                <a:latin typeface="メイリオ" pitchFamily="34" charset="0"/>
                <a:ea typeface="メイリオ" pitchFamily="34" charset="-122"/>
                <a:cs typeface="メイリオ" pitchFamily="34" charset="-120"/>
              </a:rPr>
              <a:t>月1〜10万円</a:t>
            </a:r>
            <a:endParaRPr lang="en-US" sz="1300" dirty="0"/>
          </a:p>
        </p:txBody>
      </p:sp>
      <p:sp>
        <p:nvSpPr>
          <p:cNvPr id="54" name="Shape 52"/>
          <p:cNvSpPr/>
          <p:nvPr/>
        </p:nvSpPr>
        <p:spPr>
          <a:xfrm>
            <a:off x="6080760" y="4709160"/>
            <a:ext cx="5394960" cy="1051560"/>
          </a:xfrm>
          <a:prstGeom prst="rect">
            <a:avLst/>
          </a:prstGeom>
          <a:solidFill>
            <a:srgbClr val="243060"/>
          </a:solidFill>
          <a:ln w="12700">
            <a:solidFill>
              <a:srgbClr val="3A4A80"/>
            </a:solidFill>
            <a:prstDash val="solid"/>
          </a:ln>
        </p:spPr>
      </p:sp>
      <p:sp>
        <p:nvSpPr>
          <p:cNvPr id="55" name="Shape 53"/>
          <p:cNvSpPr/>
          <p:nvPr/>
        </p:nvSpPr>
        <p:spPr>
          <a:xfrm>
            <a:off x="6080760" y="4709160"/>
            <a:ext cx="502920" cy="1051560"/>
          </a:xfrm>
          <a:prstGeom prst="rect">
            <a:avLst/>
          </a:prstGeom>
          <a:solidFill>
            <a:srgbClr val="D4A843"/>
          </a:solidFill>
          <a:ln/>
        </p:spPr>
      </p:sp>
      <p:sp>
        <p:nvSpPr>
          <p:cNvPr id="56" name="Text 54"/>
          <p:cNvSpPr/>
          <p:nvPr/>
        </p:nvSpPr>
        <p:spPr>
          <a:xfrm>
            <a:off x="6080760" y="4937760"/>
            <a:ext cx="502920" cy="594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1A274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08</a:t>
            </a:r>
            <a:endParaRPr lang="en-US" sz="1600" dirty="0"/>
          </a:p>
        </p:txBody>
      </p:sp>
      <p:sp>
        <p:nvSpPr>
          <p:cNvPr id="57" name="Text 55"/>
          <p:cNvSpPr/>
          <p:nvPr/>
        </p:nvSpPr>
        <p:spPr>
          <a:xfrm>
            <a:off x="6629400" y="4754880"/>
            <a:ext cx="3200400" cy="594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FFFFFF"/>
                </a:solidFill>
                <a:latin typeface="メイリオ" pitchFamily="34" charset="0"/>
                <a:ea typeface="メイリオ" pitchFamily="34" charset="-122"/>
                <a:cs typeface="メイリオ" pitchFamily="34" charset="-120"/>
              </a:rPr>
              <a:t>税制優遇制度の活用</a:t>
            </a:r>
            <a:endParaRPr lang="en-US" sz="1500" dirty="0"/>
          </a:p>
        </p:txBody>
      </p:sp>
      <p:sp>
        <p:nvSpPr>
          <p:cNvPr id="58" name="Shape 56"/>
          <p:cNvSpPr/>
          <p:nvPr/>
        </p:nvSpPr>
        <p:spPr>
          <a:xfrm>
            <a:off x="6629400" y="5367528"/>
            <a:ext cx="822960" cy="274320"/>
          </a:xfrm>
          <a:prstGeom prst="rect">
            <a:avLst/>
          </a:prstGeom>
          <a:solidFill>
            <a:srgbClr val="E8602C"/>
          </a:solidFill>
          <a:ln/>
        </p:spPr>
      </p:sp>
      <p:sp>
        <p:nvSpPr>
          <p:cNvPr id="59" name="Text 57"/>
          <p:cNvSpPr/>
          <p:nvPr/>
        </p:nvSpPr>
        <p:spPr>
          <a:xfrm>
            <a:off x="6629400" y="5367528"/>
            <a:ext cx="82296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FFFFFF"/>
                </a:solidFill>
                <a:latin typeface="メイリオ" pitchFamily="34" charset="0"/>
                <a:ea typeface="メイリオ" pitchFamily="34" charset="-122"/>
                <a:cs typeface="メイリオ" pitchFamily="34" charset="-120"/>
              </a:rPr>
              <a:t>節税</a:t>
            </a:r>
            <a:endParaRPr lang="en-US" sz="1000" dirty="0"/>
          </a:p>
        </p:txBody>
      </p:sp>
      <p:sp>
        <p:nvSpPr>
          <p:cNvPr id="60" name="Text 58"/>
          <p:cNvSpPr/>
          <p:nvPr/>
        </p:nvSpPr>
        <p:spPr>
          <a:xfrm>
            <a:off x="9875520" y="4983480"/>
            <a:ext cx="155448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300" b="1" dirty="0">
                <a:solidFill>
                  <a:srgbClr val="D4A843"/>
                </a:solidFill>
                <a:latin typeface="メイリオ" pitchFamily="34" charset="0"/>
                <a:ea typeface="メイリオ" pitchFamily="34" charset="-122"/>
                <a:cs typeface="メイリオ" pitchFamily="34" charset="-120"/>
              </a:rPr>
              <a:t>年5〜20万円</a:t>
            </a:r>
            <a:endParaRPr lang="en-US" sz="1300" dirty="0"/>
          </a:p>
        </p:txBody>
      </p:sp>
      <p:sp>
        <p:nvSpPr>
          <p:cNvPr id="61" name="Text 59"/>
          <p:cNvSpPr/>
          <p:nvPr/>
        </p:nvSpPr>
        <p:spPr>
          <a:xfrm>
            <a:off x="274320" y="6309360"/>
            <a:ext cx="1161288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666666"/>
                </a:solidFill>
                <a:latin typeface="メイリオ" pitchFamily="34" charset="0"/>
                <a:ea typeface="メイリオ" pitchFamily="34" charset="-122"/>
                <a:cs typeface="メイリオ" pitchFamily="34" charset="-120"/>
              </a:rPr>
              <a:t>高速資産形成セミナー集客講義</a:t>
            </a:r>
            <a:endParaRPr lang="en-US" sz="90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rgbClr val="F4F6FA"/>
          </a:solidFill>
          <a:ln/>
        </p:spPr>
      </p:sp>
      <p:sp>
        <p:nvSpPr>
          <p:cNvPr id="3" name="Shape 1"/>
          <p:cNvSpPr/>
          <p:nvPr/>
        </p:nvSpPr>
        <p:spPr>
          <a:xfrm>
            <a:off x="0" y="0"/>
            <a:ext cx="12192000" cy="1005840"/>
          </a:xfrm>
          <a:prstGeom prst="rect">
            <a:avLst/>
          </a:prstGeom>
          <a:solidFill>
            <a:srgbClr val="1A2744"/>
          </a:solidFill>
          <a:ln/>
        </p:spPr>
      </p:sp>
      <p:sp>
        <p:nvSpPr>
          <p:cNvPr id="4" name="Shape 2"/>
          <p:cNvSpPr/>
          <p:nvPr/>
        </p:nvSpPr>
        <p:spPr>
          <a:xfrm>
            <a:off x="0" y="987552"/>
            <a:ext cx="12192000" cy="45720"/>
          </a:xfrm>
          <a:prstGeom prst="rect">
            <a:avLst/>
          </a:prstGeom>
          <a:solidFill>
            <a:srgbClr val="D4A843"/>
          </a:solidFill>
          <a:ln/>
        </p:spPr>
      </p:sp>
      <p:sp>
        <p:nvSpPr>
          <p:cNvPr id="5" name="Shape 3"/>
          <p:cNvSpPr/>
          <p:nvPr/>
        </p:nvSpPr>
        <p:spPr>
          <a:xfrm>
            <a:off x="365760" y="137160"/>
            <a:ext cx="731520" cy="731520"/>
          </a:xfrm>
          <a:prstGeom prst="rect">
            <a:avLst/>
          </a:prstGeom>
          <a:solidFill>
            <a:srgbClr val="D4A843"/>
          </a:solidFill>
          <a:ln/>
        </p:spPr>
      </p:sp>
      <p:sp>
        <p:nvSpPr>
          <p:cNvPr id="6" name="Text 4"/>
          <p:cNvSpPr/>
          <p:nvPr/>
        </p:nvSpPr>
        <p:spPr>
          <a:xfrm>
            <a:off x="365760" y="137160"/>
            <a:ext cx="73152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800" b="1" dirty="0">
                <a:solidFill>
                  <a:srgbClr val="1A274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01</a:t>
            </a:r>
            <a:endParaRPr lang="en-US" sz="2800" dirty="0"/>
          </a:p>
        </p:txBody>
      </p:sp>
      <p:sp>
        <p:nvSpPr>
          <p:cNvPr id="7" name="Text 5"/>
          <p:cNvSpPr/>
          <p:nvPr/>
        </p:nvSpPr>
        <p:spPr>
          <a:xfrm>
            <a:off x="1280160" y="137160"/>
            <a:ext cx="777240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FFFFFF"/>
                </a:solidFill>
                <a:latin typeface="メイリオ" pitchFamily="34" charset="0"/>
                <a:ea typeface="メイリオ" pitchFamily="34" charset="-122"/>
                <a:cs typeface="メイリオ" pitchFamily="34" charset="-120"/>
              </a:rPr>
              <a:t>先取り貯蓄の自動化</a:t>
            </a:r>
            <a:endParaRPr lang="en-US" sz="2800" dirty="0"/>
          </a:p>
        </p:txBody>
      </p:sp>
      <p:sp>
        <p:nvSpPr>
          <p:cNvPr id="8" name="Shape 6"/>
          <p:cNvSpPr/>
          <p:nvPr/>
        </p:nvSpPr>
        <p:spPr>
          <a:xfrm>
            <a:off x="9235440" y="182880"/>
            <a:ext cx="2468880" cy="640080"/>
          </a:xfrm>
          <a:prstGeom prst="rect">
            <a:avLst/>
          </a:prstGeom>
          <a:solidFill>
            <a:srgbClr val="E8602C"/>
          </a:solidFill>
          <a:ln/>
        </p:spPr>
      </p:sp>
      <p:sp>
        <p:nvSpPr>
          <p:cNvPr id="9" name="Text 7"/>
          <p:cNvSpPr/>
          <p:nvPr/>
        </p:nvSpPr>
        <p:spPr>
          <a:xfrm>
            <a:off x="9235440" y="182880"/>
            <a:ext cx="246888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FFFFFF"/>
                </a:solidFill>
                <a:latin typeface="メイリオ" pitchFamily="34" charset="0"/>
                <a:ea typeface="メイリオ" pitchFamily="34" charset="-122"/>
                <a:cs typeface="メイリオ" pitchFamily="34" charset="-120"/>
              </a:rPr>
              <a:t>月 1〜3万円</a:t>
            </a:r>
            <a:endParaRPr lang="en-US" sz="1800" dirty="0"/>
          </a:p>
        </p:txBody>
      </p:sp>
      <p:sp>
        <p:nvSpPr>
          <p:cNvPr id="10" name="Text 8"/>
          <p:cNvSpPr/>
          <p:nvPr/>
        </p:nvSpPr>
        <p:spPr>
          <a:xfrm>
            <a:off x="457200" y="1097280"/>
            <a:ext cx="1124712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00" dirty="0">
                <a:solidFill>
                  <a:srgbClr val="666666"/>
                </a:solidFill>
                <a:latin typeface="メイリオ" pitchFamily="34" charset="0"/>
                <a:ea typeface="メイリオ" pitchFamily="34" charset="-122"/>
                <a:cs typeface="メイリオ" pitchFamily="34" charset="-120"/>
              </a:rPr>
              <a:t>〜「意志力」に頼らない仕組みを作る〜</a:t>
            </a:r>
            <a:endParaRPr lang="en-US" sz="1600" dirty="0"/>
          </a:p>
        </p:txBody>
      </p:sp>
      <p:sp>
        <p:nvSpPr>
          <p:cNvPr id="11" name="Shape 9"/>
          <p:cNvSpPr/>
          <p:nvPr/>
        </p:nvSpPr>
        <p:spPr>
          <a:xfrm>
            <a:off x="365760" y="1783080"/>
            <a:ext cx="457200" cy="457200"/>
          </a:xfrm>
          <a:prstGeom prst="rect">
            <a:avLst/>
          </a:prstGeom>
          <a:solidFill>
            <a:srgbClr val="1565C0"/>
          </a:solidFill>
          <a:ln/>
        </p:spPr>
      </p:sp>
      <p:sp>
        <p:nvSpPr>
          <p:cNvPr id="12" name="Text 10"/>
          <p:cNvSpPr/>
          <p:nvPr/>
        </p:nvSpPr>
        <p:spPr>
          <a:xfrm>
            <a:off x="365760" y="1783080"/>
            <a:ext cx="4572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✓</a:t>
            </a:r>
            <a:endParaRPr lang="en-US" sz="1600" dirty="0"/>
          </a:p>
        </p:txBody>
      </p:sp>
      <p:sp>
        <p:nvSpPr>
          <p:cNvPr id="13" name="Text 11"/>
          <p:cNvSpPr/>
          <p:nvPr/>
        </p:nvSpPr>
        <p:spPr>
          <a:xfrm>
            <a:off x="960120" y="1691640"/>
            <a:ext cx="10607040" cy="6858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00" dirty="0">
                <a:solidFill>
                  <a:srgbClr val="333333"/>
                </a:solidFill>
                <a:latin typeface="メイリオ" pitchFamily="34" charset="0"/>
                <a:ea typeface="メイリオ" pitchFamily="34" charset="-122"/>
                <a:cs typeface="メイリオ" pitchFamily="34" charset="-120"/>
              </a:rPr>
              <a:t>給与振込日の翌日に証券口座・専用口座へ「自動転送」を設定する</a:t>
            </a:r>
            <a:endParaRPr lang="en-US" sz="1600" dirty="0"/>
          </a:p>
        </p:txBody>
      </p:sp>
      <p:sp>
        <p:nvSpPr>
          <p:cNvPr id="14" name="Shape 12"/>
          <p:cNvSpPr/>
          <p:nvPr/>
        </p:nvSpPr>
        <p:spPr>
          <a:xfrm>
            <a:off x="365760" y="2560320"/>
            <a:ext cx="457200" cy="457200"/>
          </a:xfrm>
          <a:prstGeom prst="rect">
            <a:avLst/>
          </a:prstGeom>
          <a:solidFill>
            <a:srgbClr val="1565C0"/>
          </a:solidFill>
          <a:ln/>
        </p:spPr>
      </p:sp>
      <p:sp>
        <p:nvSpPr>
          <p:cNvPr id="15" name="Text 13"/>
          <p:cNvSpPr/>
          <p:nvPr/>
        </p:nvSpPr>
        <p:spPr>
          <a:xfrm>
            <a:off x="365760" y="2560320"/>
            <a:ext cx="4572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✓</a:t>
            </a:r>
            <a:endParaRPr lang="en-US" sz="1600" dirty="0"/>
          </a:p>
        </p:txBody>
      </p:sp>
      <p:sp>
        <p:nvSpPr>
          <p:cNvPr id="16" name="Text 14"/>
          <p:cNvSpPr/>
          <p:nvPr/>
        </p:nvSpPr>
        <p:spPr>
          <a:xfrm>
            <a:off x="960120" y="2468880"/>
            <a:ext cx="10607040" cy="6858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00" dirty="0">
                <a:solidFill>
                  <a:srgbClr val="333333"/>
                </a:solidFill>
                <a:latin typeface="メイリオ" pitchFamily="34" charset="0"/>
                <a:ea typeface="メイリオ" pitchFamily="34" charset="-122"/>
                <a:cs typeface="メイリオ" pitchFamily="34" charset="-120"/>
              </a:rPr>
              <a:t>手取りの10%からスタート。月20万円なら2万円をそのまま"存在しないお金"にする</a:t>
            </a:r>
            <a:endParaRPr lang="en-US" sz="1600" dirty="0"/>
          </a:p>
        </p:txBody>
      </p:sp>
      <p:sp>
        <p:nvSpPr>
          <p:cNvPr id="17" name="Shape 15"/>
          <p:cNvSpPr/>
          <p:nvPr/>
        </p:nvSpPr>
        <p:spPr>
          <a:xfrm>
            <a:off x="365760" y="3337560"/>
            <a:ext cx="457200" cy="457200"/>
          </a:xfrm>
          <a:prstGeom prst="rect">
            <a:avLst/>
          </a:prstGeom>
          <a:solidFill>
            <a:srgbClr val="1565C0"/>
          </a:solidFill>
          <a:ln/>
        </p:spPr>
      </p:sp>
      <p:sp>
        <p:nvSpPr>
          <p:cNvPr id="18" name="Text 16"/>
          <p:cNvSpPr/>
          <p:nvPr/>
        </p:nvSpPr>
        <p:spPr>
          <a:xfrm>
            <a:off x="365760" y="3337560"/>
            <a:ext cx="4572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✓</a:t>
            </a:r>
            <a:endParaRPr lang="en-US" sz="1600" dirty="0"/>
          </a:p>
        </p:txBody>
      </p:sp>
      <p:sp>
        <p:nvSpPr>
          <p:cNvPr id="19" name="Text 17"/>
          <p:cNvSpPr/>
          <p:nvPr/>
        </p:nvSpPr>
        <p:spPr>
          <a:xfrm>
            <a:off x="960120" y="3246120"/>
            <a:ext cx="10607040" cy="6858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00" dirty="0">
                <a:solidFill>
                  <a:srgbClr val="333333"/>
                </a:solidFill>
                <a:latin typeface="メイリオ" pitchFamily="34" charset="0"/>
                <a:ea typeface="メイリオ" pitchFamily="34" charset="-122"/>
                <a:cs typeface="メイリオ" pitchFamily="34" charset="-120"/>
              </a:rPr>
              <a:t>住信SBIネット銀行「目的別口座」や楽天銀行「自動振替」を活用</a:t>
            </a:r>
            <a:endParaRPr lang="en-US" sz="1600" dirty="0"/>
          </a:p>
        </p:txBody>
      </p:sp>
      <p:sp>
        <p:nvSpPr>
          <p:cNvPr id="20" name="Shape 18"/>
          <p:cNvSpPr/>
          <p:nvPr/>
        </p:nvSpPr>
        <p:spPr>
          <a:xfrm>
            <a:off x="365760" y="4114800"/>
            <a:ext cx="457200" cy="457200"/>
          </a:xfrm>
          <a:prstGeom prst="rect">
            <a:avLst/>
          </a:prstGeom>
          <a:solidFill>
            <a:srgbClr val="1565C0"/>
          </a:solidFill>
          <a:ln/>
        </p:spPr>
      </p:sp>
      <p:sp>
        <p:nvSpPr>
          <p:cNvPr id="21" name="Text 19"/>
          <p:cNvSpPr/>
          <p:nvPr/>
        </p:nvSpPr>
        <p:spPr>
          <a:xfrm>
            <a:off x="365760" y="4114800"/>
            <a:ext cx="4572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✓</a:t>
            </a:r>
            <a:endParaRPr lang="en-US" sz="1600" dirty="0"/>
          </a:p>
        </p:txBody>
      </p:sp>
      <p:sp>
        <p:nvSpPr>
          <p:cNvPr id="22" name="Text 20"/>
          <p:cNvSpPr/>
          <p:nvPr/>
        </p:nvSpPr>
        <p:spPr>
          <a:xfrm>
            <a:off x="960120" y="4023360"/>
            <a:ext cx="10607040" cy="6858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00" dirty="0">
                <a:solidFill>
                  <a:srgbClr val="333333"/>
                </a:solidFill>
                <a:latin typeface="メイリオ" pitchFamily="34" charset="0"/>
                <a:ea typeface="メイリオ" pitchFamily="34" charset="-122"/>
                <a:cs typeface="メイリオ" pitchFamily="34" charset="-120"/>
              </a:rPr>
              <a:t>米国発「Pay Yourself First（自分への先払い）」— 資産形成の鉄則</a:t>
            </a:r>
            <a:endParaRPr lang="en-US" sz="1600" dirty="0"/>
          </a:p>
        </p:txBody>
      </p:sp>
      <p:sp>
        <p:nvSpPr>
          <p:cNvPr id="23" name="Shape 21"/>
          <p:cNvSpPr/>
          <p:nvPr/>
        </p:nvSpPr>
        <p:spPr>
          <a:xfrm>
            <a:off x="365760" y="5029200"/>
            <a:ext cx="11247120" cy="640080"/>
          </a:xfrm>
          <a:prstGeom prst="rect">
            <a:avLst/>
          </a:prstGeom>
          <a:solidFill>
            <a:srgbClr val="FFF3E0"/>
          </a:solidFill>
          <a:ln w="12700">
            <a:solidFill>
              <a:srgbClr val="E8602C"/>
            </a:solidFill>
            <a:prstDash val="solid"/>
          </a:ln>
        </p:spPr>
      </p:sp>
      <p:sp>
        <p:nvSpPr>
          <p:cNvPr id="24" name="Text 22"/>
          <p:cNvSpPr/>
          <p:nvPr/>
        </p:nvSpPr>
        <p:spPr>
          <a:xfrm>
            <a:off x="457200" y="5074920"/>
            <a:ext cx="1106424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E8602C"/>
                </a:solidFill>
                <a:latin typeface="メイリオ" pitchFamily="34" charset="0"/>
                <a:ea typeface="メイリオ" pitchFamily="34" charset="-122"/>
                <a:cs typeface="メイリオ" pitchFamily="34" charset="-120"/>
              </a:rPr>
              <a:t>⚠  限界：これだけでは増えない。確保できるが運用しなければ意味がない。</a:t>
            </a:r>
            <a:endParaRPr lang="en-US" sz="1400" dirty="0"/>
          </a:p>
        </p:txBody>
      </p:sp>
      <p:sp>
        <p:nvSpPr>
          <p:cNvPr id="25" name="Text 23"/>
          <p:cNvSpPr/>
          <p:nvPr/>
        </p:nvSpPr>
        <p:spPr>
          <a:xfrm>
            <a:off x="274320" y="6309360"/>
            <a:ext cx="1161288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666666"/>
                </a:solidFill>
                <a:latin typeface="メイリオ" pitchFamily="34" charset="0"/>
                <a:ea typeface="メイリオ" pitchFamily="34" charset="-122"/>
                <a:cs typeface="メイリオ" pitchFamily="34" charset="-120"/>
              </a:rPr>
              <a:t>高速資産形成セミナー集客講義</a:t>
            </a:r>
            <a:endParaRPr lang="en-US" sz="90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rgbClr val="F4F6FA"/>
          </a:solidFill>
          <a:ln/>
        </p:spPr>
      </p:sp>
      <p:sp>
        <p:nvSpPr>
          <p:cNvPr id="3" name="Shape 1"/>
          <p:cNvSpPr/>
          <p:nvPr/>
        </p:nvSpPr>
        <p:spPr>
          <a:xfrm>
            <a:off x="0" y="0"/>
            <a:ext cx="12192000" cy="1005840"/>
          </a:xfrm>
          <a:prstGeom prst="rect">
            <a:avLst/>
          </a:prstGeom>
          <a:solidFill>
            <a:srgbClr val="1A2744"/>
          </a:solidFill>
          <a:ln/>
        </p:spPr>
      </p:sp>
      <p:sp>
        <p:nvSpPr>
          <p:cNvPr id="4" name="Shape 2"/>
          <p:cNvSpPr/>
          <p:nvPr/>
        </p:nvSpPr>
        <p:spPr>
          <a:xfrm>
            <a:off x="0" y="987552"/>
            <a:ext cx="12192000" cy="45720"/>
          </a:xfrm>
          <a:prstGeom prst="rect">
            <a:avLst/>
          </a:prstGeom>
          <a:solidFill>
            <a:srgbClr val="D4A843"/>
          </a:solidFill>
          <a:ln/>
        </p:spPr>
      </p:sp>
      <p:sp>
        <p:nvSpPr>
          <p:cNvPr id="5" name="Shape 3"/>
          <p:cNvSpPr/>
          <p:nvPr/>
        </p:nvSpPr>
        <p:spPr>
          <a:xfrm>
            <a:off x="365760" y="137160"/>
            <a:ext cx="731520" cy="731520"/>
          </a:xfrm>
          <a:prstGeom prst="rect">
            <a:avLst/>
          </a:prstGeom>
          <a:solidFill>
            <a:srgbClr val="D4A843"/>
          </a:solidFill>
          <a:ln/>
        </p:spPr>
      </p:sp>
      <p:sp>
        <p:nvSpPr>
          <p:cNvPr id="6" name="Text 4"/>
          <p:cNvSpPr/>
          <p:nvPr/>
        </p:nvSpPr>
        <p:spPr>
          <a:xfrm>
            <a:off x="365760" y="137160"/>
            <a:ext cx="73152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800" b="1" dirty="0">
                <a:solidFill>
                  <a:srgbClr val="1A274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02</a:t>
            </a:r>
            <a:endParaRPr lang="en-US" sz="2800" dirty="0"/>
          </a:p>
        </p:txBody>
      </p:sp>
      <p:sp>
        <p:nvSpPr>
          <p:cNvPr id="7" name="Text 5"/>
          <p:cNvSpPr/>
          <p:nvPr/>
        </p:nvSpPr>
        <p:spPr>
          <a:xfrm>
            <a:off x="1280160" y="137160"/>
            <a:ext cx="777240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FFFFFF"/>
                </a:solidFill>
                <a:latin typeface="メイリオ" pitchFamily="34" charset="0"/>
                <a:ea typeface="メイリオ" pitchFamily="34" charset="-122"/>
                <a:cs typeface="メイリオ" pitchFamily="34" charset="-120"/>
              </a:rPr>
              <a:t>固定費の徹底見直し</a:t>
            </a:r>
            <a:endParaRPr lang="en-US" sz="2800" dirty="0"/>
          </a:p>
        </p:txBody>
      </p:sp>
      <p:sp>
        <p:nvSpPr>
          <p:cNvPr id="8" name="Shape 6"/>
          <p:cNvSpPr/>
          <p:nvPr/>
        </p:nvSpPr>
        <p:spPr>
          <a:xfrm>
            <a:off x="9235440" y="182880"/>
            <a:ext cx="2468880" cy="640080"/>
          </a:xfrm>
          <a:prstGeom prst="rect">
            <a:avLst/>
          </a:prstGeom>
          <a:solidFill>
            <a:srgbClr val="E8602C"/>
          </a:solidFill>
          <a:ln/>
        </p:spPr>
      </p:sp>
      <p:sp>
        <p:nvSpPr>
          <p:cNvPr id="9" name="Text 7"/>
          <p:cNvSpPr/>
          <p:nvPr/>
        </p:nvSpPr>
        <p:spPr>
          <a:xfrm>
            <a:off x="9235440" y="182880"/>
            <a:ext cx="246888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FFFFFF"/>
                </a:solidFill>
                <a:latin typeface="メイリオ" pitchFamily="34" charset="0"/>
                <a:ea typeface="メイリオ" pitchFamily="34" charset="-122"/>
                <a:cs typeface="メイリオ" pitchFamily="34" charset="-120"/>
              </a:rPr>
              <a:t>月 5千〜3万円</a:t>
            </a:r>
            <a:endParaRPr lang="en-US" sz="1800" dirty="0"/>
          </a:p>
        </p:txBody>
      </p:sp>
      <p:sp>
        <p:nvSpPr>
          <p:cNvPr id="10" name="Text 8"/>
          <p:cNvSpPr/>
          <p:nvPr/>
        </p:nvSpPr>
        <p:spPr>
          <a:xfrm>
            <a:off x="457200" y="1097280"/>
            <a:ext cx="1124712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00" dirty="0">
                <a:solidFill>
                  <a:srgbClr val="666666"/>
                </a:solidFill>
                <a:latin typeface="メイリオ" pitchFamily="34" charset="0"/>
                <a:ea typeface="メイリオ" pitchFamily="34" charset="-122"/>
                <a:cs typeface="メイリオ" pitchFamily="34" charset="-120"/>
              </a:rPr>
              <a:t>〜一度やれば毎月ずっと効く"最高コスパ"の節約〜</a:t>
            </a:r>
            <a:endParaRPr lang="en-US" sz="1600" dirty="0"/>
          </a:p>
        </p:txBody>
      </p:sp>
      <p:sp>
        <p:nvSpPr>
          <p:cNvPr id="11" name="Shape 9"/>
          <p:cNvSpPr/>
          <p:nvPr/>
        </p:nvSpPr>
        <p:spPr>
          <a:xfrm>
            <a:off x="365760" y="1783080"/>
            <a:ext cx="457200" cy="457200"/>
          </a:xfrm>
          <a:prstGeom prst="rect">
            <a:avLst/>
          </a:prstGeom>
          <a:solidFill>
            <a:srgbClr val="1565C0"/>
          </a:solidFill>
          <a:ln/>
        </p:spPr>
      </p:sp>
      <p:sp>
        <p:nvSpPr>
          <p:cNvPr id="12" name="Text 10"/>
          <p:cNvSpPr/>
          <p:nvPr/>
        </p:nvSpPr>
        <p:spPr>
          <a:xfrm>
            <a:off x="365760" y="1783080"/>
            <a:ext cx="4572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✓</a:t>
            </a:r>
            <a:endParaRPr lang="en-US" sz="1600" dirty="0"/>
          </a:p>
        </p:txBody>
      </p:sp>
      <p:sp>
        <p:nvSpPr>
          <p:cNvPr id="13" name="Text 11"/>
          <p:cNvSpPr/>
          <p:nvPr/>
        </p:nvSpPr>
        <p:spPr>
          <a:xfrm>
            <a:off x="960120" y="1691640"/>
            <a:ext cx="10607040" cy="6858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00" dirty="0">
                <a:solidFill>
                  <a:srgbClr val="333333"/>
                </a:solidFill>
                <a:latin typeface="メイリオ" pitchFamily="34" charset="0"/>
                <a:ea typeface="メイリオ" pitchFamily="34" charset="-122"/>
                <a:cs typeface="メイリオ" pitchFamily="34" charset="-120"/>
              </a:rPr>
              <a:t>携帯：大手キャリア（〜8,000円）→ MVNO・格安SIM（〜1,500円）で月6,500円削減</a:t>
            </a:r>
            <a:endParaRPr lang="en-US" sz="1600" dirty="0"/>
          </a:p>
        </p:txBody>
      </p:sp>
      <p:sp>
        <p:nvSpPr>
          <p:cNvPr id="14" name="Shape 12"/>
          <p:cNvSpPr/>
          <p:nvPr/>
        </p:nvSpPr>
        <p:spPr>
          <a:xfrm>
            <a:off x="365760" y="2560320"/>
            <a:ext cx="457200" cy="457200"/>
          </a:xfrm>
          <a:prstGeom prst="rect">
            <a:avLst/>
          </a:prstGeom>
          <a:solidFill>
            <a:srgbClr val="1565C0"/>
          </a:solidFill>
          <a:ln/>
        </p:spPr>
      </p:sp>
      <p:sp>
        <p:nvSpPr>
          <p:cNvPr id="15" name="Text 13"/>
          <p:cNvSpPr/>
          <p:nvPr/>
        </p:nvSpPr>
        <p:spPr>
          <a:xfrm>
            <a:off x="365760" y="2560320"/>
            <a:ext cx="4572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✓</a:t>
            </a:r>
            <a:endParaRPr lang="en-US" sz="1600" dirty="0"/>
          </a:p>
        </p:txBody>
      </p:sp>
      <p:sp>
        <p:nvSpPr>
          <p:cNvPr id="16" name="Text 14"/>
          <p:cNvSpPr/>
          <p:nvPr/>
        </p:nvSpPr>
        <p:spPr>
          <a:xfrm>
            <a:off x="960120" y="2468880"/>
            <a:ext cx="10607040" cy="6858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00" dirty="0">
                <a:solidFill>
                  <a:srgbClr val="333333"/>
                </a:solidFill>
                <a:latin typeface="メイリオ" pitchFamily="34" charset="0"/>
                <a:ea typeface="メイリオ" pitchFamily="34" charset="-122"/>
                <a:cs typeface="メイリオ" pitchFamily="34" charset="-120"/>
              </a:rPr>
              <a:t>生命保険：40〜60代は保障が過大になりやすい。見直しで月1万円以上削減も</a:t>
            </a:r>
            <a:endParaRPr lang="en-US" sz="1600" dirty="0"/>
          </a:p>
        </p:txBody>
      </p:sp>
      <p:sp>
        <p:nvSpPr>
          <p:cNvPr id="17" name="Shape 15"/>
          <p:cNvSpPr/>
          <p:nvPr/>
        </p:nvSpPr>
        <p:spPr>
          <a:xfrm>
            <a:off x="365760" y="3337560"/>
            <a:ext cx="457200" cy="457200"/>
          </a:xfrm>
          <a:prstGeom prst="rect">
            <a:avLst/>
          </a:prstGeom>
          <a:solidFill>
            <a:srgbClr val="1565C0"/>
          </a:solidFill>
          <a:ln/>
        </p:spPr>
      </p:sp>
      <p:sp>
        <p:nvSpPr>
          <p:cNvPr id="18" name="Text 16"/>
          <p:cNvSpPr/>
          <p:nvPr/>
        </p:nvSpPr>
        <p:spPr>
          <a:xfrm>
            <a:off x="365760" y="3337560"/>
            <a:ext cx="4572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✓</a:t>
            </a:r>
            <a:endParaRPr lang="en-US" sz="1600" dirty="0"/>
          </a:p>
        </p:txBody>
      </p:sp>
      <p:sp>
        <p:nvSpPr>
          <p:cNvPr id="19" name="Text 17"/>
          <p:cNvSpPr/>
          <p:nvPr/>
        </p:nvSpPr>
        <p:spPr>
          <a:xfrm>
            <a:off x="960120" y="3246120"/>
            <a:ext cx="10607040" cy="6858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00" dirty="0">
                <a:solidFill>
                  <a:srgbClr val="333333"/>
                </a:solidFill>
                <a:latin typeface="メイリオ" pitchFamily="34" charset="0"/>
                <a:ea typeface="メイリオ" pitchFamily="34" charset="-122"/>
                <a:cs typeface="メイリオ" pitchFamily="34" charset="-120"/>
              </a:rPr>
              <a:t>サブスク棚卸し：使っていないNetflix・音楽・ツールを洗い出し月2,000〜5,000円削減</a:t>
            </a:r>
            <a:endParaRPr lang="en-US" sz="1600" dirty="0"/>
          </a:p>
        </p:txBody>
      </p:sp>
      <p:sp>
        <p:nvSpPr>
          <p:cNvPr id="20" name="Shape 18"/>
          <p:cNvSpPr/>
          <p:nvPr/>
        </p:nvSpPr>
        <p:spPr>
          <a:xfrm>
            <a:off x="365760" y="4114800"/>
            <a:ext cx="457200" cy="457200"/>
          </a:xfrm>
          <a:prstGeom prst="rect">
            <a:avLst/>
          </a:prstGeom>
          <a:solidFill>
            <a:srgbClr val="1565C0"/>
          </a:solidFill>
          <a:ln/>
        </p:spPr>
      </p:sp>
      <p:sp>
        <p:nvSpPr>
          <p:cNvPr id="21" name="Text 19"/>
          <p:cNvSpPr/>
          <p:nvPr/>
        </p:nvSpPr>
        <p:spPr>
          <a:xfrm>
            <a:off x="365760" y="4114800"/>
            <a:ext cx="4572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✓</a:t>
            </a:r>
            <a:endParaRPr lang="en-US" sz="1600" dirty="0"/>
          </a:p>
        </p:txBody>
      </p:sp>
      <p:sp>
        <p:nvSpPr>
          <p:cNvPr id="22" name="Text 20"/>
          <p:cNvSpPr/>
          <p:nvPr/>
        </p:nvSpPr>
        <p:spPr>
          <a:xfrm>
            <a:off x="960120" y="4023360"/>
            <a:ext cx="10607040" cy="6858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00" dirty="0">
                <a:solidFill>
                  <a:srgbClr val="333333"/>
                </a:solidFill>
                <a:latin typeface="メイリオ" pitchFamily="34" charset="0"/>
                <a:ea typeface="メイリオ" pitchFamily="34" charset="-122"/>
                <a:cs typeface="メイリオ" pitchFamily="34" charset="-120"/>
              </a:rPr>
              <a:t>電気・ガス切り替え：新電力・ガス自由化で月1,000〜3,000円削減</a:t>
            </a:r>
            <a:endParaRPr lang="en-US" sz="1600" dirty="0"/>
          </a:p>
        </p:txBody>
      </p:sp>
      <p:sp>
        <p:nvSpPr>
          <p:cNvPr id="23" name="Shape 21"/>
          <p:cNvSpPr/>
          <p:nvPr/>
        </p:nvSpPr>
        <p:spPr>
          <a:xfrm>
            <a:off x="365760" y="5029200"/>
            <a:ext cx="11247120" cy="640080"/>
          </a:xfrm>
          <a:prstGeom prst="rect">
            <a:avLst/>
          </a:prstGeom>
          <a:solidFill>
            <a:srgbClr val="FFF3E0"/>
          </a:solidFill>
          <a:ln w="12700">
            <a:solidFill>
              <a:srgbClr val="E8602C"/>
            </a:solidFill>
            <a:prstDash val="solid"/>
          </a:ln>
        </p:spPr>
      </p:sp>
      <p:sp>
        <p:nvSpPr>
          <p:cNvPr id="24" name="Text 22"/>
          <p:cNvSpPr/>
          <p:nvPr/>
        </p:nvSpPr>
        <p:spPr>
          <a:xfrm>
            <a:off x="457200" y="5074920"/>
            <a:ext cx="1106424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E8602C"/>
                </a:solidFill>
                <a:latin typeface="メイリオ" pitchFamily="34" charset="0"/>
                <a:ea typeface="メイリオ" pitchFamily="34" charset="-122"/>
                <a:cs typeface="メイリオ" pitchFamily="34" charset="-120"/>
              </a:rPr>
              <a:t>⚠  限界：削れる限度がある。固定費はゼロにはできない。上限が見えてくる。</a:t>
            </a:r>
            <a:endParaRPr lang="en-US" sz="1400" dirty="0"/>
          </a:p>
        </p:txBody>
      </p:sp>
      <p:sp>
        <p:nvSpPr>
          <p:cNvPr id="25" name="Text 23"/>
          <p:cNvSpPr/>
          <p:nvPr/>
        </p:nvSpPr>
        <p:spPr>
          <a:xfrm>
            <a:off x="274320" y="6309360"/>
            <a:ext cx="1161288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666666"/>
                </a:solidFill>
                <a:latin typeface="メイリオ" pitchFamily="34" charset="0"/>
                <a:ea typeface="メイリオ" pitchFamily="34" charset="-122"/>
                <a:cs typeface="メイリオ" pitchFamily="34" charset="-120"/>
              </a:rPr>
              <a:t>高速資産形成セミナー集客講義</a:t>
            </a:r>
            <a:endParaRPr lang="en-US" sz="90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rgbClr val="F4F6FA"/>
          </a:solidFill>
          <a:ln/>
        </p:spPr>
      </p:sp>
      <p:sp>
        <p:nvSpPr>
          <p:cNvPr id="3" name="Shape 1"/>
          <p:cNvSpPr/>
          <p:nvPr/>
        </p:nvSpPr>
        <p:spPr>
          <a:xfrm>
            <a:off x="0" y="0"/>
            <a:ext cx="12192000" cy="1005840"/>
          </a:xfrm>
          <a:prstGeom prst="rect">
            <a:avLst/>
          </a:prstGeom>
          <a:solidFill>
            <a:srgbClr val="1A2744"/>
          </a:solidFill>
          <a:ln/>
        </p:spPr>
      </p:sp>
      <p:sp>
        <p:nvSpPr>
          <p:cNvPr id="4" name="Shape 2"/>
          <p:cNvSpPr/>
          <p:nvPr/>
        </p:nvSpPr>
        <p:spPr>
          <a:xfrm>
            <a:off x="0" y="987552"/>
            <a:ext cx="12192000" cy="45720"/>
          </a:xfrm>
          <a:prstGeom prst="rect">
            <a:avLst/>
          </a:prstGeom>
          <a:solidFill>
            <a:srgbClr val="D4A843"/>
          </a:solidFill>
          <a:ln/>
        </p:spPr>
      </p:sp>
      <p:sp>
        <p:nvSpPr>
          <p:cNvPr id="5" name="Shape 3"/>
          <p:cNvSpPr/>
          <p:nvPr/>
        </p:nvSpPr>
        <p:spPr>
          <a:xfrm>
            <a:off x="365760" y="137160"/>
            <a:ext cx="731520" cy="731520"/>
          </a:xfrm>
          <a:prstGeom prst="rect">
            <a:avLst/>
          </a:prstGeom>
          <a:solidFill>
            <a:srgbClr val="D4A843"/>
          </a:solidFill>
          <a:ln/>
        </p:spPr>
      </p:sp>
      <p:sp>
        <p:nvSpPr>
          <p:cNvPr id="6" name="Text 4"/>
          <p:cNvSpPr/>
          <p:nvPr/>
        </p:nvSpPr>
        <p:spPr>
          <a:xfrm>
            <a:off x="365760" y="137160"/>
            <a:ext cx="73152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800" b="1" dirty="0">
                <a:solidFill>
                  <a:srgbClr val="1A274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03</a:t>
            </a:r>
            <a:endParaRPr lang="en-US" sz="2800" dirty="0"/>
          </a:p>
        </p:txBody>
      </p:sp>
      <p:sp>
        <p:nvSpPr>
          <p:cNvPr id="7" name="Text 5"/>
          <p:cNvSpPr/>
          <p:nvPr/>
        </p:nvSpPr>
        <p:spPr>
          <a:xfrm>
            <a:off x="1280160" y="137160"/>
            <a:ext cx="777240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FFFFFF"/>
                </a:solidFill>
                <a:latin typeface="メイリオ" pitchFamily="34" charset="0"/>
                <a:ea typeface="メイリオ" pitchFamily="34" charset="-122"/>
                <a:cs typeface="メイリオ" pitchFamily="34" charset="-120"/>
              </a:rPr>
              <a:t>変動費の最適化</a:t>
            </a:r>
            <a:endParaRPr lang="en-US" sz="2800" dirty="0"/>
          </a:p>
        </p:txBody>
      </p:sp>
      <p:sp>
        <p:nvSpPr>
          <p:cNvPr id="8" name="Shape 6"/>
          <p:cNvSpPr/>
          <p:nvPr/>
        </p:nvSpPr>
        <p:spPr>
          <a:xfrm>
            <a:off x="9235440" y="182880"/>
            <a:ext cx="2468880" cy="640080"/>
          </a:xfrm>
          <a:prstGeom prst="rect">
            <a:avLst/>
          </a:prstGeom>
          <a:solidFill>
            <a:srgbClr val="E8602C"/>
          </a:solidFill>
          <a:ln/>
        </p:spPr>
      </p:sp>
      <p:sp>
        <p:nvSpPr>
          <p:cNvPr id="9" name="Text 7"/>
          <p:cNvSpPr/>
          <p:nvPr/>
        </p:nvSpPr>
        <p:spPr>
          <a:xfrm>
            <a:off x="9235440" y="182880"/>
            <a:ext cx="246888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FFFFFF"/>
                </a:solidFill>
                <a:latin typeface="メイリオ" pitchFamily="34" charset="0"/>
                <a:ea typeface="メイリオ" pitchFamily="34" charset="-122"/>
                <a:cs typeface="メイリオ" pitchFamily="34" charset="-120"/>
              </a:rPr>
              <a:t>月 3千〜1.5万円</a:t>
            </a:r>
            <a:endParaRPr lang="en-US" sz="1800" dirty="0"/>
          </a:p>
        </p:txBody>
      </p:sp>
      <p:sp>
        <p:nvSpPr>
          <p:cNvPr id="10" name="Text 8"/>
          <p:cNvSpPr/>
          <p:nvPr/>
        </p:nvSpPr>
        <p:spPr>
          <a:xfrm>
            <a:off x="457200" y="1097280"/>
            <a:ext cx="1124712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00" dirty="0">
                <a:solidFill>
                  <a:srgbClr val="666666"/>
                </a:solidFill>
                <a:latin typeface="メイリオ" pitchFamily="34" charset="0"/>
                <a:ea typeface="メイリオ" pitchFamily="34" charset="-122"/>
                <a:cs typeface="メイリオ" pitchFamily="34" charset="-120"/>
              </a:rPr>
              <a:t>〜ゼロにしなくていい。"漏れ"をふさぐだけ〜</a:t>
            </a:r>
            <a:endParaRPr lang="en-US" sz="1600" dirty="0"/>
          </a:p>
        </p:txBody>
      </p:sp>
      <p:sp>
        <p:nvSpPr>
          <p:cNvPr id="11" name="Shape 9"/>
          <p:cNvSpPr/>
          <p:nvPr/>
        </p:nvSpPr>
        <p:spPr>
          <a:xfrm>
            <a:off x="365760" y="1783080"/>
            <a:ext cx="457200" cy="457200"/>
          </a:xfrm>
          <a:prstGeom prst="rect">
            <a:avLst/>
          </a:prstGeom>
          <a:solidFill>
            <a:srgbClr val="1565C0"/>
          </a:solidFill>
          <a:ln/>
        </p:spPr>
      </p:sp>
      <p:sp>
        <p:nvSpPr>
          <p:cNvPr id="12" name="Text 10"/>
          <p:cNvSpPr/>
          <p:nvPr/>
        </p:nvSpPr>
        <p:spPr>
          <a:xfrm>
            <a:off x="365760" y="1783080"/>
            <a:ext cx="4572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✓</a:t>
            </a:r>
            <a:endParaRPr lang="en-US" sz="1600" dirty="0"/>
          </a:p>
        </p:txBody>
      </p:sp>
      <p:sp>
        <p:nvSpPr>
          <p:cNvPr id="13" name="Text 11"/>
          <p:cNvSpPr/>
          <p:nvPr/>
        </p:nvSpPr>
        <p:spPr>
          <a:xfrm>
            <a:off x="960120" y="1691640"/>
            <a:ext cx="10607040" cy="6858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00" dirty="0">
                <a:solidFill>
                  <a:srgbClr val="333333"/>
                </a:solidFill>
                <a:latin typeface="メイリオ" pitchFamily="34" charset="0"/>
                <a:ea typeface="メイリオ" pitchFamily="34" charset="-122"/>
                <a:cs typeface="メイリオ" pitchFamily="34" charset="-120"/>
              </a:rPr>
              <a:t>食費：まとめ買い＋冷凍活用。業務スーパー・コストコで食材費30%削減も可能</a:t>
            </a:r>
            <a:endParaRPr lang="en-US" sz="1600" dirty="0"/>
          </a:p>
        </p:txBody>
      </p:sp>
      <p:sp>
        <p:nvSpPr>
          <p:cNvPr id="14" name="Shape 12"/>
          <p:cNvSpPr/>
          <p:nvPr/>
        </p:nvSpPr>
        <p:spPr>
          <a:xfrm>
            <a:off x="365760" y="2560320"/>
            <a:ext cx="457200" cy="457200"/>
          </a:xfrm>
          <a:prstGeom prst="rect">
            <a:avLst/>
          </a:prstGeom>
          <a:solidFill>
            <a:srgbClr val="1565C0"/>
          </a:solidFill>
          <a:ln/>
        </p:spPr>
      </p:sp>
      <p:sp>
        <p:nvSpPr>
          <p:cNvPr id="15" name="Text 13"/>
          <p:cNvSpPr/>
          <p:nvPr/>
        </p:nvSpPr>
        <p:spPr>
          <a:xfrm>
            <a:off x="365760" y="2560320"/>
            <a:ext cx="4572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✓</a:t>
            </a:r>
            <a:endParaRPr lang="en-US" sz="1600" dirty="0"/>
          </a:p>
        </p:txBody>
      </p:sp>
      <p:sp>
        <p:nvSpPr>
          <p:cNvPr id="16" name="Text 14"/>
          <p:cNvSpPr/>
          <p:nvPr/>
        </p:nvSpPr>
        <p:spPr>
          <a:xfrm>
            <a:off x="960120" y="2468880"/>
            <a:ext cx="10607040" cy="6858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00" dirty="0">
                <a:solidFill>
                  <a:srgbClr val="333333"/>
                </a:solidFill>
                <a:latin typeface="メイリオ" pitchFamily="34" charset="0"/>
                <a:ea typeface="メイリオ" pitchFamily="34" charset="-122"/>
                <a:cs typeface="メイリオ" pitchFamily="34" charset="-120"/>
              </a:rPr>
              <a:t>外食：QRコード決済ポイント還元デー（PayPay20%還元など）を活用</a:t>
            </a:r>
            <a:endParaRPr lang="en-US" sz="1600" dirty="0"/>
          </a:p>
        </p:txBody>
      </p:sp>
      <p:sp>
        <p:nvSpPr>
          <p:cNvPr id="17" name="Shape 15"/>
          <p:cNvSpPr/>
          <p:nvPr/>
        </p:nvSpPr>
        <p:spPr>
          <a:xfrm>
            <a:off x="365760" y="3337560"/>
            <a:ext cx="457200" cy="457200"/>
          </a:xfrm>
          <a:prstGeom prst="rect">
            <a:avLst/>
          </a:prstGeom>
          <a:solidFill>
            <a:srgbClr val="1565C0"/>
          </a:solidFill>
          <a:ln/>
        </p:spPr>
      </p:sp>
      <p:sp>
        <p:nvSpPr>
          <p:cNvPr id="18" name="Text 16"/>
          <p:cNvSpPr/>
          <p:nvPr/>
        </p:nvSpPr>
        <p:spPr>
          <a:xfrm>
            <a:off x="365760" y="3337560"/>
            <a:ext cx="4572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✓</a:t>
            </a:r>
            <a:endParaRPr lang="en-US" sz="1600" dirty="0"/>
          </a:p>
        </p:txBody>
      </p:sp>
      <p:sp>
        <p:nvSpPr>
          <p:cNvPr id="19" name="Text 17"/>
          <p:cNvSpPr/>
          <p:nvPr/>
        </p:nvSpPr>
        <p:spPr>
          <a:xfrm>
            <a:off x="960120" y="3246120"/>
            <a:ext cx="10607040" cy="6858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00" dirty="0">
                <a:solidFill>
                  <a:srgbClr val="333333"/>
                </a:solidFill>
                <a:latin typeface="メイリオ" pitchFamily="34" charset="0"/>
                <a:ea typeface="メイリオ" pitchFamily="34" charset="-122"/>
                <a:cs typeface="メイリオ" pitchFamily="34" charset="-120"/>
              </a:rPr>
              <a:t>趣味・娯楽：図書館・動画共有プランで代替。月2,000〜5,000円の削減</a:t>
            </a:r>
            <a:endParaRPr lang="en-US" sz="1600" dirty="0"/>
          </a:p>
        </p:txBody>
      </p:sp>
      <p:sp>
        <p:nvSpPr>
          <p:cNvPr id="20" name="Shape 18"/>
          <p:cNvSpPr/>
          <p:nvPr/>
        </p:nvSpPr>
        <p:spPr>
          <a:xfrm>
            <a:off x="365760" y="4114800"/>
            <a:ext cx="457200" cy="457200"/>
          </a:xfrm>
          <a:prstGeom prst="rect">
            <a:avLst/>
          </a:prstGeom>
          <a:solidFill>
            <a:srgbClr val="1565C0"/>
          </a:solidFill>
          <a:ln/>
        </p:spPr>
      </p:sp>
      <p:sp>
        <p:nvSpPr>
          <p:cNvPr id="21" name="Text 19"/>
          <p:cNvSpPr/>
          <p:nvPr/>
        </p:nvSpPr>
        <p:spPr>
          <a:xfrm>
            <a:off x="365760" y="4114800"/>
            <a:ext cx="4572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✓</a:t>
            </a:r>
            <a:endParaRPr lang="en-US" sz="1600" dirty="0"/>
          </a:p>
        </p:txBody>
      </p:sp>
      <p:sp>
        <p:nvSpPr>
          <p:cNvPr id="22" name="Text 20"/>
          <p:cNvSpPr/>
          <p:nvPr/>
        </p:nvSpPr>
        <p:spPr>
          <a:xfrm>
            <a:off x="960120" y="4023360"/>
            <a:ext cx="10607040" cy="6858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00" dirty="0">
                <a:solidFill>
                  <a:srgbClr val="333333"/>
                </a:solidFill>
                <a:latin typeface="メイリオ" pitchFamily="34" charset="0"/>
                <a:ea typeface="メイリオ" pitchFamily="34" charset="-122"/>
                <a:cs typeface="メイリオ" pitchFamily="34" charset="-120"/>
              </a:rPr>
              <a:t>米国「ノースペンドデー」実践：週1日を消費ゼロの日に。月4回で意識が変わる</a:t>
            </a:r>
            <a:endParaRPr lang="en-US" sz="1600" dirty="0"/>
          </a:p>
        </p:txBody>
      </p:sp>
      <p:sp>
        <p:nvSpPr>
          <p:cNvPr id="23" name="Shape 21"/>
          <p:cNvSpPr/>
          <p:nvPr/>
        </p:nvSpPr>
        <p:spPr>
          <a:xfrm>
            <a:off x="365760" y="5029200"/>
            <a:ext cx="11247120" cy="640080"/>
          </a:xfrm>
          <a:prstGeom prst="rect">
            <a:avLst/>
          </a:prstGeom>
          <a:solidFill>
            <a:srgbClr val="FFF3E0"/>
          </a:solidFill>
          <a:ln w="12700">
            <a:solidFill>
              <a:srgbClr val="E8602C"/>
            </a:solidFill>
            <a:prstDash val="solid"/>
          </a:ln>
        </p:spPr>
      </p:sp>
      <p:sp>
        <p:nvSpPr>
          <p:cNvPr id="24" name="Text 22"/>
          <p:cNvSpPr/>
          <p:nvPr/>
        </p:nvSpPr>
        <p:spPr>
          <a:xfrm>
            <a:off x="457200" y="5074920"/>
            <a:ext cx="1106424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E8602C"/>
                </a:solidFill>
                <a:latin typeface="メイリオ" pitchFamily="34" charset="0"/>
                <a:ea typeface="メイリオ" pitchFamily="34" charset="-122"/>
                <a:cs typeface="メイリオ" pitchFamily="34" charset="-120"/>
              </a:rPr>
              <a:t>⚠  限界：節約だけでは人生の豊かさと逆行する。限界があり、精神的コストも高い。</a:t>
            </a:r>
            <a:endParaRPr lang="en-US" sz="1400" dirty="0"/>
          </a:p>
        </p:txBody>
      </p:sp>
      <p:sp>
        <p:nvSpPr>
          <p:cNvPr id="25" name="Text 23"/>
          <p:cNvSpPr/>
          <p:nvPr/>
        </p:nvSpPr>
        <p:spPr>
          <a:xfrm>
            <a:off x="274320" y="6309360"/>
            <a:ext cx="1161288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666666"/>
                </a:solidFill>
                <a:latin typeface="メイリオ" pitchFamily="34" charset="0"/>
                <a:ea typeface="メイリオ" pitchFamily="34" charset="-122"/>
                <a:cs typeface="メイリオ" pitchFamily="34" charset="-120"/>
              </a:rPr>
              <a:t>高速資産形成セミナー集客講義</a:t>
            </a:r>
            <a:endParaRPr lang="en-US" sz="900" dirty="0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rgbClr val="F4F6FA"/>
          </a:solidFill>
          <a:ln/>
        </p:spPr>
      </p:sp>
      <p:sp>
        <p:nvSpPr>
          <p:cNvPr id="3" name="Shape 1"/>
          <p:cNvSpPr/>
          <p:nvPr/>
        </p:nvSpPr>
        <p:spPr>
          <a:xfrm>
            <a:off x="0" y="0"/>
            <a:ext cx="12192000" cy="1005840"/>
          </a:xfrm>
          <a:prstGeom prst="rect">
            <a:avLst/>
          </a:prstGeom>
          <a:solidFill>
            <a:srgbClr val="1A2744"/>
          </a:solidFill>
          <a:ln/>
        </p:spPr>
      </p:sp>
      <p:sp>
        <p:nvSpPr>
          <p:cNvPr id="4" name="Shape 2"/>
          <p:cNvSpPr/>
          <p:nvPr/>
        </p:nvSpPr>
        <p:spPr>
          <a:xfrm>
            <a:off x="0" y="987552"/>
            <a:ext cx="12192000" cy="45720"/>
          </a:xfrm>
          <a:prstGeom prst="rect">
            <a:avLst/>
          </a:prstGeom>
          <a:solidFill>
            <a:srgbClr val="D4A843"/>
          </a:solidFill>
          <a:ln/>
        </p:spPr>
      </p:sp>
      <p:sp>
        <p:nvSpPr>
          <p:cNvPr id="5" name="Shape 3"/>
          <p:cNvSpPr/>
          <p:nvPr/>
        </p:nvSpPr>
        <p:spPr>
          <a:xfrm>
            <a:off x="365760" y="137160"/>
            <a:ext cx="731520" cy="731520"/>
          </a:xfrm>
          <a:prstGeom prst="rect">
            <a:avLst/>
          </a:prstGeom>
          <a:solidFill>
            <a:srgbClr val="D4A843"/>
          </a:solidFill>
          <a:ln/>
        </p:spPr>
      </p:sp>
      <p:sp>
        <p:nvSpPr>
          <p:cNvPr id="6" name="Text 4"/>
          <p:cNvSpPr/>
          <p:nvPr/>
        </p:nvSpPr>
        <p:spPr>
          <a:xfrm>
            <a:off x="365760" y="137160"/>
            <a:ext cx="73152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800" b="1" dirty="0">
                <a:solidFill>
                  <a:srgbClr val="1A274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04</a:t>
            </a:r>
            <a:endParaRPr lang="en-US" sz="2800" dirty="0"/>
          </a:p>
        </p:txBody>
      </p:sp>
      <p:sp>
        <p:nvSpPr>
          <p:cNvPr id="7" name="Text 5"/>
          <p:cNvSpPr/>
          <p:nvPr/>
        </p:nvSpPr>
        <p:spPr>
          <a:xfrm>
            <a:off x="1280160" y="137160"/>
            <a:ext cx="777240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FFFFFF"/>
                </a:solidFill>
                <a:latin typeface="メイリオ" pitchFamily="34" charset="0"/>
                <a:ea typeface="メイリオ" pitchFamily="34" charset="-122"/>
                <a:cs typeface="メイリオ" pitchFamily="34" charset="-120"/>
              </a:rPr>
              <a:t>キャッシュレス還元の集約</a:t>
            </a:r>
            <a:endParaRPr lang="en-US" sz="2800" dirty="0"/>
          </a:p>
        </p:txBody>
      </p:sp>
      <p:sp>
        <p:nvSpPr>
          <p:cNvPr id="8" name="Shape 6"/>
          <p:cNvSpPr/>
          <p:nvPr/>
        </p:nvSpPr>
        <p:spPr>
          <a:xfrm>
            <a:off x="9235440" y="182880"/>
            <a:ext cx="2468880" cy="640080"/>
          </a:xfrm>
          <a:prstGeom prst="rect">
            <a:avLst/>
          </a:prstGeom>
          <a:solidFill>
            <a:srgbClr val="E8602C"/>
          </a:solidFill>
          <a:ln/>
        </p:spPr>
      </p:sp>
      <p:sp>
        <p:nvSpPr>
          <p:cNvPr id="9" name="Text 7"/>
          <p:cNvSpPr/>
          <p:nvPr/>
        </p:nvSpPr>
        <p:spPr>
          <a:xfrm>
            <a:off x="9235440" y="182880"/>
            <a:ext cx="246888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FFFFFF"/>
                </a:solidFill>
                <a:latin typeface="メイリオ" pitchFamily="34" charset="0"/>
                <a:ea typeface="メイリオ" pitchFamily="34" charset="-122"/>
                <a:cs typeface="メイリオ" pitchFamily="34" charset="-120"/>
              </a:rPr>
              <a:t>月 2千〜1万円</a:t>
            </a:r>
            <a:endParaRPr lang="en-US" sz="1800" dirty="0"/>
          </a:p>
        </p:txBody>
      </p:sp>
      <p:sp>
        <p:nvSpPr>
          <p:cNvPr id="10" name="Text 8"/>
          <p:cNvSpPr/>
          <p:nvPr/>
        </p:nvSpPr>
        <p:spPr>
          <a:xfrm>
            <a:off x="457200" y="1097280"/>
            <a:ext cx="1124712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00" dirty="0">
                <a:solidFill>
                  <a:srgbClr val="666666"/>
                </a:solidFill>
                <a:latin typeface="メイリオ" pitchFamily="34" charset="0"/>
                <a:ea typeface="メイリオ" pitchFamily="34" charset="-122"/>
                <a:cs typeface="メイリオ" pitchFamily="34" charset="-120"/>
              </a:rPr>
              <a:t>〜すでに使っているお金を"ポイント"に変換〜</a:t>
            </a:r>
            <a:endParaRPr lang="en-US" sz="1600" dirty="0"/>
          </a:p>
        </p:txBody>
      </p:sp>
      <p:sp>
        <p:nvSpPr>
          <p:cNvPr id="11" name="Shape 9"/>
          <p:cNvSpPr/>
          <p:nvPr/>
        </p:nvSpPr>
        <p:spPr>
          <a:xfrm>
            <a:off x="365760" y="1783080"/>
            <a:ext cx="457200" cy="457200"/>
          </a:xfrm>
          <a:prstGeom prst="rect">
            <a:avLst/>
          </a:prstGeom>
          <a:solidFill>
            <a:srgbClr val="1565C0"/>
          </a:solidFill>
          <a:ln/>
        </p:spPr>
      </p:sp>
      <p:sp>
        <p:nvSpPr>
          <p:cNvPr id="12" name="Text 10"/>
          <p:cNvSpPr/>
          <p:nvPr/>
        </p:nvSpPr>
        <p:spPr>
          <a:xfrm>
            <a:off x="365760" y="1783080"/>
            <a:ext cx="4572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✓</a:t>
            </a:r>
            <a:endParaRPr lang="en-US" sz="1600" dirty="0"/>
          </a:p>
        </p:txBody>
      </p:sp>
      <p:sp>
        <p:nvSpPr>
          <p:cNvPr id="13" name="Text 11"/>
          <p:cNvSpPr/>
          <p:nvPr/>
        </p:nvSpPr>
        <p:spPr>
          <a:xfrm>
            <a:off x="960120" y="1691640"/>
            <a:ext cx="10607040" cy="6858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00" dirty="0">
                <a:solidFill>
                  <a:srgbClr val="333333"/>
                </a:solidFill>
                <a:latin typeface="メイリオ" pitchFamily="34" charset="0"/>
                <a:ea typeface="メイリオ" pitchFamily="34" charset="-122"/>
                <a:cs typeface="メイリオ" pitchFamily="34" charset="-120"/>
              </a:rPr>
              <a:t>クレカを1〜2枚に集約。楽天カード（最大3%）・PayPayカード（最大5%）など高還元に統一</a:t>
            </a:r>
            <a:endParaRPr lang="en-US" sz="1600" dirty="0"/>
          </a:p>
        </p:txBody>
      </p:sp>
      <p:sp>
        <p:nvSpPr>
          <p:cNvPr id="14" name="Shape 12"/>
          <p:cNvSpPr/>
          <p:nvPr/>
        </p:nvSpPr>
        <p:spPr>
          <a:xfrm>
            <a:off x="365760" y="2560320"/>
            <a:ext cx="457200" cy="457200"/>
          </a:xfrm>
          <a:prstGeom prst="rect">
            <a:avLst/>
          </a:prstGeom>
          <a:solidFill>
            <a:srgbClr val="1565C0"/>
          </a:solidFill>
          <a:ln/>
        </p:spPr>
      </p:sp>
      <p:sp>
        <p:nvSpPr>
          <p:cNvPr id="15" name="Text 13"/>
          <p:cNvSpPr/>
          <p:nvPr/>
        </p:nvSpPr>
        <p:spPr>
          <a:xfrm>
            <a:off x="365760" y="2560320"/>
            <a:ext cx="4572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✓</a:t>
            </a:r>
            <a:endParaRPr lang="en-US" sz="1600" dirty="0"/>
          </a:p>
        </p:txBody>
      </p:sp>
      <p:sp>
        <p:nvSpPr>
          <p:cNvPr id="16" name="Text 14"/>
          <p:cNvSpPr/>
          <p:nvPr/>
        </p:nvSpPr>
        <p:spPr>
          <a:xfrm>
            <a:off x="960120" y="2468880"/>
            <a:ext cx="10607040" cy="6858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00" dirty="0">
                <a:solidFill>
                  <a:srgbClr val="333333"/>
                </a:solidFill>
                <a:latin typeface="メイリオ" pitchFamily="34" charset="0"/>
                <a:ea typeface="メイリオ" pitchFamily="34" charset="-122"/>
                <a:cs typeface="メイリオ" pitchFamily="34" charset="-120"/>
              </a:rPr>
              <a:t>公共料金・保険料・通販・ガソリンもすべてカード払いに変更する</a:t>
            </a:r>
            <a:endParaRPr lang="en-US" sz="1600" dirty="0"/>
          </a:p>
        </p:txBody>
      </p:sp>
      <p:sp>
        <p:nvSpPr>
          <p:cNvPr id="17" name="Shape 15"/>
          <p:cNvSpPr/>
          <p:nvPr/>
        </p:nvSpPr>
        <p:spPr>
          <a:xfrm>
            <a:off x="365760" y="3337560"/>
            <a:ext cx="457200" cy="457200"/>
          </a:xfrm>
          <a:prstGeom prst="rect">
            <a:avLst/>
          </a:prstGeom>
          <a:solidFill>
            <a:srgbClr val="1565C0"/>
          </a:solidFill>
          <a:ln/>
        </p:spPr>
      </p:sp>
      <p:sp>
        <p:nvSpPr>
          <p:cNvPr id="18" name="Text 16"/>
          <p:cNvSpPr/>
          <p:nvPr/>
        </p:nvSpPr>
        <p:spPr>
          <a:xfrm>
            <a:off x="365760" y="3337560"/>
            <a:ext cx="4572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✓</a:t>
            </a:r>
            <a:endParaRPr lang="en-US" sz="1600" dirty="0"/>
          </a:p>
        </p:txBody>
      </p:sp>
      <p:sp>
        <p:nvSpPr>
          <p:cNvPr id="19" name="Text 17"/>
          <p:cNvSpPr/>
          <p:nvPr/>
        </p:nvSpPr>
        <p:spPr>
          <a:xfrm>
            <a:off x="960120" y="3246120"/>
            <a:ext cx="10607040" cy="6858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00" dirty="0">
                <a:solidFill>
                  <a:srgbClr val="333333"/>
                </a:solidFill>
                <a:latin typeface="メイリオ" pitchFamily="34" charset="0"/>
                <a:ea typeface="メイリオ" pitchFamily="34" charset="-122"/>
                <a:cs typeface="メイリオ" pitchFamily="34" charset="-120"/>
              </a:rPr>
              <a:t>月30万円の支出 × 還元率2% ＝ 月6,000円 → 年72,000円の軍資金</a:t>
            </a:r>
            <a:endParaRPr lang="en-US" sz="1600" dirty="0"/>
          </a:p>
        </p:txBody>
      </p:sp>
      <p:sp>
        <p:nvSpPr>
          <p:cNvPr id="20" name="Shape 18"/>
          <p:cNvSpPr/>
          <p:nvPr/>
        </p:nvSpPr>
        <p:spPr>
          <a:xfrm>
            <a:off x="365760" y="4114800"/>
            <a:ext cx="457200" cy="457200"/>
          </a:xfrm>
          <a:prstGeom prst="rect">
            <a:avLst/>
          </a:prstGeom>
          <a:solidFill>
            <a:srgbClr val="1565C0"/>
          </a:solidFill>
          <a:ln/>
        </p:spPr>
      </p:sp>
      <p:sp>
        <p:nvSpPr>
          <p:cNvPr id="21" name="Text 19"/>
          <p:cNvSpPr/>
          <p:nvPr/>
        </p:nvSpPr>
        <p:spPr>
          <a:xfrm>
            <a:off x="365760" y="4114800"/>
            <a:ext cx="4572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✓</a:t>
            </a:r>
            <a:endParaRPr lang="en-US" sz="1600" dirty="0"/>
          </a:p>
        </p:txBody>
      </p:sp>
      <p:sp>
        <p:nvSpPr>
          <p:cNvPr id="22" name="Text 20"/>
          <p:cNvSpPr/>
          <p:nvPr/>
        </p:nvSpPr>
        <p:spPr>
          <a:xfrm>
            <a:off x="960120" y="4023360"/>
            <a:ext cx="10607040" cy="6858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00" dirty="0">
                <a:solidFill>
                  <a:srgbClr val="333333"/>
                </a:solidFill>
                <a:latin typeface="メイリオ" pitchFamily="34" charset="0"/>
                <a:ea typeface="メイリオ" pitchFamily="34" charset="-122"/>
                <a:cs typeface="メイリオ" pitchFamily="34" charset="-120"/>
              </a:rPr>
              <a:t>楽天ポイント投資・PayPay資産運用など「ポイントをそのまま投資」に回す設定も有効</a:t>
            </a:r>
            <a:endParaRPr lang="en-US" sz="1600" dirty="0"/>
          </a:p>
        </p:txBody>
      </p:sp>
      <p:sp>
        <p:nvSpPr>
          <p:cNvPr id="23" name="Shape 21"/>
          <p:cNvSpPr/>
          <p:nvPr/>
        </p:nvSpPr>
        <p:spPr>
          <a:xfrm>
            <a:off x="365760" y="5029200"/>
            <a:ext cx="11247120" cy="640080"/>
          </a:xfrm>
          <a:prstGeom prst="rect">
            <a:avLst/>
          </a:prstGeom>
          <a:solidFill>
            <a:srgbClr val="FFF3E0"/>
          </a:solidFill>
          <a:ln w="12700">
            <a:solidFill>
              <a:srgbClr val="E8602C"/>
            </a:solidFill>
            <a:prstDash val="solid"/>
          </a:ln>
        </p:spPr>
      </p:sp>
      <p:sp>
        <p:nvSpPr>
          <p:cNvPr id="24" name="Text 22"/>
          <p:cNvSpPr/>
          <p:nvPr/>
        </p:nvSpPr>
        <p:spPr>
          <a:xfrm>
            <a:off x="457200" y="5074920"/>
            <a:ext cx="1106424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E8602C"/>
                </a:solidFill>
                <a:latin typeface="メイリオ" pitchFamily="34" charset="0"/>
                <a:ea typeface="メイリオ" pitchFamily="34" charset="-122"/>
                <a:cs typeface="メイリオ" pitchFamily="34" charset="-120"/>
              </a:rPr>
              <a:t>⚠  限界：使った金額以上は還元されない。収入が増えるわけではなく、上限が決まっている。</a:t>
            </a:r>
            <a:endParaRPr lang="en-US" sz="1400" dirty="0"/>
          </a:p>
        </p:txBody>
      </p:sp>
      <p:sp>
        <p:nvSpPr>
          <p:cNvPr id="25" name="Text 23"/>
          <p:cNvSpPr/>
          <p:nvPr/>
        </p:nvSpPr>
        <p:spPr>
          <a:xfrm>
            <a:off x="274320" y="6309360"/>
            <a:ext cx="1161288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666666"/>
                </a:solidFill>
                <a:latin typeface="メイリオ" pitchFamily="34" charset="0"/>
                <a:ea typeface="メイリオ" pitchFamily="34" charset="-122"/>
                <a:cs typeface="メイリオ" pitchFamily="34" charset="-120"/>
              </a:rPr>
              <a:t>高速資産形成セミナー集客講義</a:t>
            </a:r>
            <a:endParaRPr lang="en-US" sz="900" dirty="0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rgbClr val="F4F6FA"/>
          </a:solidFill>
          <a:ln/>
        </p:spPr>
      </p:sp>
      <p:sp>
        <p:nvSpPr>
          <p:cNvPr id="3" name="Shape 1"/>
          <p:cNvSpPr/>
          <p:nvPr/>
        </p:nvSpPr>
        <p:spPr>
          <a:xfrm>
            <a:off x="0" y="0"/>
            <a:ext cx="12192000" cy="1005840"/>
          </a:xfrm>
          <a:prstGeom prst="rect">
            <a:avLst/>
          </a:prstGeom>
          <a:solidFill>
            <a:srgbClr val="1A2744"/>
          </a:solidFill>
          <a:ln/>
        </p:spPr>
      </p:sp>
      <p:sp>
        <p:nvSpPr>
          <p:cNvPr id="4" name="Shape 2"/>
          <p:cNvSpPr/>
          <p:nvPr/>
        </p:nvSpPr>
        <p:spPr>
          <a:xfrm>
            <a:off x="0" y="987552"/>
            <a:ext cx="12192000" cy="45720"/>
          </a:xfrm>
          <a:prstGeom prst="rect">
            <a:avLst/>
          </a:prstGeom>
          <a:solidFill>
            <a:srgbClr val="D4A843"/>
          </a:solidFill>
          <a:ln/>
        </p:spPr>
      </p:sp>
      <p:sp>
        <p:nvSpPr>
          <p:cNvPr id="5" name="Shape 3"/>
          <p:cNvSpPr/>
          <p:nvPr/>
        </p:nvSpPr>
        <p:spPr>
          <a:xfrm>
            <a:off x="365760" y="137160"/>
            <a:ext cx="731520" cy="731520"/>
          </a:xfrm>
          <a:prstGeom prst="rect">
            <a:avLst/>
          </a:prstGeom>
          <a:solidFill>
            <a:srgbClr val="D4A843"/>
          </a:solidFill>
          <a:ln/>
        </p:spPr>
      </p:sp>
      <p:sp>
        <p:nvSpPr>
          <p:cNvPr id="6" name="Text 4"/>
          <p:cNvSpPr/>
          <p:nvPr/>
        </p:nvSpPr>
        <p:spPr>
          <a:xfrm>
            <a:off x="365760" y="137160"/>
            <a:ext cx="73152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800" b="1" dirty="0">
                <a:solidFill>
                  <a:srgbClr val="1A274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05</a:t>
            </a:r>
            <a:endParaRPr lang="en-US" sz="2800" dirty="0"/>
          </a:p>
        </p:txBody>
      </p:sp>
      <p:sp>
        <p:nvSpPr>
          <p:cNvPr id="7" name="Text 5"/>
          <p:cNvSpPr/>
          <p:nvPr/>
        </p:nvSpPr>
        <p:spPr>
          <a:xfrm>
            <a:off x="1280160" y="137160"/>
            <a:ext cx="777240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FFFFFF"/>
                </a:solidFill>
                <a:latin typeface="メイリオ" pitchFamily="34" charset="0"/>
                <a:ea typeface="メイリオ" pitchFamily="34" charset="-122"/>
                <a:cs typeface="メイリオ" pitchFamily="34" charset="-120"/>
              </a:rPr>
              <a:t>ポイントサイト・アフィリエイト活用</a:t>
            </a:r>
            <a:endParaRPr lang="en-US" sz="2800" dirty="0"/>
          </a:p>
        </p:txBody>
      </p:sp>
      <p:sp>
        <p:nvSpPr>
          <p:cNvPr id="8" name="Shape 6"/>
          <p:cNvSpPr/>
          <p:nvPr/>
        </p:nvSpPr>
        <p:spPr>
          <a:xfrm>
            <a:off x="9235440" y="182880"/>
            <a:ext cx="2468880" cy="640080"/>
          </a:xfrm>
          <a:prstGeom prst="rect">
            <a:avLst/>
          </a:prstGeom>
          <a:solidFill>
            <a:srgbClr val="E8602C"/>
          </a:solidFill>
          <a:ln/>
        </p:spPr>
      </p:sp>
      <p:sp>
        <p:nvSpPr>
          <p:cNvPr id="9" name="Text 7"/>
          <p:cNvSpPr/>
          <p:nvPr/>
        </p:nvSpPr>
        <p:spPr>
          <a:xfrm>
            <a:off x="9235440" y="182880"/>
            <a:ext cx="246888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FFFFFF"/>
                </a:solidFill>
                <a:latin typeface="メイリオ" pitchFamily="34" charset="0"/>
                <a:ea typeface="メイリオ" pitchFamily="34" charset="-122"/>
                <a:cs typeface="メイリオ" pitchFamily="34" charset="-120"/>
              </a:rPr>
              <a:t>月 3千〜3万円</a:t>
            </a:r>
            <a:endParaRPr lang="en-US" sz="1800" dirty="0"/>
          </a:p>
        </p:txBody>
      </p:sp>
      <p:sp>
        <p:nvSpPr>
          <p:cNvPr id="10" name="Text 8"/>
          <p:cNvSpPr/>
          <p:nvPr/>
        </p:nvSpPr>
        <p:spPr>
          <a:xfrm>
            <a:off x="457200" y="1097280"/>
            <a:ext cx="1124712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00" dirty="0">
                <a:solidFill>
                  <a:srgbClr val="666666"/>
                </a:solidFill>
                <a:latin typeface="メイリオ" pitchFamily="34" charset="0"/>
                <a:ea typeface="メイリオ" pitchFamily="34" charset="-122"/>
                <a:cs typeface="メイリオ" pitchFamily="34" charset="-120"/>
              </a:rPr>
              <a:t>〜日常のサービス申し込みを"収入"に変える〜</a:t>
            </a:r>
            <a:endParaRPr lang="en-US" sz="1600" dirty="0"/>
          </a:p>
        </p:txBody>
      </p:sp>
      <p:sp>
        <p:nvSpPr>
          <p:cNvPr id="11" name="Shape 9"/>
          <p:cNvSpPr/>
          <p:nvPr/>
        </p:nvSpPr>
        <p:spPr>
          <a:xfrm>
            <a:off x="365760" y="1783080"/>
            <a:ext cx="457200" cy="457200"/>
          </a:xfrm>
          <a:prstGeom prst="rect">
            <a:avLst/>
          </a:prstGeom>
          <a:solidFill>
            <a:srgbClr val="1565C0"/>
          </a:solidFill>
          <a:ln/>
        </p:spPr>
      </p:sp>
      <p:sp>
        <p:nvSpPr>
          <p:cNvPr id="12" name="Text 10"/>
          <p:cNvSpPr/>
          <p:nvPr/>
        </p:nvSpPr>
        <p:spPr>
          <a:xfrm>
            <a:off x="365760" y="1783080"/>
            <a:ext cx="4572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✓</a:t>
            </a:r>
            <a:endParaRPr lang="en-US" sz="1600" dirty="0"/>
          </a:p>
        </p:txBody>
      </p:sp>
      <p:sp>
        <p:nvSpPr>
          <p:cNvPr id="13" name="Text 11"/>
          <p:cNvSpPr/>
          <p:nvPr/>
        </p:nvSpPr>
        <p:spPr>
          <a:xfrm>
            <a:off x="960120" y="1691640"/>
            <a:ext cx="10607040" cy="6858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00" dirty="0">
                <a:solidFill>
                  <a:srgbClr val="333333"/>
                </a:solidFill>
                <a:latin typeface="メイリオ" pitchFamily="34" charset="0"/>
                <a:ea typeface="メイリオ" pitchFamily="34" charset="-122"/>
                <a:cs typeface="メイリオ" pitchFamily="34" charset="-120"/>
              </a:rPr>
              <a:t>A8.net：国内最大ASP。ブログ不要で自己アフィリエイト可能。証券口座開設で1〜3万円</a:t>
            </a:r>
            <a:endParaRPr lang="en-US" sz="1600" dirty="0"/>
          </a:p>
        </p:txBody>
      </p:sp>
      <p:sp>
        <p:nvSpPr>
          <p:cNvPr id="14" name="Shape 12"/>
          <p:cNvSpPr/>
          <p:nvPr/>
        </p:nvSpPr>
        <p:spPr>
          <a:xfrm>
            <a:off x="365760" y="2560320"/>
            <a:ext cx="457200" cy="457200"/>
          </a:xfrm>
          <a:prstGeom prst="rect">
            <a:avLst/>
          </a:prstGeom>
          <a:solidFill>
            <a:srgbClr val="1565C0"/>
          </a:solidFill>
          <a:ln/>
        </p:spPr>
      </p:sp>
      <p:sp>
        <p:nvSpPr>
          <p:cNvPr id="15" name="Text 13"/>
          <p:cNvSpPr/>
          <p:nvPr/>
        </p:nvSpPr>
        <p:spPr>
          <a:xfrm>
            <a:off x="365760" y="2560320"/>
            <a:ext cx="4572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✓</a:t>
            </a:r>
            <a:endParaRPr lang="en-US" sz="1600" dirty="0"/>
          </a:p>
        </p:txBody>
      </p:sp>
      <p:sp>
        <p:nvSpPr>
          <p:cNvPr id="16" name="Text 14"/>
          <p:cNvSpPr/>
          <p:nvPr/>
        </p:nvSpPr>
        <p:spPr>
          <a:xfrm>
            <a:off x="960120" y="2468880"/>
            <a:ext cx="10607040" cy="6858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00" dirty="0">
                <a:solidFill>
                  <a:srgbClr val="333333"/>
                </a:solidFill>
                <a:latin typeface="メイリオ" pitchFamily="34" charset="0"/>
                <a:ea typeface="メイリオ" pitchFamily="34" charset="-122"/>
                <a:cs typeface="メイリオ" pitchFamily="34" charset="-120"/>
              </a:rPr>
              <a:t>ハピタス：クレカ発行・FX口座開設等の高額案件多数。1案件で数千〜数万ポイント獲得</a:t>
            </a:r>
            <a:endParaRPr lang="en-US" sz="1600" dirty="0"/>
          </a:p>
        </p:txBody>
      </p:sp>
      <p:sp>
        <p:nvSpPr>
          <p:cNvPr id="17" name="Shape 15"/>
          <p:cNvSpPr/>
          <p:nvPr/>
        </p:nvSpPr>
        <p:spPr>
          <a:xfrm>
            <a:off x="365760" y="3337560"/>
            <a:ext cx="457200" cy="457200"/>
          </a:xfrm>
          <a:prstGeom prst="rect">
            <a:avLst/>
          </a:prstGeom>
          <a:solidFill>
            <a:srgbClr val="1565C0"/>
          </a:solidFill>
          <a:ln/>
        </p:spPr>
      </p:sp>
      <p:sp>
        <p:nvSpPr>
          <p:cNvPr id="18" name="Text 16"/>
          <p:cNvSpPr/>
          <p:nvPr/>
        </p:nvSpPr>
        <p:spPr>
          <a:xfrm>
            <a:off x="365760" y="3337560"/>
            <a:ext cx="4572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✓</a:t>
            </a:r>
            <a:endParaRPr lang="en-US" sz="1600" dirty="0"/>
          </a:p>
        </p:txBody>
      </p:sp>
      <p:sp>
        <p:nvSpPr>
          <p:cNvPr id="19" name="Text 17"/>
          <p:cNvSpPr/>
          <p:nvPr/>
        </p:nvSpPr>
        <p:spPr>
          <a:xfrm>
            <a:off x="960120" y="3246120"/>
            <a:ext cx="10607040" cy="6858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00" dirty="0">
                <a:solidFill>
                  <a:srgbClr val="333333"/>
                </a:solidFill>
                <a:latin typeface="メイリオ" pitchFamily="34" charset="0"/>
                <a:ea typeface="メイリオ" pitchFamily="34" charset="-122"/>
                <a:cs typeface="メイリオ" pitchFamily="34" charset="-120"/>
              </a:rPr>
              <a:t>ポイントタウン：ゲーム・アンケート・ショッピングで毎日コツコツ獲得→換金</a:t>
            </a:r>
            <a:endParaRPr lang="en-US" sz="1600" dirty="0"/>
          </a:p>
        </p:txBody>
      </p:sp>
      <p:sp>
        <p:nvSpPr>
          <p:cNvPr id="20" name="Shape 18"/>
          <p:cNvSpPr/>
          <p:nvPr/>
        </p:nvSpPr>
        <p:spPr>
          <a:xfrm>
            <a:off x="365760" y="4114800"/>
            <a:ext cx="457200" cy="457200"/>
          </a:xfrm>
          <a:prstGeom prst="rect">
            <a:avLst/>
          </a:prstGeom>
          <a:solidFill>
            <a:srgbClr val="1565C0"/>
          </a:solidFill>
          <a:ln/>
        </p:spPr>
      </p:sp>
      <p:sp>
        <p:nvSpPr>
          <p:cNvPr id="21" name="Text 19"/>
          <p:cNvSpPr/>
          <p:nvPr/>
        </p:nvSpPr>
        <p:spPr>
          <a:xfrm>
            <a:off x="365760" y="4114800"/>
            <a:ext cx="4572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✓</a:t>
            </a:r>
            <a:endParaRPr lang="en-US" sz="1600" dirty="0"/>
          </a:p>
        </p:txBody>
      </p:sp>
      <p:sp>
        <p:nvSpPr>
          <p:cNvPr id="22" name="Text 20"/>
          <p:cNvSpPr/>
          <p:nvPr/>
        </p:nvSpPr>
        <p:spPr>
          <a:xfrm>
            <a:off x="960120" y="4023360"/>
            <a:ext cx="10607040" cy="6858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00" dirty="0">
                <a:solidFill>
                  <a:srgbClr val="333333"/>
                </a:solidFill>
                <a:latin typeface="メイリオ" pitchFamily="34" charset="0"/>
                <a:ea typeface="メイリオ" pitchFamily="34" charset="-122"/>
                <a:cs typeface="メイリオ" pitchFamily="34" charset="-120"/>
              </a:rPr>
              <a:t>モッピー：ネットショッピングのポイント二重取り。日常の買い物を全て経由するだけ</a:t>
            </a:r>
            <a:endParaRPr lang="en-US" sz="1600" dirty="0"/>
          </a:p>
        </p:txBody>
      </p:sp>
      <p:sp>
        <p:nvSpPr>
          <p:cNvPr id="23" name="Shape 21"/>
          <p:cNvSpPr/>
          <p:nvPr/>
        </p:nvSpPr>
        <p:spPr>
          <a:xfrm>
            <a:off x="365760" y="5029200"/>
            <a:ext cx="11247120" cy="640080"/>
          </a:xfrm>
          <a:prstGeom prst="rect">
            <a:avLst/>
          </a:prstGeom>
          <a:solidFill>
            <a:srgbClr val="FFF3E0"/>
          </a:solidFill>
          <a:ln w="12700">
            <a:solidFill>
              <a:srgbClr val="E8602C"/>
            </a:solidFill>
            <a:prstDash val="solid"/>
          </a:ln>
        </p:spPr>
      </p:sp>
      <p:sp>
        <p:nvSpPr>
          <p:cNvPr id="24" name="Text 22"/>
          <p:cNvSpPr/>
          <p:nvPr/>
        </p:nvSpPr>
        <p:spPr>
          <a:xfrm>
            <a:off x="457200" y="5074920"/>
            <a:ext cx="1106424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E8602C"/>
                </a:solidFill>
                <a:latin typeface="メイリオ" pitchFamily="34" charset="0"/>
                <a:ea typeface="メイリオ" pitchFamily="34" charset="-122"/>
                <a:cs typeface="メイリオ" pitchFamily="34" charset="-120"/>
              </a:rPr>
              <a:t>⚠  限界：案件数に上限がある。継続収入にはなりにくく、受動的な稼ぎには限界がある。</a:t>
            </a:r>
            <a:endParaRPr lang="en-US" sz="1400" dirty="0"/>
          </a:p>
        </p:txBody>
      </p:sp>
      <p:sp>
        <p:nvSpPr>
          <p:cNvPr id="25" name="Text 23"/>
          <p:cNvSpPr/>
          <p:nvPr/>
        </p:nvSpPr>
        <p:spPr>
          <a:xfrm>
            <a:off x="274320" y="6309360"/>
            <a:ext cx="1161288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666666"/>
                </a:solidFill>
                <a:latin typeface="メイリオ" pitchFamily="34" charset="0"/>
                <a:ea typeface="メイリオ" pitchFamily="34" charset="-122"/>
                <a:cs typeface="メイリオ" pitchFamily="34" charset="-120"/>
              </a:rPr>
              <a:t>高速資産形成セミナー集客講義</a:t>
            </a:r>
            <a:endParaRPr lang="en-US" sz="900" dirty="0"/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rgbClr val="F4F6FA"/>
          </a:solidFill>
          <a:ln/>
        </p:spPr>
      </p:sp>
      <p:sp>
        <p:nvSpPr>
          <p:cNvPr id="3" name="Shape 1"/>
          <p:cNvSpPr/>
          <p:nvPr/>
        </p:nvSpPr>
        <p:spPr>
          <a:xfrm>
            <a:off x="0" y="0"/>
            <a:ext cx="12192000" cy="1005840"/>
          </a:xfrm>
          <a:prstGeom prst="rect">
            <a:avLst/>
          </a:prstGeom>
          <a:solidFill>
            <a:srgbClr val="1A2744"/>
          </a:solidFill>
          <a:ln/>
        </p:spPr>
      </p:sp>
      <p:sp>
        <p:nvSpPr>
          <p:cNvPr id="4" name="Shape 2"/>
          <p:cNvSpPr/>
          <p:nvPr/>
        </p:nvSpPr>
        <p:spPr>
          <a:xfrm>
            <a:off x="0" y="987552"/>
            <a:ext cx="12192000" cy="45720"/>
          </a:xfrm>
          <a:prstGeom prst="rect">
            <a:avLst/>
          </a:prstGeom>
          <a:solidFill>
            <a:srgbClr val="D4A843"/>
          </a:solidFill>
          <a:ln/>
        </p:spPr>
      </p:sp>
      <p:sp>
        <p:nvSpPr>
          <p:cNvPr id="5" name="Shape 3"/>
          <p:cNvSpPr/>
          <p:nvPr/>
        </p:nvSpPr>
        <p:spPr>
          <a:xfrm>
            <a:off x="365760" y="137160"/>
            <a:ext cx="731520" cy="731520"/>
          </a:xfrm>
          <a:prstGeom prst="rect">
            <a:avLst/>
          </a:prstGeom>
          <a:solidFill>
            <a:srgbClr val="D4A843"/>
          </a:solidFill>
          <a:ln/>
        </p:spPr>
      </p:sp>
      <p:sp>
        <p:nvSpPr>
          <p:cNvPr id="6" name="Text 4"/>
          <p:cNvSpPr/>
          <p:nvPr/>
        </p:nvSpPr>
        <p:spPr>
          <a:xfrm>
            <a:off x="365760" y="137160"/>
            <a:ext cx="73152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800" b="1" dirty="0">
                <a:solidFill>
                  <a:srgbClr val="1A274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06</a:t>
            </a:r>
            <a:endParaRPr lang="en-US" sz="2800" dirty="0"/>
          </a:p>
        </p:txBody>
      </p:sp>
      <p:sp>
        <p:nvSpPr>
          <p:cNvPr id="7" name="Text 5"/>
          <p:cNvSpPr/>
          <p:nvPr/>
        </p:nvSpPr>
        <p:spPr>
          <a:xfrm>
            <a:off x="1280160" y="137160"/>
            <a:ext cx="777240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FFFFFF"/>
                </a:solidFill>
                <a:latin typeface="メイリオ" pitchFamily="34" charset="0"/>
                <a:ea typeface="メイリオ" pitchFamily="34" charset="-122"/>
                <a:cs typeface="メイリオ" pitchFamily="34" charset="-120"/>
              </a:rPr>
              <a:t>不用品売却・断捨離収益化</a:t>
            </a:r>
            <a:endParaRPr lang="en-US" sz="2800" dirty="0"/>
          </a:p>
        </p:txBody>
      </p:sp>
      <p:sp>
        <p:nvSpPr>
          <p:cNvPr id="8" name="Shape 6"/>
          <p:cNvSpPr/>
          <p:nvPr/>
        </p:nvSpPr>
        <p:spPr>
          <a:xfrm>
            <a:off x="9235440" y="182880"/>
            <a:ext cx="2468880" cy="640080"/>
          </a:xfrm>
          <a:prstGeom prst="rect">
            <a:avLst/>
          </a:prstGeom>
          <a:solidFill>
            <a:srgbClr val="E8602C"/>
          </a:solidFill>
          <a:ln/>
        </p:spPr>
      </p:sp>
      <p:sp>
        <p:nvSpPr>
          <p:cNvPr id="9" name="Text 7"/>
          <p:cNvSpPr/>
          <p:nvPr/>
        </p:nvSpPr>
        <p:spPr>
          <a:xfrm>
            <a:off x="9235440" y="182880"/>
            <a:ext cx="246888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FFFFFF"/>
                </a:solidFill>
                <a:latin typeface="メイリオ" pitchFamily="34" charset="0"/>
                <a:ea typeface="メイリオ" pitchFamily="34" charset="-122"/>
                <a:cs typeface="メイリオ" pitchFamily="34" charset="-120"/>
              </a:rPr>
              <a:t>初回 〜5万円</a:t>
            </a:r>
            <a:endParaRPr lang="en-US" sz="1800" dirty="0"/>
          </a:p>
        </p:txBody>
      </p:sp>
      <p:sp>
        <p:nvSpPr>
          <p:cNvPr id="10" name="Text 8"/>
          <p:cNvSpPr/>
          <p:nvPr/>
        </p:nvSpPr>
        <p:spPr>
          <a:xfrm>
            <a:off x="457200" y="1097280"/>
            <a:ext cx="1124712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00" dirty="0">
                <a:solidFill>
                  <a:srgbClr val="666666"/>
                </a:solidFill>
                <a:latin typeface="メイリオ" pitchFamily="34" charset="0"/>
                <a:ea typeface="メイリオ" pitchFamily="34" charset="-122"/>
                <a:cs typeface="メイリオ" pitchFamily="34" charset="-120"/>
              </a:rPr>
              <a:t>〜眠っている「資産」を現金化〜</a:t>
            </a:r>
            <a:endParaRPr lang="en-US" sz="1600" dirty="0"/>
          </a:p>
        </p:txBody>
      </p:sp>
      <p:sp>
        <p:nvSpPr>
          <p:cNvPr id="11" name="Shape 9"/>
          <p:cNvSpPr/>
          <p:nvPr/>
        </p:nvSpPr>
        <p:spPr>
          <a:xfrm>
            <a:off x="365760" y="1783080"/>
            <a:ext cx="457200" cy="457200"/>
          </a:xfrm>
          <a:prstGeom prst="rect">
            <a:avLst/>
          </a:prstGeom>
          <a:solidFill>
            <a:srgbClr val="1565C0"/>
          </a:solidFill>
          <a:ln/>
        </p:spPr>
      </p:sp>
      <p:sp>
        <p:nvSpPr>
          <p:cNvPr id="12" name="Text 10"/>
          <p:cNvSpPr/>
          <p:nvPr/>
        </p:nvSpPr>
        <p:spPr>
          <a:xfrm>
            <a:off x="365760" y="1783080"/>
            <a:ext cx="4572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✓</a:t>
            </a:r>
            <a:endParaRPr lang="en-US" sz="1600" dirty="0"/>
          </a:p>
        </p:txBody>
      </p:sp>
      <p:sp>
        <p:nvSpPr>
          <p:cNvPr id="13" name="Text 11"/>
          <p:cNvSpPr/>
          <p:nvPr/>
        </p:nvSpPr>
        <p:spPr>
          <a:xfrm>
            <a:off x="960120" y="1691640"/>
            <a:ext cx="10607040" cy="6858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00" dirty="0">
                <a:solidFill>
                  <a:srgbClr val="333333"/>
                </a:solidFill>
                <a:latin typeface="メイリオ" pitchFamily="34" charset="0"/>
                <a:ea typeface="メイリオ" pitchFamily="34" charset="-122"/>
                <a:cs typeface="メイリオ" pitchFamily="34" charset="-120"/>
              </a:rPr>
              <a:t>メルカリ：衣類・雑貨・書籍。写真1枚で出品できる手軽さ。初回断捨離で数万円も</a:t>
            </a:r>
            <a:endParaRPr lang="en-US" sz="1600" dirty="0"/>
          </a:p>
        </p:txBody>
      </p:sp>
      <p:sp>
        <p:nvSpPr>
          <p:cNvPr id="14" name="Shape 12"/>
          <p:cNvSpPr/>
          <p:nvPr/>
        </p:nvSpPr>
        <p:spPr>
          <a:xfrm>
            <a:off x="365760" y="2560320"/>
            <a:ext cx="457200" cy="457200"/>
          </a:xfrm>
          <a:prstGeom prst="rect">
            <a:avLst/>
          </a:prstGeom>
          <a:solidFill>
            <a:srgbClr val="1565C0"/>
          </a:solidFill>
          <a:ln/>
        </p:spPr>
      </p:sp>
      <p:sp>
        <p:nvSpPr>
          <p:cNvPr id="15" name="Text 13"/>
          <p:cNvSpPr/>
          <p:nvPr/>
        </p:nvSpPr>
        <p:spPr>
          <a:xfrm>
            <a:off x="365760" y="2560320"/>
            <a:ext cx="4572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✓</a:t>
            </a:r>
            <a:endParaRPr lang="en-US" sz="1600" dirty="0"/>
          </a:p>
        </p:txBody>
      </p:sp>
      <p:sp>
        <p:nvSpPr>
          <p:cNvPr id="16" name="Text 14"/>
          <p:cNvSpPr/>
          <p:nvPr/>
        </p:nvSpPr>
        <p:spPr>
          <a:xfrm>
            <a:off x="960120" y="2468880"/>
            <a:ext cx="10607040" cy="6858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00" dirty="0">
                <a:solidFill>
                  <a:srgbClr val="333333"/>
                </a:solidFill>
                <a:latin typeface="メイリオ" pitchFamily="34" charset="0"/>
                <a:ea typeface="メイリオ" pitchFamily="34" charset="-122"/>
                <a:cs typeface="メイリオ" pitchFamily="34" charset="-120"/>
              </a:rPr>
              <a:t>ヤフオク：ブランド品・レア品・趣味用品。メルカリより高値がつきやすい</a:t>
            </a:r>
            <a:endParaRPr lang="en-US" sz="1600" dirty="0"/>
          </a:p>
        </p:txBody>
      </p:sp>
      <p:sp>
        <p:nvSpPr>
          <p:cNvPr id="17" name="Shape 15"/>
          <p:cNvSpPr/>
          <p:nvPr/>
        </p:nvSpPr>
        <p:spPr>
          <a:xfrm>
            <a:off x="365760" y="3337560"/>
            <a:ext cx="457200" cy="457200"/>
          </a:xfrm>
          <a:prstGeom prst="rect">
            <a:avLst/>
          </a:prstGeom>
          <a:solidFill>
            <a:srgbClr val="1565C0"/>
          </a:solidFill>
          <a:ln/>
        </p:spPr>
      </p:sp>
      <p:sp>
        <p:nvSpPr>
          <p:cNvPr id="18" name="Text 16"/>
          <p:cNvSpPr/>
          <p:nvPr/>
        </p:nvSpPr>
        <p:spPr>
          <a:xfrm>
            <a:off x="365760" y="3337560"/>
            <a:ext cx="4572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✓</a:t>
            </a:r>
            <a:endParaRPr lang="en-US" sz="1600" dirty="0"/>
          </a:p>
        </p:txBody>
      </p:sp>
      <p:sp>
        <p:nvSpPr>
          <p:cNvPr id="19" name="Text 17"/>
          <p:cNvSpPr/>
          <p:nvPr/>
        </p:nvSpPr>
        <p:spPr>
          <a:xfrm>
            <a:off x="960120" y="3246120"/>
            <a:ext cx="10607040" cy="6858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00" dirty="0">
                <a:solidFill>
                  <a:srgbClr val="333333"/>
                </a:solidFill>
                <a:latin typeface="メイリオ" pitchFamily="34" charset="0"/>
                <a:ea typeface="メイリオ" pitchFamily="34" charset="-122"/>
                <a:cs typeface="メイリオ" pitchFamily="34" charset="-120"/>
              </a:rPr>
              <a:t>ハードオフ・買取専門店：即現金化。家電・楽器・カメラ類に特に有効</a:t>
            </a:r>
            <a:endParaRPr lang="en-US" sz="1600" dirty="0"/>
          </a:p>
        </p:txBody>
      </p:sp>
      <p:sp>
        <p:nvSpPr>
          <p:cNvPr id="20" name="Shape 18"/>
          <p:cNvSpPr/>
          <p:nvPr/>
        </p:nvSpPr>
        <p:spPr>
          <a:xfrm>
            <a:off x="365760" y="4114800"/>
            <a:ext cx="457200" cy="457200"/>
          </a:xfrm>
          <a:prstGeom prst="rect">
            <a:avLst/>
          </a:prstGeom>
          <a:solidFill>
            <a:srgbClr val="1565C0"/>
          </a:solidFill>
          <a:ln/>
        </p:spPr>
      </p:sp>
      <p:sp>
        <p:nvSpPr>
          <p:cNvPr id="21" name="Text 19"/>
          <p:cNvSpPr/>
          <p:nvPr/>
        </p:nvSpPr>
        <p:spPr>
          <a:xfrm>
            <a:off x="365760" y="4114800"/>
            <a:ext cx="4572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✓</a:t>
            </a:r>
            <a:endParaRPr lang="en-US" sz="1600" dirty="0"/>
          </a:p>
        </p:txBody>
      </p:sp>
      <p:sp>
        <p:nvSpPr>
          <p:cNvPr id="22" name="Text 20"/>
          <p:cNvSpPr/>
          <p:nvPr/>
        </p:nvSpPr>
        <p:spPr>
          <a:xfrm>
            <a:off x="960120" y="4023360"/>
            <a:ext cx="10607040" cy="6858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00" dirty="0">
                <a:solidFill>
                  <a:srgbClr val="333333"/>
                </a:solidFill>
                <a:latin typeface="メイリオ" pitchFamily="34" charset="0"/>
                <a:ea typeface="メイリオ" pitchFamily="34" charset="-122"/>
                <a:cs typeface="メイリオ" pitchFamily="34" charset="-120"/>
              </a:rPr>
              <a:t>「一度きり」だからこそ種銭作りに最適。副産物として衝動買い防止の意識改革も</a:t>
            </a:r>
            <a:endParaRPr lang="en-US" sz="1600" dirty="0"/>
          </a:p>
        </p:txBody>
      </p:sp>
      <p:sp>
        <p:nvSpPr>
          <p:cNvPr id="23" name="Shape 21"/>
          <p:cNvSpPr/>
          <p:nvPr/>
        </p:nvSpPr>
        <p:spPr>
          <a:xfrm>
            <a:off x="365760" y="5029200"/>
            <a:ext cx="11247120" cy="640080"/>
          </a:xfrm>
          <a:prstGeom prst="rect">
            <a:avLst/>
          </a:prstGeom>
          <a:solidFill>
            <a:srgbClr val="FFF3E0"/>
          </a:solidFill>
          <a:ln w="12700">
            <a:solidFill>
              <a:srgbClr val="E8602C"/>
            </a:solidFill>
            <a:prstDash val="solid"/>
          </a:ln>
        </p:spPr>
      </p:sp>
      <p:sp>
        <p:nvSpPr>
          <p:cNvPr id="24" name="Text 22"/>
          <p:cNvSpPr/>
          <p:nvPr/>
        </p:nvSpPr>
        <p:spPr>
          <a:xfrm>
            <a:off x="457200" y="5074920"/>
            <a:ext cx="1106424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E8602C"/>
                </a:solidFill>
                <a:latin typeface="メイリオ" pitchFamily="34" charset="0"/>
                <a:ea typeface="メイリオ" pitchFamily="34" charset="-122"/>
                <a:cs typeface="メイリオ" pitchFamily="34" charset="-120"/>
              </a:rPr>
              <a:t>⚠  限界：家の中の不用品は有限。売れるものを使い切ったら終わり。継続収入にはならない。</a:t>
            </a:r>
            <a:endParaRPr lang="en-US" sz="1400" dirty="0"/>
          </a:p>
        </p:txBody>
      </p:sp>
      <p:sp>
        <p:nvSpPr>
          <p:cNvPr id="25" name="Text 23"/>
          <p:cNvSpPr/>
          <p:nvPr/>
        </p:nvSpPr>
        <p:spPr>
          <a:xfrm>
            <a:off x="274320" y="6309360"/>
            <a:ext cx="1161288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666666"/>
                </a:solidFill>
                <a:latin typeface="メイリオ" pitchFamily="34" charset="0"/>
                <a:ea typeface="メイリオ" pitchFamily="34" charset="-122"/>
                <a:cs typeface="メイリオ" pitchFamily="34" charset="-120"/>
              </a:rPr>
              <a:t>高速資産形成セミナー集客講義</a:t>
            </a:r>
            <a:endParaRPr lang="en-US" sz="900" dirty="0"/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rgbClr val="F4F6FA"/>
          </a:solidFill>
          <a:ln/>
        </p:spPr>
      </p:sp>
      <p:sp>
        <p:nvSpPr>
          <p:cNvPr id="3" name="Shape 1"/>
          <p:cNvSpPr/>
          <p:nvPr/>
        </p:nvSpPr>
        <p:spPr>
          <a:xfrm>
            <a:off x="0" y="0"/>
            <a:ext cx="12192000" cy="1005840"/>
          </a:xfrm>
          <a:prstGeom prst="rect">
            <a:avLst/>
          </a:prstGeom>
          <a:solidFill>
            <a:srgbClr val="1A2744"/>
          </a:solidFill>
          <a:ln/>
        </p:spPr>
      </p:sp>
      <p:sp>
        <p:nvSpPr>
          <p:cNvPr id="4" name="Shape 2"/>
          <p:cNvSpPr/>
          <p:nvPr/>
        </p:nvSpPr>
        <p:spPr>
          <a:xfrm>
            <a:off x="0" y="987552"/>
            <a:ext cx="12192000" cy="45720"/>
          </a:xfrm>
          <a:prstGeom prst="rect">
            <a:avLst/>
          </a:prstGeom>
          <a:solidFill>
            <a:srgbClr val="D4A843"/>
          </a:solidFill>
          <a:ln/>
        </p:spPr>
      </p:sp>
      <p:sp>
        <p:nvSpPr>
          <p:cNvPr id="5" name="Shape 3"/>
          <p:cNvSpPr/>
          <p:nvPr/>
        </p:nvSpPr>
        <p:spPr>
          <a:xfrm>
            <a:off x="365760" y="137160"/>
            <a:ext cx="731520" cy="731520"/>
          </a:xfrm>
          <a:prstGeom prst="rect">
            <a:avLst/>
          </a:prstGeom>
          <a:solidFill>
            <a:srgbClr val="D4A843"/>
          </a:solidFill>
          <a:ln/>
        </p:spPr>
      </p:sp>
      <p:sp>
        <p:nvSpPr>
          <p:cNvPr id="6" name="Text 4"/>
          <p:cNvSpPr/>
          <p:nvPr/>
        </p:nvSpPr>
        <p:spPr>
          <a:xfrm>
            <a:off x="365760" y="137160"/>
            <a:ext cx="73152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800" b="1" dirty="0">
                <a:solidFill>
                  <a:srgbClr val="1A274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07</a:t>
            </a:r>
            <a:endParaRPr lang="en-US" sz="2800" dirty="0"/>
          </a:p>
        </p:txBody>
      </p:sp>
      <p:sp>
        <p:nvSpPr>
          <p:cNvPr id="7" name="Text 5"/>
          <p:cNvSpPr/>
          <p:nvPr/>
        </p:nvSpPr>
        <p:spPr>
          <a:xfrm>
            <a:off x="1280160" y="137160"/>
            <a:ext cx="777240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FFFFFF"/>
                </a:solidFill>
                <a:latin typeface="メイリオ" pitchFamily="34" charset="0"/>
                <a:ea typeface="メイリオ" pitchFamily="34" charset="-122"/>
                <a:cs typeface="メイリオ" pitchFamily="34" charset="-120"/>
              </a:rPr>
              <a:t>副業・スキル収益化</a:t>
            </a:r>
            <a:endParaRPr lang="en-US" sz="2800" dirty="0"/>
          </a:p>
        </p:txBody>
      </p:sp>
      <p:sp>
        <p:nvSpPr>
          <p:cNvPr id="8" name="Shape 6"/>
          <p:cNvSpPr/>
          <p:nvPr/>
        </p:nvSpPr>
        <p:spPr>
          <a:xfrm>
            <a:off x="9235440" y="182880"/>
            <a:ext cx="2468880" cy="640080"/>
          </a:xfrm>
          <a:prstGeom prst="rect">
            <a:avLst/>
          </a:prstGeom>
          <a:solidFill>
            <a:srgbClr val="E8602C"/>
          </a:solidFill>
          <a:ln/>
        </p:spPr>
      </p:sp>
      <p:sp>
        <p:nvSpPr>
          <p:cNvPr id="9" name="Text 7"/>
          <p:cNvSpPr/>
          <p:nvPr/>
        </p:nvSpPr>
        <p:spPr>
          <a:xfrm>
            <a:off x="9235440" y="182880"/>
            <a:ext cx="246888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FFFFFF"/>
                </a:solidFill>
                <a:latin typeface="メイリオ" pitchFamily="34" charset="0"/>
                <a:ea typeface="メイリオ" pitchFamily="34" charset="-122"/>
                <a:cs typeface="メイリオ" pitchFamily="34" charset="-120"/>
              </a:rPr>
              <a:t>月 1〜10万円</a:t>
            </a:r>
            <a:endParaRPr lang="en-US" sz="1800" dirty="0"/>
          </a:p>
        </p:txBody>
      </p:sp>
      <p:sp>
        <p:nvSpPr>
          <p:cNvPr id="10" name="Text 8"/>
          <p:cNvSpPr/>
          <p:nvPr/>
        </p:nvSpPr>
        <p:spPr>
          <a:xfrm>
            <a:off x="457200" y="1097280"/>
            <a:ext cx="1124712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00" dirty="0">
                <a:solidFill>
                  <a:srgbClr val="666666"/>
                </a:solidFill>
                <a:latin typeface="メイリオ" pitchFamily="34" charset="0"/>
                <a:ea typeface="メイリオ" pitchFamily="34" charset="-122"/>
                <a:cs typeface="メイリオ" pitchFamily="34" charset="-120"/>
              </a:rPr>
              <a:t>〜本業以外の「第二の収入源」を作る〜</a:t>
            </a:r>
            <a:endParaRPr lang="en-US" sz="1600" dirty="0"/>
          </a:p>
        </p:txBody>
      </p:sp>
      <p:sp>
        <p:nvSpPr>
          <p:cNvPr id="11" name="Shape 9"/>
          <p:cNvSpPr/>
          <p:nvPr/>
        </p:nvSpPr>
        <p:spPr>
          <a:xfrm>
            <a:off x="365760" y="1783080"/>
            <a:ext cx="457200" cy="457200"/>
          </a:xfrm>
          <a:prstGeom prst="rect">
            <a:avLst/>
          </a:prstGeom>
          <a:solidFill>
            <a:srgbClr val="1565C0"/>
          </a:solidFill>
          <a:ln/>
        </p:spPr>
      </p:sp>
      <p:sp>
        <p:nvSpPr>
          <p:cNvPr id="12" name="Text 10"/>
          <p:cNvSpPr/>
          <p:nvPr/>
        </p:nvSpPr>
        <p:spPr>
          <a:xfrm>
            <a:off x="365760" y="1783080"/>
            <a:ext cx="4572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✓</a:t>
            </a:r>
            <a:endParaRPr lang="en-US" sz="1600" dirty="0"/>
          </a:p>
        </p:txBody>
      </p:sp>
      <p:sp>
        <p:nvSpPr>
          <p:cNvPr id="13" name="Text 11"/>
          <p:cNvSpPr/>
          <p:nvPr/>
        </p:nvSpPr>
        <p:spPr>
          <a:xfrm>
            <a:off x="960120" y="1691640"/>
            <a:ext cx="10607040" cy="6858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00" dirty="0">
                <a:solidFill>
                  <a:srgbClr val="333333"/>
                </a:solidFill>
                <a:latin typeface="メイリオ" pitchFamily="34" charset="0"/>
                <a:ea typeface="メイリオ" pitchFamily="34" charset="-122"/>
                <a:cs typeface="メイリオ" pitchFamily="34" charset="-120"/>
              </a:rPr>
              <a:t>クラウドワークス・ランサーズ：ライティング・データ入力・翻訳。月1〜5万円から</a:t>
            </a:r>
            <a:endParaRPr lang="en-US" sz="1600" dirty="0"/>
          </a:p>
        </p:txBody>
      </p:sp>
      <p:sp>
        <p:nvSpPr>
          <p:cNvPr id="14" name="Shape 12"/>
          <p:cNvSpPr/>
          <p:nvPr/>
        </p:nvSpPr>
        <p:spPr>
          <a:xfrm>
            <a:off x="365760" y="2560320"/>
            <a:ext cx="457200" cy="457200"/>
          </a:xfrm>
          <a:prstGeom prst="rect">
            <a:avLst/>
          </a:prstGeom>
          <a:solidFill>
            <a:srgbClr val="1565C0"/>
          </a:solidFill>
          <a:ln/>
        </p:spPr>
      </p:sp>
      <p:sp>
        <p:nvSpPr>
          <p:cNvPr id="15" name="Text 13"/>
          <p:cNvSpPr/>
          <p:nvPr/>
        </p:nvSpPr>
        <p:spPr>
          <a:xfrm>
            <a:off x="365760" y="2560320"/>
            <a:ext cx="4572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✓</a:t>
            </a:r>
            <a:endParaRPr lang="en-US" sz="1600" dirty="0"/>
          </a:p>
        </p:txBody>
      </p:sp>
      <p:sp>
        <p:nvSpPr>
          <p:cNvPr id="16" name="Text 14"/>
          <p:cNvSpPr/>
          <p:nvPr/>
        </p:nvSpPr>
        <p:spPr>
          <a:xfrm>
            <a:off x="960120" y="2468880"/>
            <a:ext cx="10607040" cy="6858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00" dirty="0">
                <a:solidFill>
                  <a:srgbClr val="333333"/>
                </a:solidFill>
                <a:latin typeface="メイリオ" pitchFamily="34" charset="0"/>
                <a:ea typeface="メイリオ" pitchFamily="34" charset="-122"/>
                <a:cs typeface="メイリオ" pitchFamily="34" charset="-120"/>
              </a:rPr>
              <a:t>ストアカ・ココナラ：職歴・趣味・専門知識を「教える商品」に変換。月1〜10万円</a:t>
            </a:r>
            <a:endParaRPr lang="en-US" sz="1600" dirty="0"/>
          </a:p>
        </p:txBody>
      </p:sp>
      <p:sp>
        <p:nvSpPr>
          <p:cNvPr id="17" name="Shape 15"/>
          <p:cNvSpPr/>
          <p:nvPr/>
        </p:nvSpPr>
        <p:spPr>
          <a:xfrm>
            <a:off x="365760" y="3337560"/>
            <a:ext cx="457200" cy="457200"/>
          </a:xfrm>
          <a:prstGeom prst="rect">
            <a:avLst/>
          </a:prstGeom>
          <a:solidFill>
            <a:srgbClr val="1565C0"/>
          </a:solidFill>
          <a:ln/>
        </p:spPr>
      </p:sp>
      <p:sp>
        <p:nvSpPr>
          <p:cNvPr id="18" name="Text 16"/>
          <p:cNvSpPr/>
          <p:nvPr/>
        </p:nvSpPr>
        <p:spPr>
          <a:xfrm>
            <a:off x="365760" y="3337560"/>
            <a:ext cx="4572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✓</a:t>
            </a:r>
            <a:endParaRPr lang="en-US" sz="1600" dirty="0"/>
          </a:p>
        </p:txBody>
      </p:sp>
      <p:sp>
        <p:nvSpPr>
          <p:cNvPr id="19" name="Text 17"/>
          <p:cNvSpPr/>
          <p:nvPr/>
        </p:nvSpPr>
        <p:spPr>
          <a:xfrm>
            <a:off x="960120" y="3246120"/>
            <a:ext cx="10607040" cy="6858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00" dirty="0">
                <a:solidFill>
                  <a:srgbClr val="333333"/>
                </a:solidFill>
                <a:latin typeface="メイリオ" pitchFamily="34" charset="0"/>
                <a:ea typeface="メイリオ" pitchFamily="34" charset="-122"/>
                <a:cs typeface="メイリオ" pitchFamily="34" charset="-120"/>
              </a:rPr>
              <a:t>せどり・転売：Amazonやメルカリへの仕入れ転売。月3〜20万円の実績者も多い</a:t>
            </a:r>
            <a:endParaRPr lang="en-US" sz="1600" dirty="0"/>
          </a:p>
        </p:txBody>
      </p:sp>
      <p:sp>
        <p:nvSpPr>
          <p:cNvPr id="20" name="Shape 18"/>
          <p:cNvSpPr/>
          <p:nvPr/>
        </p:nvSpPr>
        <p:spPr>
          <a:xfrm>
            <a:off x="365760" y="4114800"/>
            <a:ext cx="457200" cy="457200"/>
          </a:xfrm>
          <a:prstGeom prst="rect">
            <a:avLst/>
          </a:prstGeom>
          <a:solidFill>
            <a:srgbClr val="1565C0"/>
          </a:solidFill>
          <a:ln/>
        </p:spPr>
      </p:sp>
      <p:sp>
        <p:nvSpPr>
          <p:cNvPr id="21" name="Text 19"/>
          <p:cNvSpPr/>
          <p:nvPr/>
        </p:nvSpPr>
        <p:spPr>
          <a:xfrm>
            <a:off x="365760" y="4114800"/>
            <a:ext cx="4572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✓</a:t>
            </a:r>
            <a:endParaRPr lang="en-US" sz="1600" dirty="0"/>
          </a:p>
        </p:txBody>
      </p:sp>
      <p:sp>
        <p:nvSpPr>
          <p:cNvPr id="22" name="Text 20"/>
          <p:cNvSpPr/>
          <p:nvPr/>
        </p:nvSpPr>
        <p:spPr>
          <a:xfrm>
            <a:off x="960120" y="4023360"/>
            <a:ext cx="10607040" cy="6858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00" dirty="0">
                <a:solidFill>
                  <a:srgbClr val="333333"/>
                </a:solidFill>
                <a:latin typeface="メイリオ" pitchFamily="34" charset="0"/>
                <a:ea typeface="メイリオ" pitchFamily="34" charset="-122"/>
                <a:cs typeface="メイリオ" pitchFamily="34" charset="-120"/>
              </a:rPr>
              <a:t>長年の職歴・人脈・専門知識は「副業の武器」。まず月1〜2万円達成を目標に</a:t>
            </a:r>
            <a:endParaRPr lang="en-US" sz="1600" dirty="0"/>
          </a:p>
        </p:txBody>
      </p:sp>
      <p:sp>
        <p:nvSpPr>
          <p:cNvPr id="23" name="Shape 21"/>
          <p:cNvSpPr/>
          <p:nvPr/>
        </p:nvSpPr>
        <p:spPr>
          <a:xfrm>
            <a:off x="365760" y="5029200"/>
            <a:ext cx="11247120" cy="640080"/>
          </a:xfrm>
          <a:prstGeom prst="rect">
            <a:avLst/>
          </a:prstGeom>
          <a:solidFill>
            <a:srgbClr val="FFF3E0"/>
          </a:solidFill>
          <a:ln w="12700">
            <a:solidFill>
              <a:srgbClr val="E8602C"/>
            </a:solidFill>
            <a:prstDash val="solid"/>
          </a:ln>
        </p:spPr>
      </p:sp>
      <p:sp>
        <p:nvSpPr>
          <p:cNvPr id="24" name="Text 22"/>
          <p:cNvSpPr/>
          <p:nvPr/>
        </p:nvSpPr>
        <p:spPr>
          <a:xfrm>
            <a:off x="457200" y="5074920"/>
            <a:ext cx="1106424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E8602C"/>
                </a:solidFill>
                <a:latin typeface="メイリオ" pitchFamily="34" charset="0"/>
                <a:ea typeface="メイリオ" pitchFamily="34" charset="-122"/>
                <a:cs typeface="メイリオ" pitchFamily="34" charset="-120"/>
              </a:rPr>
              <a:t>⚠  限界：時間を売っている限り収入に上限がある。体力・時間の制約から逃れられない。</a:t>
            </a:r>
            <a:endParaRPr lang="en-US" sz="1400" dirty="0"/>
          </a:p>
        </p:txBody>
      </p:sp>
      <p:sp>
        <p:nvSpPr>
          <p:cNvPr id="25" name="Text 23"/>
          <p:cNvSpPr/>
          <p:nvPr/>
        </p:nvSpPr>
        <p:spPr>
          <a:xfrm>
            <a:off x="274320" y="6309360"/>
            <a:ext cx="1161288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666666"/>
                </a:solidFill>
                <a:latin typeface="メイリオ" pitchFamily="34" charset="0"/>
                <a:ea typeface="メイリオ" pitchFamily="34" charset="-122"/>
                <a:cs typeface="メイリオ" pitchFamily="34" charset="-120"/>
              </a:rPr>
              <a:t>高速資産形成セミナー集客講義</a:t>
            </a:r>
            <a:endParaRPr lang="en-US" sz="900" dirty="0"/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3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rgbClr val="F4F6FA"/>
          </a:solidFill>
          <a:ln/>
        </p:spPr>
      </p:sp>
      <p:sp>
        <p:nvSpPr>
          <p:cNvPr id="3" name="Shape 1"/>
          <p:cNvSpPr/>
          <p:nvPr/>
        </p:nvSpPr>
        <p:spPr>
          <a:xfrm>
            <a:off x="0" y="0"/>
            <a:ext cx="12192000" cy="1005840"/>
          </a:xfrm>
          <a:prstGeom prst="rect">
            <a:avLst/>
          </a:prstGeom>
          <a:solidFill>
            <a:srgbClr val="1A2744"/>
          </a:solidFill>
          <a:ln/>
        </p:spPr>
      </p:sp>
      <p:sp>
        <p:nvSpPr>
          <p:cNvPr id="4" name="Shape 2"/>
          <p:cNvSpPr/>
          <p:nvPr/>
        </p:nvSpPr>
        <p:spPr>
          <a:xfrm>
            <a:off x="0" y="987552"/>
            <a:ext cx="12192000" cy="45720"/>
          </a:xfrm>
          <a:prstGeom prst="rect">
            <a:avLst/>
          </a:prstGeom>
          <a:solidFill>
            <a:srgbClr val="D4A843"/>
          </a:solidFill>
          <a:ln/>
        </p:spPr>
      </p:sp>
      <p:sp>
        <p:nvSpPr>
          <p:cNvPr id="5" name="Shape 3"/>
          <p:cNvSpPr/>
          <p:nvPr/>
        </p:nvSpPr>
        <p:spPr>
          <a:xfrm>
            <a:off x="365760" y="137160"/>
            <a:ext cx="731520" cy="731520"/>
          </a:xfrm>
          <a:prstGeom prst="rect">
            <a:avLst/>
          </a:prstGeom>
          <a:solidFill>
            <a:srgbClr val="D4A843"/>
          </a:solidFill>
          <a:ln/>
        </p:spPr>
      </p:sp>
      <p:sp>
        <p:nvSpPr>
          <p:cNvPr id="6" name="Text 4"/>
          <p:cNvSpPr/>
          <p:nvPr/>
        </p:nvSpPr>
        <p:spPr>
          <a:xfrm>
            <a:off x="365760" y="137160"/>
            <a:ext cx="73152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800" b="1" dirty="0">
                <a:solidFill>
                  <a:srgbClr val="1A274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08</a:t>
            </a:r>
            <a:endParaRPr lang="en-US" sz="2800" dirty="0"/>
          </a:p>
        </p:txBody>
      </p:sp>
      <p:sp>
        <p:nvSpPr>
          <p:cNvPr id="7" name="Text 5"/>
          <p:cNvSpPr/>
          <p:nvPr/>
        </p:nvSpPr>
        <p:spPr>
          <a:xfrm>
            <a:off x="1280160" y="137160"/>
            <a:ext cx="777240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FFFFFF"/>
                </a:solidFill>
                <a:latin typeface="メイリオ" pitchFamily="34" charset="0"/>
                <a:ea typeface="メイリオ" pitchFamily="34" charset="-122"/>
                <a:cs typeface="メイリオ" pitchFamily="34" charset="-120"/>
              </a:rPr>
              <a:t>税制優遇制度の活用</a:t>
            </a:r>
            <a:endParaRPr lang="en-US" sz="2800" dirty="0"/>
          </a:p>
        </p:txBody>
      </p:sp>
      <p:sp>
        <p:nvSpPr>
          <p:cNvPr id="8" name="Shape 6"/>
          <p:cNvSpPr/>
          <p:nvPr/>
        </p:nvSpPr>
        <p:spPr>
          <a:xfrm>
            <a:off x="9235440" y="182880"/>
            <a:ext cx="2468880" cy="640080"/>
          </a:xfrm>
          <a:prstGeom prst="rect">
            <a:avLst/>
          </a:prstGeom>
          <a:solidFill>
            <a:srgbClr val="E8602C"/>
          </a:solidFill>
          <a:ln/>
        </p:spPr>
      </p:sp>
      <p:sp>
        <p:nvSpPr>
          <p:cNvPr id="9" name="Text 7"/>
          <p:cNvSpPr/>
          <p:nvPr/>
        </p:nvSpPr>
        <p:spPr>
          <a:xfrm>
            <a:off x="9235440" y="182880"/>
            <a:ext cx="246888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FFFFFF"/>
                </a:solidFill>
                <a:latin typeface="メイリオ" pitchFamily="34" charset="0"/>
                <a:ea typeface="メイリオ" pitchFamily="34" charset="-122"/>
                <a:cs typeface="メイリオ" pitchFamily="34" charset="-120"/>
              </a:rPr>
              <a:t>年 5〜20万円</a:t>
            </a:r>
            <a:endParaRPr lang="en-US" sz="1800" dirty="0"/>
          </a:p>
        </p:txBody>
      </p:sp>
      <p:sp>
        <p:nvSpPr>
          <p:cNvPr id="10" name="Text 8"/>
          <p:cNvSpPr/>
          <p:nvPr/>
        </p:nvSpPr>
        <p:spPr>
          <a:xfrm>
            <a:off x="457200" y="1097280"/>
            <a:ext cx="1124712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00" dirty="0">
                <a:solidFill>
                  <a:srgbClr val="666666"/>
                </a:solidFill>
                <a:latin typeface="メイリオ" pitchFamily="34" charset="0"/>
                <a:ea typeface="メイリオ" pitchFamily="34" charset="-122"/>
                <a:cs typeface="メイリオ" pitchFamily="34" charset="-120"/>
              </a:rPr>
              <a:t>〜払わなくていい税金を取り戻す〜</a:t>
            </a:r>
            <a:endParaRPr lang="en-US" sz="1600" dirty="0"/>
          </a:p>
        </p:txBody>
      </p:sp>
      <p:sp>
        <p:nvSpPr>
          <p:cNvPr id="11" name="Shape 9"/>
          <p:cNvSpPr/>
          <p:nvPr/>
        </p:nvSpPr>
        <p:spPr>
          <a:xfrm>
            <a:off x="365760" y="1783080"/>
            <a:ext cx="457200" cy="457200"/>
          </a:xfrm>
          <a:prstGeom prst="rect">
            <a:avLst/>
          </a:prstGeom>
          <a:solidFill>
            <a:srgbClr val="1565C0"/>
          </a:solidFill>
          <a:ln/>
        </p:spPr>
      </p:sp>
      <p:sp>
        <p:nvSpPr>
          <p:cNvPr id="12" name="Text 10"/>
          <p:cNvSpPr/>
          <p:nvPr/>
        </p:nvSpPr>
        <p:spPr>
          <a:xfrm>
            <a:off x="365760" y="1783080"/>
            <a:ext cx="4572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✓</a:t>
            </a:r>
            <a:endParaRPr lang="en-US" sz="1600" dirty="0"/>
          </a:p>
        </p:txBody>
      </p:sp>
      <p:sp>
        <p:nvSpPr>
          <p:cNvPr id="13" name="Text 11"/>
          <p:cNvSpPr/>
          <p:nvPr/>
        </p:nvSpPr>
        <p:spPr>
          <a:xfrm>
            <a:off x="960120" y="1691640"/>
            <a:ext cx="10607040" cy="6858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00" dirty="0">
                <a:solidFill>
                  <a:srgbClr val="333333"/>
                </a:solidFill>
                <a:latin typeface="メイリオ" pitchFamily="34" charset="0"/>
                <a:ea typeface="メイリオ" pitchFamily="34" charset="-122"/>
                <a:cs typeface="メイリオ" pitchFamily="34" charset="-120"/>
              </a:rPr>
              <a:t>iDeCo：掛金が全額所得控除。年収600万円で月2万円拠出すれば年間約4〜6万円の節税</a:t>
            </a:r>
            <a:endParaRPr lang="en-US" sz="1600" dirty="0"/>
          </a:p>
        </p:txBody>
      </p:sp>
      <p:sp>
        <p:nvSpPr>
          <p:cNvPr id="14" name="Shape 12"/>
          <p:cNvSpPr/>
          <p:nvPr/>
        </p:nvSpPr>
        <p:spPr>
          <a:xfrm>
            <a:off x="365760" y="2560320"/>
            <a:ext cx="457200" cy="457200"/>
          </a:xfrm>
          <a:prstGeom prst="rect">
            <a:avLst/>
          </a:prstGeom>
          <a:solidFill>
            <a:srgbClr val="1565C0"/>
          </a:solidFill>
          <a:ln/>
        </p:spPr>
      </p:sp>
      <p:sp>
        <p:nvSpPr>
          <p:cNvPr id="15" name="Text 13"/>
          <p:cNvSpPr/>
          <p:nvPr/>
        </p:nvSpPr>
        <p:spPr>
          <a:xfrm>
            <a:off x="365760" y="2560320"/>
            <a:ext cx="4572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✓</a:t>
            </a:r>
            <a:endParaRPr lang="en-US" sz="1600" dirty="0"/>
          </a:p>
        </p:txBody>
      </p:sp>
      <p:sp>
        <p:nvSpPr>
          <p:cNvPr id="16" name="Text 14"/>
          <p:cNvSpPr/>
          <p:nvPr/>
        </p:nvSpPr>
        <p:spPr>
          <a:xfrm>
            <a:off x="960120" y="2468880"/>
            <a:ext cx="10607040" cy="6858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00" dirty="0">
                <a:solidFill>
                  <a:srgbClr val="333333"/>
                </a:solidFill>
                <a:latin typeface="メイリオ" pitchFamily="34" charset="0"/>
                <a:ea typeface="メイリオ" pitchFamily="34" charset="-122"/>
                <a:cs typeface="メイリオ" pitchFamily="34" charset="-120"/>
              </a:rPr>
              <a:t>ふるさと納税：実質2,000円で返礼品受取＋住民税控除。食費削減にもなる一石二鳥</a:t>
            </a:r>
            <a:endParaRPr lang="en-US" sz="1600" dirty="0"/>
          </a:p>
        </p:txBody>
      </p:sp>
      <p:sp>
        <p:nvSpPr>
          <p:cNvPr id="17" name="Shape 15"/>
          <p:cNvSpPr/>
          <p:nvPr/>
        </p:nvSpPr>
        <p:spPr>
          <a:xfrm>
            <a:off x="365760" y="3337560"/>
            <a:ext cx="457200" cy="457200"/>
          </a:xfrm>
          <a:prstGeom prst="rect">
            <a:avLst/>
          </a:prstGeom>
          <a:solidFill>
            <a:srgbClr val="1565C0"/>
          </a:solidFill>
          <a:ln/>
        </p:spPr>
      </p:sp>
      <p:sp>
        <p:nvSpPr>
          <p:cNvPr id="18" name="Text 16"/>
          <p:cNvSpPr/>
          <p:nvPr/>
        </p:nvSpPr>
        <p:spPr>
          <a:xfrm>
            <a:off x="365760" y="3337560"/>
            <a:ext cx="4572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✓</a:t>
            </a:r>
            <a:endParaRPr lang="en-US" sz="1600" dirty="0"/>
          </a:p>
        </p:txBody>
      </p:sp>
      <p:sp>
        <p:nvSpPr>
          <p:cNvPr id="19" name="Text 17"/>
          <p:cNvSpPr/>
          <p:nvPr/>
        </p:nvSpPr>
        <p:spPr>
          <a:xfrm>
            <a:off x="960120" y="3246120"/>
            <a:ext cx="10607040" cy="6858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00" dirty="0">
                <a:solidFill>
                  <a:srgbClr val="333333"/>
                </a:solidFill>
                <a:latin typeface="メイリオ" pitchFamily="34" charset="0"/>
                <a:ea typeface="メイリオ" pitchFamily="34" charset="-122"/>
                <a:cs typeface="メイリオ" pitchFamily="34" charset="-120"/>
              </a:rPr>
              <a:t>医療費控除：年間10万円超の医療費は確定申告で還付。意外と知らない人が多い</a:t>
            </a:r>
            <a:endParaRPr lang="en-US" sz="1600" dirty="0"/>
          </a:p>
        </p:txBody>
      </p:sp>
      <p:sp>
        <p:nvSpPr>
          <p:cNvPr id="20" name="Shape 18"/>
          <p:cNvSpPr/>
          <p:nvPr/>
        </p:nvSpPr>
        <p:spPr>
          <a:xfrm>
            <a:off x="365760" y="4114800"/>
            <a:ext cx="457200" cy="457200"/>
          </a:xfrm>
          <a:prstGeom prst="rect">
            <a:avLst/>
          </a:prstGeom>
          <a:solidFill>
            <a:srgbClr val="1565C0"/>
          </a:solidFill>
          <a:ln/>
        </p:spPr>
      </p:sp>
      <p:sp>
        <p:nvSpPr>
          <p:cNvPr id="21" name="Text 19"/>
          <p:cNvSpPr/>
          <p:nvPr/>
        </p:nvSpPr>
        <p:spPr>
          <a:xfrm>
            <a:off x="365760" y="4114800"/>
            <a:ext cx="4572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✓</a:t>
            </a:r>
            <a:endParaRPr lang="en-US" sz="1600" dirty="0"/>
          </a:p>
        </p:txBody>
      </p:sp>
      <p:sp>
        <p:nvSpPr>
          <p:cNvPr id="22" name="Text 20"/>
          <p:cNvSpPr/>
          <p:nvPr/>
        </p:nvSpPr>
        <p:spPr>
          <a:xfrm>
            <a:off x="960120" y="4023360"/>
            <a:ext cx="10607040" cy="6858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00" dirty="0">
                <a:solidFill>
                  <a:srgbClr val="333333"/>
                </a:solidFill>
                <a:latin typeface="メイリオ" pitchFamily="34" charset="0"/>
                <a:ea typeface="メイリオ" pitchFamily="34" charset="-122"/>
                <a:cs typeface="メイリオ" pitchFamily="34" charset="-120"/>
              </a:rPr>
              <a:t>副業がある場合は青色申告：最大65万円の特別控除。経費計上で課税所得を大幅に圧縮</a:t>
            </a:r>
            <a:endParaRPr lang="en-US" sz="1600" dirty="0"/>
          </a:p>
        </p:txBody>
      </p:sp>
      <p:sp>
        <p:nvSpPr>
          <p:cNvPr id="23" name="Shape 21"/>
          <p:cNvSpPr/>
          <p:nvPr/>
        </p:nvSpPr>
        <p:spPr>
          <a:xfrm>
            <a:off x="365760" y="5029200"/>
            <a:ext cx="11247120" cy="640080"/>
          </a:xfrm>
          <a:prstGeom prst="rect">
            <a:avLst/>
          </a:prstGeom>
          <a:solidFill>
            <a:srgbClr val="FFF3E0"/>
          </a:solidFill>
          <a:ln w="12700">
            <a:solidFill>
              <a:srgbClr val="E8602C"/>
            </a:solidFill>
            <a:prstDash val="solid"/>
          </a:ln>
        </p:spPr>
      </p:sp>
      <p:sp>
        <p:nvSpPr>
          <p:cNvPr id="24" name="Text 22"/>
          <p:cNvSpPr/>
          <p:nvPr/>
        </p:nvSpPr>
        <p:spPr>
          <a:xfrm>
            <a:off x="457200" y="5074920"/>
            <a:ext cx="1106424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E8602C"/>
                </a:solidFill>
                <a:latin typeface="メイリオ" pitchFamily="34" charset="0"/>
                <a:ea typeface="メイリオ" pitchFamily="34" charset="-122"/>
                <a:cs typeface="メイリオ" pitchFamily="34" charset="-120"/>
              </a:rPr>
              <a:t>⚠  限界：節税の上限は決まっている。制度の恩恵を使い切ってしまえば、それ以上は増えない。</a:t>
            </a:r>
            <a:endParaRPr lang="en-US" sz="1400" dirty="0"/>
          </a:p>
        </p:txBody>
      </p:sp>
      <p:sp>
        <p:nvSpPr>
          <p:cNvPr id="25" name="Text 23"/>
          <p:cNvSpPr/>
          <p:nvPr/>
        </p:nvSpPr>
        <p:spPr>
          <a:xfrm>
            <a:off x="274320" y="6309360"/>
            <a:ext cx="1161288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666666"/>
                </a:solidFill>
                <a:latin typeface="メイリオ" pitchFamily="34" charset="0"/>
                <a:ea typeface="メイリオ" pitchFamily="34" charset="-122"/>
                <a:cs typeface="メイリオ" pitchFamily="34" charset="-120"/>
              </a:rPr>
              <a:t>高速資産形成セミナー集客講義</a:t>
            </a:r>
            <a:endParaRPr lang="en-US" sz="900" dirty="0"/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4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rgbClr val="1A2744"/>
          </a:solidFill>
          <a:ln/>
        </p:spPr>
      </p:sp>
      <p:sp>
        <p:nvSpPr>
          <p:cNvPr id="3" name="Shape 1"/>
          <p:cNvSpPr/>
          <p:nvPr/>
        </p:nvSpPr>
        <p:spPr>
          <a:xfrm>
            <a:off x="0" y="0"/>
            <a:ext cx="12192000" cy="54864"/>
          </a:xfrm>
          <a:prstGeom prst="rect">
            <a:avLst/>
          </a:prstGeom>
          <a:solidFill>
            <a:srgbClr val="D4A843"/>
          </a:solidFill>
          <a:ln/>
        </p:spPr>
      </p:sp>
      <p:sp>
        <p:nvSpPr>
          <p:cNvPr id="4" name="Text 2"/>
          <p:cNvSpPr/>
          <p:nvPr/>
        </p:nvSpPr>
        <p:spPr>
          <a:xfrm>
            <a:off x="457200" y="182880"/>
            <a:ext cx="1124712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FFFFFF"/>
                </a:solidFill>
                <a:latin typeface="メイリオ" pitchFamily="34" charset="0"/>
                <a:ea typeface="メイリオ" pitchFamily="34" charset="-122"/>
                <a:cs typeface="メイリオ" pitchFamily="34" charset="-120"/>
              </a:rPr>
              <a:t>8手法を組み合わせると…</a:t>
            </a:r>
            <a:endParaRPr lang="en-US" sz="2800" dirty="0"/>
          </a:p>
        </p:txBody>
      </p:sp>
      <p:sp>
        <p:nvSpPr>
          <p:cNvPr id="5" name="Shape 3"/>
          <p:cNvSpPr/>
          <p:nvPr/>
        </p:nvSpPr>
        <p:spPr>
          <a:xfrm>
            <a:off x="457200" y="1005840"/>
            <a:ext cx="11247120" cy="914400"/>
          </a:xfrm>
          <a:prstGeom prst="rect">
            <a:avLst/>
          </a:prstGeom>
          <a:solidFill>
            <a:srgbClr val="243060"/>
          </a:solidFill>
          <a:ln w="12700">
            <a:solidFill>
              <a:srgbClr val="1565C0"/>
            </a:solidFill>
            <a:prstDash val="solid"/>
          </a:ln>
        </p:spPr>
      </p:sp>
      <p:sp>
        <p:nvSpPr>
          <p:cNvPr id="6" name="Shape 4"/>
          <p:cNvSpPr/>
          <p:nvPr/>
        </p:nvSpPr>
        <p:spPr>
          <a:xfrm>
            <a:off x="457200" y="1005840"/>
            <a:ext cx="914400" cy="914400"/>
          </a:xfrm>
          <a:prstGeom prst="rect">
            <a:avLst/>
          </a:prstGeom>
          <a:solidFill>
            <a:srgbClr val="1565C0"/>
          </a:solidFill>
          <a:ln/>
        </p:spPr>
      </p:sp>
      <p:sp>
        <p:nvSpPr>
          <p:cNvPr id="7" name="Text 5"/>
          <p:cNvSpPr/>
          <p:nvPr/>
        </p:nvSpPr>
        <p:spPr>
          <a:xfrm>
            <a:off x="457200" y="1188720"/>
            <a:ext cx="9144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01〜04</a:t>
            </a:r>
            <a:endParaRPr lang="en-US" sz="1400" dirty="0"/>
          </a:p>
        </p:txBody>
      </p:sp>
      <p:sp>
        <p:nvSpPr>
          <p:cNvPr id="8" name="Text 6"/>
          <p:cNvSpPr/>
          <p:nvPr/>
        </p:nvSpPr>
        <p:spPr>
          <a:xfrm>
            <a:off x="1554480" y="1188720"/>
            <a:ext cx="68580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800" dirty="0">
                <a:solidFill>
                  <a:srgbClr val="FFFFFF"/>
                </a:solidFill>
                <a:latin typeface="メイリオ" pitchFamily="34" charset="0"/>
                <a:ea typeface="メイリオ" pitchFamily="34" charset="-122"/>
                <a:cs typeface="メイリオ" pitchFamily="34" charset="-120"/>
              </a:rPr>
              <a:t>節約・還元系（4手法合計）</a:t>
            </a:r>
            <a:endParaRPr lang="en-US" sz="1800" dirty="0"/>
          </a:p>
        </p:txBody>
      </p:sp>
      <p:sp>
        <p:nvSpPr>
          <p:cNvPr id="9" name="Text 7"/>
          <p:cNvSpPr/>
          <p:nvPr/>
        </p:nvSpPr>
        <p:spPr>
          <a:xfrm>
            <a:off x="8503920" y="1143000"/>
            <a:ext cx="301752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2000" b="1" dirty="0">
                <a:solidFill>
                  <a:srgbClr val="D4A843"/>
                </a:solidFill>
                <a:latin typeface="メイリオ" pitchFamily="34" charset="0"/>
                <a:ea typeface="メイリオ" pitchFamily="34" charset="-122"/>
                <a:cs typeface="メイリオ" pitchFamily="34" charset="-120"/>
              </a:rPr>
              <a:t>月 1.5〜7万円</a:t>
            </a:r>
            <a:endParaRPr lang="en-US" sz="2000" dirty="0"/>
          </a:p>
        </p:txBody>
      </p:sp>
      <p:sp>
        <p:nvSpPr>
          <p:cNvPr id="10" name="Shape 8"/>
          <p:cNvSpPr/>
          <p:nvPr/>
        </p:nvSpPr>
        <p:spPr>
          <a:xfrm>
            <a:off x="457200" y="2103120"/>
            <a:ext cx="11247120" cy="914400"/>
          </a:xfrm>
          <a:prstGeom prst="rect">
            <a:avLst/>
          </a:prstGeom>
          <a:solidFill>
            <a:srgbClr val="243060"/>
          </a:solidFill>
          <a:ln w="12700">
            <a:solidFill>
              <a:srgbClr val="2E7D32"/>
            </a:solidFill>
            <a:prstDash val="solid"/>
          </a:ln>
        </p:spPr>
      </p:sp>
      <p:sp>
        <p:nvSpPr>
          <p:cNvPr id="11" name="Shape 9"/>
          <p:cNvSpPr/>
          <p:nvPr/>
        </p:nvSpPr>
        <p:spPr>
          <a:xfrm>
            <a:off x="457200" y="2103120"/>
            <a:ext cx="914400" cy="914400"/>
          </a:xfrm>
          <a:prstGeom prst="rect">
            <a:avLst/>
          </a:prstGeom>
          <a:solidFill>
            <a:srgbClr val="2E7D32"/>
          </a:solidFill>
          <a:ln/>
        </p:spPr>
      </p:sp>
      <p:sp>
        <p:nvSpPr>
          <p:cNvPr id="12" name="Text 10"/>
          <p:cNvSpPr/>
          <p:nvPr/>
        </p:nvSpPr>
        <p:spPr>
          <a:xfrm>
            <a:off x="457200" y="2286000"/>
            <a:ext cx="9144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05〜07</a:t>
            </a:r>
            <a:endParaRPr lang="en-US" sz="1400" dirty="0"/>
          </a:p>
        </p:txBody>
      </p:sp>
      <p:sp>
        <p:nvSpPr>
          <p:cNvPr id="13" name="Text 11"/>
          <p:cNvSpPr/>
          <p:nvPr/>
        </p:nvSpPr>
        <p:spPr>
          <a:xfrm>
            <a:off x="1554480" y="2286000"/>
            <a:ext cx="68580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800" dirty="0">
                <a:solidFill>
                  <a:srgbClr val="FFFFFF"/>
                </a:solidFill>
                <a:latin typeface="メイリオ" pitchFamily="34" charset="0"/>
                <a:ea typeface="メイリオ" pitchFamily="34" charset="-122"/>
                <a:cs typeface="メイリオ" pitchFamily="34" charset="-120"/>
              </a:rPr>
              <a:t>収入増加系（3手法合計）</a:t>
            </a:r>
            <a:endParaRPr lang="en-US" sz="1800" dirty="0"/>
          </a:p>
        </p:txBody>
      </p:sp>
      <p:sp>
        <p:nvSpPr>
          <p:cNvPr id="14" name="Text 12"/>
          <p:cNvSpPr/>
          <p:nvPr/>
        </p:nvSpPr>
        <p:spPr>
          <a:xfrm>
            <a:off x="8503920" y="2240280"/>
            <a:ext cx="301752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2000" b="1" dirty="0">
                <a:solidFill>
                  <a:srgbClr val="D4A843"/>
                </a:solidFill>
                <a:latin typeface="メイリオ" pitchFamily="34" charset="0"/>
                <a:ea typeface="メイリオ" pitchFamily="34" charset="-122"/>
                <a:cs typeface="メイリオ" pitchFamily="34" charset="-120"/>
              </a:rPr>
              <a:t>月 1.3〜13万円</a:t>
            </a:r>
            <a:endParaRPr lang="en-US" sz="2000" dirty="0"/>
          </a:p>
        </p:txBody>
      </p:sp>
      <p:sp>
        <p:nvSpPr>
          <p:cNvPr id="15" name="Shape 13"/>
          <p:cNvSpPr/>
          <p:nvPr/>
        </p:nvSpPr>
        <p:spPr>
          <a:xfrm>
            <a:off x="457200" y="3200400"/>
            <a:ext cx="11247120" cy="914400"/>
          </a:xfrm>
          <a:prstGeom prst="rect">
            <a:avLst/>
          </a:prstGeom>
          <a:solidFill>
            <a:srgbClr val="243060"/>
          </a:solidFill>
          <a:ln w="12700">
            <a:solidFill>
              <a:srgbClr val="E8602C"/>
            </a:solidFill>
            <a:prstDash val="solid"/>
          </a:ln>
        </p:spPr>
      </p:sp>
      <p:sp>
        <p:nvSpPr>
          <p:cNvPr id="16" name="Shape 14"/>
          <p:cNvSpPr/>
          <p:nvPr/>
        </p:nvSpPr>
        <p:spPr>
          <a:xfrm>
            <a:off x="457200" y="3200400"/>
            <a:ext cx="914400" cy="914400"/>
          </a:xfrm>
          <a:prstGeom prst="rect">
            <a:avLst/>
          </a:prstGeom>
          <a:solidFill>
            <a:srgbClr val="E8602C"/>
          </a:solidFill>
          <a:ln/>
        </p:spPr>
      </p:sp>
      <p:sp>
        <p:nvSpPr>
          <p:cNvPr id="17" name="Text 15"/>
          <p:cNvSpPr/>
          <p:nvPr/>
        </p:nvSpPr>
        <p:spPr>
          <a:xfrm>
            <a:off x="457200" y="3383280"/>
            <a:ext cx="9144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08</a:t>
            </a:r>
            <a:endParaRPr lang="en-US" sz="1400" dirty="0"/>
          </a:p>
        </p:txBody>
      </p:sp>
      <p:sp>
        <p:nvSpPr>
          <p:cNvPr id="18" name="Text 16"/>
          <p:cNvSpPr/>
          <p:nvPr/>
        </p:nvSpPr>
        <p:spPr>
          <a:xfrm>
            <a:off x="1554480" y="3383280"/>
            <a:ext cx="68580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800" dirty="0">
                <a:solidFill>
                  <a:srgbClr val="FFFFFF"/>
                </a:solidFill>
                <a:latin typeface="メイリオ" pitchFamily="34" charset="0"/>
                <a:ea typeface="メイリオ" pitchFamily="34" charset="-122"/>
                <a:cs typeface="メイリオ" pitchFamily="34" charset="-120"/>
              </a:rPr>
              <a:t>節税系</a:t>
            </a:r>
            <a:endParaRPr lang="en-US" sz="1800" dirty="0"/>
          </a:p>
        </p:txBody>
      </p:sp>
      <p:sp>
        <p:nvSpPr>
          <p:cNvPr id="19" name="Text 17"/>
          <p:cNvSpPr/>
          <p:nvPr/>
        </p:nvSpPr>
        <p:spPr>
          <a:xfrm>
            <a:off x="8503920" y="3337560"/>
            <a:ext cx="301752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2000" b="1" dirty="0">
                <a:solidFill>
                  <a:srgbClr val="D4A843"/>
                </a:solidFill>
                <a:latin typeface="メイリオ" pitchFamily="34" charset="0"/>
                <a:ea typeface="メイリオ" pitchFamily="34" charset="-122"/>
                <a:cs typeface="メイリオ" pitchFamily="34" charset="-120"/>
              </a:rPr>
              <a:t>年 5〜20万円</a:t>
            </a:r>
            <a:endParaRPr lang="en-US" sz="2000" dirty="0"/>
          </a:p>
        </p:txBody>
      </p:sp>
      <p:sp>
        <p:nvSpPr>
          <p:cNvPr id="20" name="Shape 18"/>
          <p:cNvSpPr/>
          <p:nvPr/>
        </p:nvSpPr>
        <p:spPr>
          <a:xfrm>
            <a:off x="457200" y="4343400"/>
            <a:ext cx="11247120" cy="1188720"/>
          </a:xfrm>
          <a:prstGeom prst="rect">
            <a:avLst/>
          </a:prstGeom>
          <a:solidFill>
            <a:srgbClr val="D4A843"/>
          </a:solidFill>
          <a:ln/>
        </p:spPr>
      </p:sp>
      <p:sp>
        <p:nvSpPr>
          <p:cNvPr id="21" name="Text 19"/>
          <p:cNvSpPr/>
          <p:nvPr/>
        </p:nvSpPr>
        <p:spPr>
          <a:xfrm>
            <a:off x="731520" y="4434840"/>
            <a:ext cx="36576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00" dirty="0">
                <a:solidFill>
                  <a:srgbClr val="1A2744"/>
                </a:solidFill>
                <a:latin typeface="メイリオ" pitchFamily="34" charset="0"/>
                <a:ea typeface="メイリオ" pitchFamily="34" charset="-122"/>
                <a:cs typeface="メイリオ" pitchFamily="34" charset="-120"/>
              </a:rPr>
              <a:t>合計でおよそ…</a:t>
            </a:r>
            <a:endParaRPr lang="en-US" sz="1600" dirty="0"/>
          </a:p>
        </p:txBody>
      </p:sp>
      <p:sp>
        <p:nvSpPr>
          <p:cNvPr id="22" name="Text 20"/>
          <p:cNvSpPr/>
          <p:nvPr/>
        </p:nvSpPr>
        <p:spPr>
          <a:xfrm>
            <a:off x="731520" y="4800600"/>
            <a:ext cx="1097280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1A2744"/>
                </a:solidFill>
                <a:latin typeface="メイリオ" pitchFamily="34" charset="0"/>
                <a:ea typeface="メイリオ" pitchFamily="34" charset="-122"/>
                <a:cs typeface="メイリオ" pitchFamily="34" charset="-120"/>
              </a:rPr>
              <a:t>月 3〜20万円 の軍資金を作ることが可能</a:t>
            </a:r>
            <a:endParaRPr lang="en-US" sz="2600" dirty="0"/>
          </a:p>
        </p:txBody>
      </p:sp>
      <p:sp>
        <p:nvSpPr>
          <p:cNvPr id="23" name="Text 21"/>
          <p:cNvSpPr/>
          <p:nvPr/>
        </p:nvSpPr>
        <p:spPr>
          <a:xfrm>
            <a:off x="274320" y="6309360"/>
            <a:ext cx="1161288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666666"/>
                </a:solidFill>
                <a:latin typeface="メイリオ" pitchFamily="34" charset="0"/>
                <a:ea typeface="メイリオ" pitchFamily="34" charset="-122"/>
                <a:cs typeface="メイリオ" pitchFamily="34" charset="-120"/>
              </a:rPr>
              <a:t>高速資産形成セミナー集客講義</a:t>
            </a:r>
            <a:endParaRPr lang="en-US" sz="900" dirty="0"/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5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rgbClr val="F4F6FA"/>
          </a:solidFill>
          <a:ln/>
        </p:spPr>
      </p:sp>
      <p:sp>
        <p:nvSpPr>
          <p:cNvPr id="3" name="Shape 1"/>
          <p:cNvSpPr/>
          <p:nvPr/>
        </p:nvSpPr>
        <p:spPr>
          <a:xfrm>
            <a:off x="0" y="0"/>
            <a:ext cx="12192000" cy="1005840"/>
          </a:xfrm>
          <a:prstGeom prst="rect">
            <a:avLst/>
          </a:prstGeom>
          <a:solidFill>
            <a:srgbClr val="1A2744"/>
          </a:solidFill>
          <a:ln/>
        </p:spPr>
      </p:sp>
      <p:sp>
        <p:nvSpPr>
          <p:cNvPr id="4" name="Shape 2"/>
          <p:cNvSpPr/>
          <p:nvPr/>
        </p:nvSpPr>
        <p:spPr>
          <a:xfrm>
            <a:off x="0" y="987552"/>
            <a:ext cx="12192000" cy="45720"/>
          </a:xfrm>
          <a:prstGeom prst="rect">
            <a:avLst/>
          </a:prstGeom>
          <a:solidFill>
            <a:srgbClr val="E8602C"/>
          </a:solidFill>
          <a:ln/>
        </p:spPr>
      </p:sp>
      <p:sp>
        <p:nvSpPr>
          <p:cNvPr id="5" name="Text 3"/>
          <p:cNvSpPr/>
          <p:nvPr/>
        </p:nvSpPr>
        <p:spPr>
          <a:xfrm>
            <a:off x="457200" y="45720"/>
            <a:ext cx="1124712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800" dirty="0">
                <a:solidFill>
                  <a:srgbClr val="AABBCC"/>
                </a:solidFill>
                <a:latin typeface="メイリオ" pitchFamily="34" charset="0"/>
                <a:ea typeface="メイリオ" pitchFamily="34" charset="-122"/>
                <a:cs typeface="メイリオ" pitchFamily="34" charset="-120"/>
              </a:rPr>
              <a:t>さあ、次の問いです</a:t>
            </a:r>
            <a:endParaRPr lang="en-US" sz="1800" dirty="0"/>
          </a:p>
        </p:txBody>
      </p:sp>
      <p:sp>
        <p:nvSpPr>
          <p:cNvPr id="6" name="Text 4"/>
          <p:cNvSpPr/>
          <p:nvPr/>
        </p:nvSpPr>
        <p:spPr>
          <a:xfrm>
            <a:off x="457200" y="411480"/>
            <a:ext cx="1124712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D4A843"/>
                </a:solidFill>
                <a:latin typeface="メイリオ" pitchFamily="34" charset="0"/>
                <a:ea typeface="メイリオ" pitchFamily="34" charset="-122"/>
                <a:cs typeface="メイリオ" pitchFamily="34" charset="-120"/>
              </a:rPr>
              <a:t>貯めた軍資金を、どこに置きますか？</a:t>
            </a:r>
            <a:endParaRPr lang="en-US" sz="3000" dirty="0"/>
          </a:p>
        </p:txBody>
      </p:sp>
      <p:sp>
        <p:nvSpPr>
          <p:cNvPr id="7" name="Shape 5"/>
          <p:cNvSpPr/>
          <p:nvPr/>
        </p:nvSpPr>
        <p:spPr>
          <a:xfrm>
            <a:off x="457200" y="1280160"/>
            <a:ext cx="3657600" cy="3108960"/>
          </a:xfrm>
          <a:prstGeom prst="rect">
            <a:avLst/>
          </a:prstGeom>
          <a:solidFill>
            <a:srgbClr val="FFFFFF"/>
          </a:solidFill>
          <a:ln w="12700">
            <a:solidFill>
              <a:srgbClr val="DDDDDD"/>
            </a:solidFill>
            <a:prstDash val="solid"/>
          </a:ln>
        </p:spPr>
      </p:sp>
      <p:sp>
        <p:nvSpPr>
          <p:cNvPr id="8" name="Shape 6"/>
          <p:cNvSpPr/>
          <p:nvPr/>
        </p:nvSpPr>
        <p:spPr>
          <a:xfrm>
            <a:off x="457200" y="1280160"/>
            <a:ext cx="3657600" cy="640080"/>
          </a:xfrm>
          <a:prstGeom prst="rect">
            <a:avLst/>
          </a:prstGeom>
          <a:solidFill>
            <a:srgbClr val="1565C0"/>
          </a:solidFill>
          <a:ln/>
        </p:spPr>
      </p:sp>
      <p:sp>
        <p:nvSpPr>
          <p:cNvPr id="9" name="Text 7"/>
          <p:cNvSpPr/>
          <p:nvPr/>
        </p:nvSpPr>
        <p:spPr>
          <a:xfrm>
            <a:off x="457200" y="1298448"/>
            <a:ext cx="3657600" cy="60350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メイリオ" pitchFamily="34" charset="0"/>
                <a:ea typeface="メイリオ" pitchFamily="34" charset="-122"/>
                <a:cs typeface="メイリオ" pitchFamily="34" charset="-120"/>
              </a:rPr>
              <a:t>銀行預金</a:t>
            </a:r>
            <a:endParaRPr lang="en-US" sz="1600" dirty="0"/>
          </a:p>
        </p:txBody>
      </p:sp>
      <p:sp>
        <p:nvSpPr>
          <p:cNvPr id="10" name="Text 8"/>
          <p:cNvSpPr/>
          <p:nvPr/>
        </p:nvSpPr>
        <p:spPr>
          <a:xfrm>
            <a:off x="640080" y="2011680"/>
            <a:ext cx="3291840" cy="1645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400" dirty="0">
                <a:solidFill>
                  <a:srgbClr val="333333"/>
                </a:solidFill>
                <a:latin typeface="メイリオ" pitchFamily="34" charset="0"/>
                <a:ea typeface="メイリオ" pitchFamily="34" charset="-122"/>
                <a:cs typeface="メイリオ" pitchFamily="34" charset="-120"/>
              </a:rPr>
              <a:t>金利0.1%</a:t>
            </a:r>
            <a:endParaRPr lang="en-US" sz="1400" dirty="0"/>
          </a:p>
          <a:p>
            <a:pPr algn="ctr" indent="0" marL="0">
              <a:buNone/>
            </a:pPr>
            <a:r>
              <a:rPr lang="en-US" sz="1400" dirty="0">
                <a:solidFill>
                  <a:srgbClr val="333333"/>
                </a:solidFill>
                <a:latin typeface="メイリオ" pitchFamily="34" charset="0"/>
                <a:ea typeface="メイリオ" pitchFamily="34" charset="-122"/>
                <a:cs typeface="メイリオ" pitchFamily="34" charset="-120"/>
              </a:rPr>
              <a:t>100万円で年1,000円</a:t>
            </a:r>
            <a:endParaRPr lang="en-US" sz="1400" dirty="0"/>
          </a:p>
        </p:txBody>
      </p:sp>
      <p:sp>
        <p:nvSpPr>
          <p:cNvPr id="11" name="Shape 9"/>
          <p:cNvSpPr/>
          <p:nvPr/>
        </p:nvSpPr>
        <p:spPr>
          <a:xfrm>
            <a:off x="822960" y="3749040"/>
            <a:ext cx="2926080" cy="502920"/>
          </a:xfrm>
          <a:prstGeom prst="rect">
            <a:avLst/>
          </a:prstGeom>
          <a:solidFill>
            <a:srgbClr val="C62828"/>
          </a:solidFill>
          <a:ln/>
        </p:spPr>
      </p:sp>
      <p:sp>
        <p:nvSpPr>
          <p:cNvPr id="12" name="Text 10"/>
          <p:cNvSpPr/>
          <p:nvPr/>
        </p:nvSpPr>
        <p:spPr>
          <a:xfrm>
            <a:off x="822960" y="3749040"/>
            <a:ext cx="292608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メイリオ" pitchFamily="34" charset="0"/>
                <a:ea typeface="メイリオ" pitchFamily="34" charset="-122"/>
                <a:cs typeface="メイリオ" pitchFamily="34" charset="-120"/>
              </a:rPr>
              <a:t>→ 論外</a:t>
            </a:r>
            <a:endParaRPr lang="en-US" sz="1400" dirty="0"/>
          </a:p>
        </p:txBody>
      </p:sp>
      <p:sp>
        <p:nvSpPr>
          <p:cNvPr id="13" name="Shape 11"/>
          <p:cNvSpPr/>
          <p:nvPr/>
        </p:nvSpPr>
        <p:spPr>
          <a:xfrm>
            <a:off x="4389120" y="1280160"/>
            <a:ext cx="3657600" cy="3108960"/>
          </a:xfrm>
          <a:prstGeom prst="rect">
            <a:avLst/>
          </a:prstGeom>
          <a:solidFill>
            <a:srgbClr val="FFFFFF"/>
          </a:solidFill>
          <a:ln w="12700">
            <a:solidFill>
              <a:srgbClr val="DDDDDD"/>
            </a:solidFill>
            <a:prstDash val="solid"/>
          </a:ln>
        </p:spPr>
      </p:sp>
      <p:sp>
        <p:nvSpPr>
          <p:cNvPr id="14" name="Shape 12"/>
          <p:cNvSpPr/>
          <p:nvPr/>
        </p:nvSpPr>
        <p:spPr>
          <a:xfrm>
            <a:off x="4389120" y="1280160"/>
            <a:ext cx="3657600" cy="640080"/>
          </a:xfrm>
          <a:prstGeom prst="rect">
            <a:avLst/>
          </a:prstGeom>
          <a:solidFill>
            <a:srgbClr val="1565C0"/>
          </a:solidFill>
          <a:ln/>
        </p:spPr>
      </p:sp>
      <p:sp>
        <p:nvSpPr>
          <p:cNvPr id="15" name="Text 13"/>
          <p:cNvSpPr/>
          <p:nvPr/>
        </p:nvSpPr>
        <p:spPr>
          <a:xfrm>
            <a:off x="4389120" y="1298448"/>
            <a:ext cx="3657600" cy="60350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メイリオ" pitchFamily="34" charset="0"/>
                <a:ea typeface="メイリオ" pitchFamily="34" charset="-122"/>
                <a:cs typeface="メイリオ" pitchFamily="34" charset="-120"/>
              </a:rPr>
              <a:t>長期積立</a:t>
            </a:r>
            <a:endParaRPr lang="en-US" sz="1600" dirty="0"/>
          </a:p>
          <a:p>
            <a:pPr algn="ctr"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メイリオ" pitchFamily="34" charset="0"/>
                <a:ea typeface="メイリオ" pitchFamily="34" charset="-122"/>
                <a:cs typeface="メイリオ" pitchFamily="34" charset="-120"/>
              </a:rPr>
              <a:t>インデックス</a:t>
            </a:r>
            <a:endParaRPr lang="en-US" sz="1600" dirty="0"/>
          </a:p>
        </p:txBody>
      </p:sp>
      <p:sp>
        <p:nvSpPr>
          <p:cNvPr id="16" name="Text 14"/>
          <p:cNvSpPr/>
          <p:nvPr/>
        </p:nvSpPr>
        <p:spPr>
          <a:xfrm>
            <a:off x="4572000" y="2011680"/>
            <a:ext cx="3291840" cy="1645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400" dirty="0">
                <a:solidFill>
                  <a:srgbClr val="333333"/>
                </a:solidFill>
                <a:latin typeface="メイリオ" pitchFamily="34" charset="0"/>
                <a:ea typeface="メイリオ" pitchFamily="34" charset="-122"/>
                <a:cs typeface="メイリオ" pitchFamily="34" charset="-120"/>
              </a:rPr>
              <a:t>優良な方法</a:t>
            </a:r>
            <a:endParaRPr lang="en-US" sz="1400" dirty="0"/>
          </a:p>
          <a:p>
            <a:pPr algn="ctr" indent="0" marL="0">
              <a:buNone/>
            </a:pPr>
            <a:r>
              <a:rPr lang="en-US" sz="1400" dirty="0">
                <a:solidFill>
                  <a:srgbClr val="333333"/>
                </a:solidFill>
                <a:latin typeface="メイリオ" pitchFamily="34" charset="0"/>
                <a:ea typeface="メイリオ" pitchFamily="34" charset="-122"/>
                <a:cs typeface="メイリオ" pitchFamily="34" charset="-120"/>
              </a:rPr>
              <a:t>ただし成果まで20〜30年</a:t>
            </a:r>
            <a:endParaRPr lang="en-US" sz="1400" dirty="0"/>
          </a:p>
        </p:txBody>
      </p:sp>
      <p:sp>
        <p:nvSpPr>
          <p:cNvPr id="17" name="Shape 15"/>
          <p:cNvSpPr/>
          <p:nvPr/>
        </p:nvSpPr>
        <p:spPr>
          <a:xfrm>
            <a:off x="4754880" y="3749040"/>
            <a:ext cx="2926080" cy="502920"/>
          </a:xfrm>
          <a:prstGeom prst="rect">
            <a:avLst/>
          </a:prstGeom>
          <a:solidFill>
            <a:srgbClr val="E8602C"/>
          </a:solidFill>
          <a:ln/>
        </p:spPr>
      </p:sp>
      <p:sp>
        <p:nvSpPr>
          <p:cNvPr id="18" name="Text 16"/>
          <p:cNvSpPr/>
          <p:nvPr/>
        </p:nvSpPr>
        <p:spPr>
          <a:xfrm>
            <a:off x="4754880" y="3749040"/>
            <a:ext cx="292608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メイリオ" pitchFamily="34" charset="0"/>
                <a:ea typeface="メイリオ" pitchFamily="34" charset="-122"/>
                <a:cs typeface="メイリオ" pitchFamily="34" charset="-120"/>
              </a:rPr>
              <a:t>→ 時間がかかる</a:t>
            </a:r>
            <a:endParaRPr lang="en-US" sz="1400" dirty="0"/>
          </a:p>
        </p:txBody>
      </p:sp>
      <p:sp>
        <p:nvSpPr>
          <p:cNvPr id="19" name="Shape 17"/>
          <p:cNvSpPr/>
          <p:nvPr/>
        </p:nvSpPr>
        <p:spPr>
          <a:xfrm>
            <a:off x="8321040" y="1280160"/>
            <a:ext cx="3657600" cy="3108960"/>
          </a:xfrm>
          <a:prstGeom prst="rect">
            <a:avLst/>
          </a:prstGeom>
          <a:solidFill>
            <a:srgbClr val="FFFFFF"/>
          </a:solidFill>
          <a:ln w="12700">
            <a:solidFill>
              <a:srgbClr val="DDDDDD"/>
            </a:solidFill>
            <a:prstDash val="solid"/>
          </a:ln>
        </p:spPr>
      </p:sp>
      <p:sp>
        <p:nvSpPr>
          <p:cNvPr id="20" name="Shape 18"/>
          <p:cNvSpPr/>
          <p:nvPr/>
        </p:nvSpPr>
        <p:spPr>
          <a:xfrm>
            <a:off x="8321040" y="1280160"/>
            <a:ext cx="3657600" cy="640080"/>
          </a:xfrm>
          <a:prstGeom prst="rect">
            <a:avLst/>
          </a:prstGeom>
          <a:solidFill>
            <a:srgbClr val="1565C0"/>
          </a:solidFill>
          <a:ln/>
        </p:spPr>
      </p:sp>
      <p:sp>
        <p:nvSpPr>
          <p:cNvPr id="21" name="Text 19"/>
          <p:cNvSpPr/>
          <p:nvPr/>
        </p:nvSpPr>
        <p:spPr>
          <a:xfrm>
            <a:off x="8321040" y="1298448"/>
            <a:ext cx="3657600" cy="60350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メイリオ" pitchFamily="34" charset="0"/>
                <a:ea typeface="メイリオ" pitchFamily="34" charset="-122"/>
                <a:cs typeface="メイリオ" pitchFamily="34" charset="-120"/>
              </a:rPr>
              <a:t>高配当株</a:t>
            </a:r>
            <a:endParaRPr lang="en-US" sz="1600" dirty="0"/>
          </a:p>
          <a:p>
            <a:pPr algn="ctr"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メイリオ" pitchFamily="34" charset="0"/>
                <a:ea typeface="メイリオ" pitchFamily="34" charset="-122"/>
                <a:cs typeface="メイリオ" pitchFamily="34" charset="-120"/>
              </a:rPr>
              <a:t>REIT</a:t>
            </a:r>
            <a:endParaRPr lang="en-US" sz="1600" dirty="0"/>
          </a:p>
        </p:txBody>
      </p:sp>
      <p:sp>
        <p:nvSpPr>
          <p:cNvPr id="22" name="Text 20"/>
          <p:cNvSpPr/>
          <p:nvPr/>
        </p:nvSpPr>
        <p:spPr>
          <a:xfrm>
            <a:off x="8503920" y="2011680"/>
            <a:ext cx="3291840" cy="1645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400" dirty="0">
                <a:solidFill>
                  <a:srgbClr val="333333"/>
                </a:solidFill>
                <a:latin typeface="メイリオ" pitchFamily="34" charset="0"/>
                <a:ea typeface="メイリオ" pitchFamily="34" charset="-122"/>
                <a:cs typeface="メイリオ" pitchFamily="34" charset="-120"/>
              </a:rPr>
              <a:t>年4〜5%配当</a:t>
            </a:r>
            <a:endParaRPr lang="en-US" sz="1400" dirty="0"/>
          </a:p>
          <a:p>
            <a:pPr algn="ctr" indent="0" marL="0">
              <a:buNone/>
            </a:pPr>
            <a:r>
              <a:rPr lang="en-US" sz="1400" dirty="0">
                <a:solidFill>
                  <a:srgbClr val="333333"/>
                </a:solidFill>
                <a:latin typeface="メイリオ" pitchFamily="34" charset="0"/>
                <a:ea typeface="メイリオ" pitchFamily="34" charset="-122"/>
                <a:cs typeface="メイリオ" pitchFamily="34" charset="-120"/>
              </a:rPr>
              <a:t>月15万円には3,000〜4,500万円の元本が必要</a:t>
            </a:r>
            <a:endParaRPr lang="en-US" sz="1400" dirty="0"/>
          </a:p>
        </p:txBody>
      </p:sp>
      <p:sp>
        <p:nvSpPr>
          <p:cNvPr id="23" name="Shape 21"/>
          <p:cNvSpPr/>
          <p:nvPr/>
        </p:nvSpPr>
        <p:spPr>
          <a:xfrm>
            <a:off x="8686800" y="3749040"/>
            <a:ext cx="2926080" cy="502920"/>
          </a:xfrm>
          <a:prstGeom prst="rect">
            <a:avLst/>
          </a:prstGeom>
          <a:solidFill>
            <a:srgbClr val="E8602C"/>
          </a:solidFill>
          <a:ln/>
        </p:spPr>
      </p:sp>
      <p:sp>
        <p:nvSpPr>
          <p:cNvPr id="24" name="Text 22"/>
          <p:cNvSpPr/>
          <p:nvPr/>
        </p:nvSpPr>
        <p:spPr>
          <a:xfrm>
            <a:off x="8686800" y="3749040"/>
            <a:ext cx="292608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メイリオ" pitchFamily="34" charset="0"/>
                <a:ea typeface="メイリオ" pitchFamily="34" charset="-122"/>
                <a:cs typeface="メイリオ" pitchFamily="34" charset="-120"/>
              </a:rPr>
              <a:t>→ 元本が足りない</a:t>
            </a:r>
            <a:endParaRPr lang="en-US" sz="1400" dirty="0"/>
          </a:p>
        </p:txBody>
      </p:sp>
      <p:sp>
        <p:nvSpPr>
          <p:cNvPr id="25" name="Text 23"/>
          <p:cNvSpPr/>
          <p:nvPr/>
        </p:nvSpPr>
        <p:spPr>
          <a:xfrm>
            <a:off x="365760" y="4572000"/>
            <a:ext cx="1143000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E8602C"/>
                </a:solidFill>
                <a:latin typeface="メイリオ" pitchFamily="34" charset="0"/>
                <a:ea typeface="メイリオ" pitchFamily="34" charset="-122"/>
                <a:cs typeface="メイリオ" pitchFamily="34" charset="-120"/>
              </a:rPr>
              <a:t>「もし、もっと早く・少ない元手で 月数万〜15万円 を得られる方法があったとしたら？」</a:t>
            </a:r>
            <a:endParaRPr lang="en-US" sz="1800" dirty="0"/>
          </a:p>
        </p:txBody>
      </p:sp>
      <p:sp>
        <p:nvSpPr>
          <p:cNvPr id="26" name="Text 24"/>
          <p:cNvSpPr/>
          <p:nvPr/>
        </p:nvSpPr>
        <p:spPr>
          <a:xfrm>
            <a:off x="274320" y="6309360"/>
            <a:ext cx="1161288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666666"/>
                </a:solidFill>
                <a:latin typeface="メイリオ" pitchFamily="34" charset="0"/>
                <a:ea typeface="メイリオ" pitchFamily="34" charset="-122"/>
                <a:cs typeface="メイリオ" pitchFamily="34" charset="-120"/>
              </a:rPr>
              <a:t>高速資産形成セミナー集客講義</a:t>
            </a:r>
            <a:endParaRPr lang="en-US" sz="900" dirty="0"/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6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rgbClr val="1A2744"/>
          </a:solidFill>
          <a:ln/>
        </p:spPr>
      </p:sp>
      <p:sp>
        <p:nvSpPr>
          <p:cNvPr id="3" name="Shape 1"/>
          <p:cNvSpPr/>
          <p:nvPr/>
        </p:nvSpPr>
        <p:spPr>
          <a:xfrm>
            <a:off x="0" y="0"/>
            <a:ext cx="12192000" cy="54864"/>
          </a:xfrm>
          <a:prstGeom prst="rect">
            <a:avLst/>
          </a:prstGeom>
          <a:solidFill>
            <a:srgbClr val="D4A843"/>
          </a:solidFill>
          <a:ln/>
        </p:spPr>
      </p:sp>
      <p:sp>
        <p:nvSpPr>
          <p:cNvPr id="4" name="Text 2"/>
          <p:cNvSpPr/>
          <p:nvPr/>
        </p:nvSpPr>
        <p:spPr>
          <a:xfrm>
            <a:off x="457200" y="182880"/>
            <a:ext cx="1124712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FFFFFF"/>
                </a:solidFill>
                <a:latin typeface="メイリオ" pitchFamily="34" charset="0"/>
                <a:ea typeface="メイリオ" pitchFamily="34" charset="-122"/>
                <a:cs typeface="メイリオ" pitchFamily="34" charset="-120"/>
              </a:rPr>
              <a:t>解決策：米国株オプション取引</a:t>
            </a:r>
            <a:endParaRPr lang="en-US" sz="2800" dirty="0"/>
          </a:p>
        </p:txBody>
      </p:sp>
      <p:sp>
        <p:nvSpPr>
          <p:cNvPr id="5" name="Text 3"/>
          <p:cNvSpPr/>
          <p:nvPr/>
        </p:nvSpPr>
        <p:spPr>
          <a:xfrm>
            <a:off x="457200" y="822960"/>
            <a:ext cx="1124712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00" dirty="0">
                <a:solidFill>
                  <a:srgbClr val="AABBCC"/>
                </a:solidFill>
                <a:latin typeface="メイリオ" pitchFamily="34" charset="0"/>
                <a:ea typeface="メイリオ" pitchFamily="34" charset="-122"/>
                <a:cs typeface="メイリオ" pitchFamily="34" charset="-120"/>
              </a:rPr>
              <a:t>〜「買う・売る」の2択から、「権利を売買する」世界へ〜</a:t>
            </a:r>
            <a:endParaRPr lang="en-US" sz="1600" dirty="0"/>
          </a:p>
        </p:txBody>
      </p:sp>
      <p:sp>
        <p:nvSpPr>
          <p:cNvPr id="6" name="Shape 4"/>
          <p:cNvSpPr/>
          <p:nvPr/>
        </p:nvSpPr>
        <p:spPr>
          <a:xfrm>
            <a:off x="457200" y="1371600"/>
            <a:ext cx="11247120" cy="1188720"/>
          </a:xfrm>
          <a:prstGeom prst="rect">
            <a:avLst/>
          </a:prstGeom>
          <a:solidFill>
            <a:srgbClr val="243060"/>
          </a:solidFill>
          <a:ln w="12700">
            <a:solidFill>
              <a:srgbClr val="D4A843"/>
            </a:solidFill>
            <a:prstDash val="solid"/>
          </a:ln>
        </p:spPr>
      </p:sp>
      <p:sp>
        <p:nvSpPr>
          <p:cNvPr id="7" name="Shape 5"/>
          <p:cNvSpPr/>
          <p:nvPr/>
        </p:nvSpPr>
        <p:spPr>
          <a:xfrm>
            <a:off x="457200" y="1371600"/>
            <a:ext cx="731520" cy="1188720"/>
          </a:xfrm>
          <a:prstGeom prst="rect">
            <a:avLst/>
          </a:prstGeom>
          <a:solidFill>
            <a:srgbClr val="D4A843"/>
          </a:solidFill>
          <a:ln/>
        </p:spPr>
      </p:sp>
      <p:sp>
        <p:nvSpPr>
          <p:cNvPr id="8" name="Text 6"/>
          <p:cNvSpPr/>
          <p:nvPr/>
        </p:nvSpPr>
        <p:spPr>
          <a:xfrm>
            <a:off x="457200" y="1645920"/>
            <a:ext cx="73152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200" b="1" dirty="0">
                <a:solidFill>
                  <a:srgbClr val="1A274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01</a:t>
            </a:r>
            <a:endParaRPr lang="en-US" sz="2200" dirty="0"/>
          </a:p>
        </p:txBody>
      </p:sp>
      <p:sp>
        <p:nvSpPr>
          <p:cNvPr id="9" name="Text 7"/>
          <p:cNvSpPr/>
          <p:nvPr/>
        </p:nvSpPr>
        <p:spPr>
          <a:xfrm>
            <a:off x="1371600" y="1463040"/>
            <a:ext cx="45720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000" b="1" dirty="0">
                <a:solidFill>
                  <a:srgbClr val="D4A843"/>
                </a:solidFill>
                <a:latin typeface="メイリオ" pitchFamily="34" charset="0"/>
                <a:ea typeface="メイリオ" pitchFamily="34" charset="-122"/>
                <a:cs typeface="メイリオ" pitchFamily="34" charset="-120"/>
              </a:rPr>
              <a:t>毎月収益が狙える</a:t>
            </a:r>
            <a:endParaRPr lang="en-US" sz="2000" dirty="0"/>
          </a:p>
        </p:txBody>
      </p:sp>
      <p:sp>
        <p:nvSpPr>
          <p:cNvPr id="10" name="Text 8"/>
          <p:cNvSpPr/>
          <p:nvPr/>
        </p:nvSpPr>
        <p:spPr>
          <a:xfrm>
            <a:off x="1371600" y="1965960"/>
            <a:ext cx="1005840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CCDDEE"/>
                </a:solidFill>
                <a:latin typeface="メイリオ" pitchFamily="34" charset="0"/>
                <a:ea typeface="メイリオ" pitchFamily="34" charset="-122"/>
                <a:cs typeface="メイリオ" pitchFamily="34" charset="-120"/>
              </a:rPr>
              <a:t>オプションの時間的価値を"売る"ことで、株が動かなくても毎月プレミアムを受取れる</a:t>
            </a:r>
            <a:endParaRPr lang="en-US" sz="1400" dirty="0"/>
          </a:p>
        </p:txBody>
      </p:sp>
      <p:sp>
        <p:nvSpPr>
          <p:cNvPr id="11" name="Shape 9"/>
          <p:cNvSpPr/>
          <p:nvPr/>
        </p:nvSpPr>
        <p:spPr>
          <a:xfrm>
            <a:off x="457200" y="2743200"/>
            <a:ext cx="11247120" cy="1188720"/>
          </a:xfrm>
          <a:prstGeom prst="rect">
            <a:avLst/>
          </a:prstGeom>
          <a:solidFill>
            <a:srgbClr val="243060"/>
          </a:solidFill>
          <a:ln w="12700">
            <a:solidFill>
              <a:srgbClr val="D4A843"/>
            </a:solidFill>
            <a:prstDash val="solid"/>
          </a:ln>
        </p:spPr>
      </p:sp>
      <p:sp>
        <p:nvSpPr>
          <p:cNvPr id="12" name="Shape 10"/>
          <p:cNvSpPr/>
          <p:nvPr/>
        </p:nvSpPr>
        <p:spPr>
          <a:xfrm>
            <a:off x="457200" y="2743200"/>
            <a:ext cx="731520" cy="1188720"/>
          </a:xfrm>
          <a:prstGeom prst="rect">
            <a:avLst/>
          </a:prstGeom>
          <a:solidFill>
            <a:srgbClr val="D4A843"/>
          </a:solidFill>
          <a:ln/>
        </p:spPr>
      </p:sp>
      <p:sp>
        <p:nvSpPr>
          <p:cNvPr id="13" name="Text 11"/>
          <p:cNvSpPr/>
          <p:nvPr/>
        </p:nvSpPr>
        <p:spPr>
          <a:xfrm>
            <a:off x="457200" y="3017520"/>
            <a:ext cx="73152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200" b="1" dirty="0">
                <a:solidFill>
                  <a:srgbClr val="1A274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02</a:t>
            </a:r>
            <a:endParaRPr lang="en-US" sz="2200" dirty="0"/>
          </a:p>
        </p:txBody>
      </p:sp>
      <p:sp>
        <p:nvSpPr>
          <p:cNvPr id="14" name="Text 12"/>
          <p:cNvSpPr/>
          <p:nvPr/>
        </p:nvSpPr>
        <p:spPr>
          <a:xfrm>
            <a:off x="1371600" y="2834640"/>
            <a:ext cx="45720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000" b="1" dirty="0">
                <a:solidFill>
                  <a:srgbClr val="D4A843"/>
                </a:solidFill>
                <a:latin typeface="メイリオ" pitchFamily="34" charset="0"/>
                <a:ea typeface="メイリオ" pitchFamily="34" charset="-122"/>
                <a:cs typeface="メイリオ" pitchFamily="34" charset="-120"/>
              </a:rPr>
              <a:t>長期投資と並行可能</a:t>
            </a:r>
            <a:endParaRPr lang="en-US" sz="2000" dirty="0"/>
          </a:p>
        </p:txBody>
      </p:sp>
      <p:sp>
        <p:nvSpPr>
          <p:cNvPr id="15" name="Text 13"/>
          <p:cNvSpPr/>
          <p:nvPr/>
        </p:nvSpPr>
        <p:spPr>
          <a:xfrm>
            <a:off x="1371600" y="3337560"/>
            <a:ext cx="1005840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CCDDEE"/>
                </a:solidFill>
                <a:latin typeface="メイリオ" pitchFamily="34" charset="0"/>
                <a:ea typeface="メイリオ" pitchFamily="34" charset="-122"/>
                <a:cs typeface="メイリオ" pitchFamily="34" charset="-120"/>
              </a:rPr>
              <a:t>保有株を使ったオプション戦略（カバードコール等）は既存の資産と組み合わせて活用できる</a:t>
            </a:r>
            <a:endParaRPr lang="en-US" sz="1400" dirty="0"/>
          </a:p>
        </p:txBody>
      </p:sp>
      <p:sp>
        <p:nvSpPr>
          <p:cNvPr id="16" name="Shape 14"/>
          <p:cNvSpPr/>
          <p:nvPr/>
        </p:nvSpPr>
        <p:spPr>
          <a:xfrm>
            <a:off x="457200" y="4114800"/>
            <a:ext cx="11247120" cy="1188720"/>
          </a:xfrm>
          <a:prstGeom prst="rect">
            <a:avLst/>
          </a:prstGeom>
          <a:solidFill>
            <a:srgbClr val="243060"/>
          </a:solidFill>
          <a:ln w="12700">
            <a:solidFill>
              <a:srgbClr val="D4A843"/>
            </a:solidFill>
            <a:prstDash val="solid"/>
          </a:ln>
        </p:spPr>
      </p:sp>
      <p:sp>
        <p:nvSpPr>
          <p:cNvPr id="17" name="Shape 15"/>
          <p:cNvSpPr/>
          <p:nvPr/>
        </p:nvSpPr>
        <p:spPr>
          <a:xfrm>
            <a:off x="457200" y="4114800"/>
            <a:ext cx="731520" cy="1188720"/>
          </a:xfrm>
          <a:prstGeom prst="rect">
            <a:avLst/>
          </a:prstGeom>
          <a:solidFill>
            <a:srgbClr val="D4A843"/>
          </a:solidFill>
          <a:ln/>
        </p:spPr>
      </p:sp>
      <p:sp>
        <p:nvSpPr>
          <p:cNvPr id="18" name="Text 16"/>
          <p:cNvSpPr/>
          <p:nvPr/>
        </p:nvSpPr>
        <p:spPr>
          <a:xfrm>
            <a:off x="457200" y="4389120"/>
            <a:ext cx="73152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200" b="1" dirty="0">
                <a:solidFill>
                  <a:srgbClr val="1A274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03</a:t>
            </a:r>
            <a:endParaRPr lang="en-US" sz="2200" dirty="0"/>
          </a:p>
        </p:txBody>
      </p:sp>
      <p:sp>
        <p:nvSpPr>
          <p:cNvPr id="19" name="Text 17"/>
          <p:cNvSpPr/>
          <p:nvPr/>
        </p:nvSpPr>
        <p:spPr>
          <a:xfrm>
            <a:off x="1371600" y="4206240"/>
            <a:ext cx="45720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000" b="1" dirty="0">
                <a:solidFill>
                  <a:srgbClr val="D4A843"/>
                </a:solidFill>
                <a:latin typeface="メイリオ" pitchFamily="34" charset="0"/>
                <a:ea typeface="メイリオ" pitchFamily="34" charset="-122"/>
                <a:cs typeface="メイリオ" pitchFamily="34" charset="-120"/>
              </a:rPr>
              <a:t>月数万〜15万円の実績</a:t>
            </a:r>
            <a:endParaRPr lang="en-US" sz="2000" dirty="0"/>
          </a:p>
        </p:txBody>
      </p:sp>
      <p:sp>
        <p:nvSpPr>
          <p:cNvPr id="20" name="Text 18"/>
          <p:cNvSpPr/>
          <p:nvPr/>
        </p:nvSpPr>
        <p:spPr>
          <a:xfrm>
            <a:off x="1371600" y="4709160"/>
            <a:ext cx="1005840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CCDDEE"/>
                </a:solidFill>
                <a:latin typeface="メイリオ" pitchFamily="34" charset="0"/>
                <a:ea typeface="メイリオ" pitchFamily="34" charset="-122"/>
                <a:cs typeface="メイリオ" pitchFamily="34" charset="-120"/>
              </a:rPr>
              <a:t>元本100〜300万円から始めて月5〜15万円の収益を上げているメンバーが多数在籍</a:t>
            </a:r>
            <a:endParaRPr lang="en-US" sz="1400" dirty="0"/>
          </a:p>
        </p:txBody>
      </p:sp>
      <p:sp>
        <p:nvSpPr>
          <p:cNvPr id="21" name="Text 19"/>
          <p:cNvSpPr/>
          <p:nvPr/>
        </p:nvSpPr>
        <p:spPr>
          <a:xfrm>
            <a:off x="274320" y="6309360"/>
            <a:ext cx="1161288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666666"/>
                </a:solidFill>
                <a:latin typeface="メイリオ" pitchFamily="34" charset="0"/>
                <a:ea typeface="メイリオ" pitchFamily="34" charset="-122"/>
                <a:cs typeface="メイリオ" pitchFamily="34" charset="-120"/>
              </a:rPr>
              <a:t>高速資産形成セミナー集客講義</a:t>
            </a:r>
            <a:endParaRPr lang="en-US" sz="900" dirty="0"/>
          </a:p>
        </p:txBody>
      </p:sp>
    </p:spTree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7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rgbClr val="1A2744"/>
          </a:solidFill>
          <a:ln/>
        </p:spPr>
      </p:sp>
      <p:sp>
        <p:nvSpPr>
          <p:cNvPr id="3" name="Shape 1"/>
          <p:cNvSpPr/>
          <p:nvPr/>
        </p:nvSpPr>
        <p:spPr>
          <a:xfrm>
            <a:off x="0" y="5303520"/>
            <a:ext cx="12192000" cy="54864"/>
          </a:xfrm>
          <a:prstGeom prst="rect">
            <a:avLst/>
          </a:prstGeom>
          <a:solidFill>
            <a:srgbClr val="D4A843"/>
          </a:solidFill>
          <a:ln/>
        </p:spPr>
      </p:sp>
      <p:sp>
        <p:nvSpPr>
          <p:cNvPr id="4" name="Shape 2"/>
          <p:cNvSpPr/>
          <p:nvPr/>
        </p:nvSpPr>
        <p:spPr>
          <a:xfrm>
            <a:off x="0" y="5358384"/>
            <a:ext cx="12192000" cy="36576"/>
          </a:xfrm>
          <a:prstGeom prst="rect">
            <a:avLst/>
          </a:prstGeom>
          <a:solidFill>
            <a:srgbClr val="E8602C"/>
          </a:solidFill>
          <a:ln/>
        </p:spPr>
      </p:sp>
      <p:sp>
        <p:nvSpPr>
          <p:cNvPr id="5" name="Text 3"/>
          <p:cNvSpPr/>
          <p:nvPr/>
        </p:nvSpPr>
        <p:spPr>
          <a:xfrm>
            <a:off x="457200" y="182880"/>
            <a:ext cx="1124712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000" dirty="0">
                <a:solidFill>
                  <a:srgbClr val="AABBCC"/>
                </a:solidFill>
                <a:latin typeface="メイリオ" pitchFamily="34" charset="0"/>
                <a:ea typeface="メイリオ" pitchFamily="34" charset="-122"/>
                <a:cs typeface="メイリオ" pitchFamily="34" charset="-120"/>
              </a:rPr>
              <a:t>次のステップ</a:t>
            </a:r>
            <a:endParaRPr lang="en-US" sz="2000" dirty="0"/>
          </a:p>
        </p:txBody>
      </p:sp>
      <p:sp>
        <p:nvSpPr>
          <p:cNvPr id="6" name="Shape 4"/>
          <p:cNvSpPr/>
          <p:nvPr/>
        </p:nvSpPr>
        <p:spPr>
          <a:xfrm>
            <a:off x="1371600" y="777240"/>
            <a:ext cx="9418320" cy="1097280"/>
          </a:xfrm>
          <a:prstGeom prst="rect">
            <a:avLst/>
          </a:prstGeom>
          <a:solidFill>
            <a:srgbClr val="D4A843"/>
          </a:solidFill>
          <a:ln/>
        </p:spPr>
      </p:sp>
      <p:sp>
        <p:nvSpPr>
          <p:cNvPr id="7" name="Text 5"/>
          <p:cNvSpPr/>
          <p:nvPr/>
        </p:nvSpPr>
        <p:spPr>
          <a:xfrm>
            <a:off x="1371600" y="777240"/>
            <a:ext cx="9418320" cy="10972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3800" b="1" dirty="0">
                <a:solidFill>
                  <a:srgbClr val="1A2744"/>
                </a:solidFill>
                <a:latin typeface="メイリオ" pitchFamily="34" charset="0"/>
                <a:ea typeface="メイリオ" pitchFamily="34" charset="-122"/>
                <a:cs typeface="メイリオ" pitchFamily="34" charset="-120"/>
              </a:rPr>
              <a:t>高速資産形成セミナー</a:t>
            </a:r>
            <a:endParaRPr lang="en-US" sz="3800" dirty="0"/>
          </a:p>
        </p:txBody>
      </p:sp>
      <p:sp>
        <p:nvSpPr>
          <p:cNvPr id="8" name="Text 6"/>
          <p:cNvSpPr/>
          <p:nvPr/>
        </p:nvSpPr>
        <p:spPr>
          <a:xfrm>
            <a:off x="457200" y="1965960"/>
            <a:ext cx="1124712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000" dirty="0">
                <a:solidFill>
                  <a:srgbClr val="FFFFFF"/>
                </a:solidFill>
                <a:latin typeface="メイリオ" pitchFamily="34" charset="0"/>
                <a:ea typeface="メイリオ" pitchFamily="34" charset="-122"/>
                <a:cs typeface="メイリオ" pitchFamily="34" charset="-120"/>
              </a:rPr>
              <a:t>米国株オプション取引の詳細を無料でお伝えします</a:t>
            </a:r>
            <a:endParaRPr lang="en-US" sz="2000" dirty="0"/>
          </a:p>
        </p:txBody>
      </p:sp>
      <p:sp>
        <p:nvSpPr>
          <p:cNvPr id="9" name="Text 7"/>
          <p:cNvSpPr/>
          <p:nvPr/>
        </p:nvSpPr>
        <p:spPr>
          <a:xfrm>
            <a:off x="1371600" y="2697480"/>
            <a:ext cx="9418320" cy="43891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00" dirty="0">
                <a:solidFill>
                  <a:srgbClr val="FFFFFF"/>
                </a:solidFill>
                <a:latin typeface="メイリオ" pitchFamily="34" charset="0"/>
                <a:ea typeface="メイリオ" pitchFamily="34" charset="-122"/>
                <a:cs typeface="メイリオ" pitchFamily="34" charset="-120"/>
              </a:rPr>
              <a:t>✅  軍資金を作りながら「同時に増やす仕組み」の全体像</a:t>
            </a:r>
            <a:endParaRPr lang="en-US" sz="1600" dirty="0"/>
          </a:p>
        </p:txBody>
      </p:sp>
      <p:sp>
        <p:nvSpPr>
          <p:cNvPr id="10" name="Text 8"/>
          <p:cNvSpPr/>
          <p:nvPr/>
        </p:nvSpPr>
        <p:spPr>
          <a:xfrm>
            <a:off x="1371600" y="3172968"/>
            <a:ext cx="9418320" cy="43891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00" dirty="0">
                <a:solidFill>
                  <a:srgbClr val="FFFFFF"/>
                </a:solidFill>
                <a:latin typeface="メイリオ" pitchFamily="34" charset="0"/>
                <a:ea typeface="メイリオ" pitchFamily="34" charset="-122"/>
                <a:cs typeface="メイリオ" pitchFamily="34" charset="-120"/>
              </a:rPr>
              <a:t>✅  月5〜15万円を実現しているメンバーの実例紹介</a:t>
            </a:r>
            <a:endParaRPr lang="en-US" sz="1600" dirty="0"/>
          </a:p>
        </p:txBody>
      </p:sp>
      <p:sp>
        <p:nvSpPr>
          <p:cNvPr id="11" name="Text 9"/>
          <p:cNvSpPr/>
          <p:nvPr/>
        </p:nvSpPr>
        <p:spPr>
          <a:xfrm>
            <a:off x="1371600" y="3648456"/>
            <a:ext cx="9418320" cy="43891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00" dirty="0">
                <a:solidFill>
                  <a:srgbClr val="FFFFFF"/>
                </a:solidFill>
                <a:latin typeface="メイリオ" pitchFamily="34" charset="0"/>
                <a:ea typeface="メイリオ" pitchFamily="34" charset="-122"/>
                <a:cs typeface="メイリオ" pitchFamily="34" charset="-120"/>
              </a:rPr>
              <a:t>✅  オプション取引の基礎〜実践戦略まで丁寧に解説</a:t>
            </a:r>
            <a:endParaRPr lang="en-US" sz="1600" dirty="0"/>
          </a:p>
        </p:txBody>
      </p:sp>
      <p:sp>
        <p:nvSpPr>
          <p:cNvPr id="12" name="Text 10"/>
          <p:cNvSpPr/>
          <p:nvPr/>
        </p:nvSpPr>
        <p:spPr>
          <a:xfrm>
            <a:off x="1371600" y="4123944"/>
            <a:ext cx="9418320" cy="43891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00" dirty="0">
                <a:solidFill>
                  <a:srgbClr val="FFFFFF"/>
                </a:solidFill>
                <a:latin typeface="メイリオ" pitchFamily="34" charset="0"/>
                <a:ea typeface="メイリオ" pitchFamily="34" charset="-122"/>
                <a:cs typeface="メイリオ" pitchFamily="34" charset="-120"/>
              </a:rPr>
              <a:t>✅  個別相談・質疑応答あり（先着順）</a:t>
            </a:r>
            <a:endParaRPr lang="en-US" sz="1600" dirty="0"/>
          </a:p>
        </p:txBody>
      </p:sp>
      <p:sp>
        <p:nvSpPr>
          <p:cNvPr id="13" name="Shape 11"/>
          <p:cNvSpPr/>
          <p:nvPr/>
        </p:nvSpPr>
        <p:spPr>
          <a:xfrm>
            <a:off x="2286000" y="4617720"/>
            <a:ext cx="7589520" cy="685800"/>
          </a:xfrm>
          <a:prstGeom prst="rect">
            <a:avLst/>
          </a:prstGeom>
          <a:solidFill>
            <a:srgbClr val="E8602C"/>
          </a:solidFill>
          <a:ln/>
        </p:spPr>
      </p:sp>
      <p:sp>
        <p:nvSpPr>
          <p:cNvPr id="14" name="Text 12"/>
          <p:cNvSpPr/>
          <p:nvPr/>
        </p:nvSpPr>
        <p:spPr>
          <a:xfrm>
            <a:off x="2286000" y="4617720"/>
            <a:ext cx="7589520" cy="6858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000" b="1" dirty="0">
                <a:solidFill>
                  <a:srgbClr val="FFFFFF"/>
                </a:solidFill>
                <a:latin typeface="メイリオ" pitchFamily="34" charset="0"/>
                <a:ea typeface="メイリオ" pitchFamily="34" charset="-122"/>
                <a:cs typeface="メイリオ" pitchFamily="34" charset="-120"/>
              </a:rPr>
              <a:t>▶  まずは無料セミナーにご参加ください</a:t>
            </a:r>
            <a:endParaRPr lang="en-US" sz="2000" dirty="0"/>
          </a:p>
        </p:txBody>
      </p:sp>
    </p:spTree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8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rgbClr val="F4F6FA"/>
          </a:solidFill>
          <a:ln/>
        </p:spPr>
      </p:sp>
      <p:sp>
        <p:nvSpPr>
          <p:cNvPr id="3" name="Shape 1"/>
          <p:cNvSpPr/>
          <p:nvPr/>
        </p:nvSpPr>
        <p:spPr>
          <a:xfrm>
            <a:off x="365760" y="457200"/>
            <a:ext cx="73152" cy="640080"/>
          </a:xfrm>
          <a:prstGeom prst="rect">
            <a:avLst/>
          </a:prstGeom>
          <a:solidFill>
            <a:srgbClr val="D4A843"/>
          </a:solidFill>
          <a:ln/>
        </p:spPr>
      </p:sp>
      <p:sp>
        <p:nvSpPr>
          <p:cNvPr id="4" name="Text 2"/>
          <p:cNvSpPr/>
          <p:nvPr/>
        </p:nvSpPr>
        <p:spPr>
          <a:xfrm>
            <a:off x="594360" y="457200"/>
            <a:ext cx="1069848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1A2744"/>
                </a:solidFill>
                <a:latin typeface="メイリオ" pitchFamily="34" charset="0"/>
                <a:ea typeface="メイリオ" pitchFamily="34" charset="-122"/>
                <a:cs typeface="メイリオ" pitchFamily="34" charset="-120"/>
              </a:rPr>
              <a:t>まとめ：今日から始める3ステップ</a:t>
            </a:r>
            <a:endParaRPr lang="en-US" sz="2800" dirty="0"/>
          </a:p>
        </p:txBody>
      </p:sp>
      <p:sp>
        <p:nvSpPr>
          <p:cNvPr id="5" name="Shape 3"/>
          <p:cNvSpPr/>
          <p:nvPr/>
        </p:nvSpPr>
        <p:spPr>
          <a:xfrm>
            <a:off x="365760" y="1188720"/>
            <a:ext cx="3657600" cy="4572000"/>
          </a:xfrm>
          <a:prstGeom prst="rect">
            <a:avLst/>
          </a:prstGeom>
          <a:solidFill>
            <a:srgbClr val="FFFFFF"/>
          </a:solidFill>
          <a:ln w="12700">
            <a:solidFill>
              <a:srgbClr val="DDDDDD"/>
            </a:solidFill>
            <a:prstDash val="solid"/>
          </a:ln>
        </p:spPr>
      </p:sp>
      <p:sp>
        <p:nvSpPr>
          <p:cNvPr id="6" name="Shape 4"/>
          <p:cNvSpPr/>
          <p:nvPr/>
        </p:nvSpPr>
        <p:spPr>
          <a:xfrm>
            <a:off x="365760" y="1188720"/>
            <a:ext cx="3657600" cy="914400"/>
          </a:xfrm>
          <a:prstGeom prst="rect">
            <a:avLst/>
          </a:prstGeom>
          <a:solidFill>
            <a:srgbClr val="1565C0"/>
          </a:solidFill>
          <a:ln/>
        </p:spPr>
      </p:sp>
      <p:sp>
        <p:nvSpPr>
          <p:cNvPr id="7" name="Text 5"/>
          <p:cNvSpPr/>
          <p:nvPr/>
        </p:nvSpPr>
        <p:spPr>
          <a:xfrm>
            <a:off x="365760" y="1188720"/>
            <a:ext cx="365760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STEP 1</a:t>
            </a:r>
            <a:endParaRPr lang="en-US" sz="2000" dirty="0"/>
          </a:p>
        </p:txBody>
      </p:sp>
      <p:sp>
        <p:nvSpPr>
          <p:cNvPr id="8" name="Text 6"/>
          <p:cNvSpPr/>
          <p:nvPr/>
        </p:nvSpPr>
        <p:spPr>
          <a:xfrm>
            <a:off x="365760" y="1664208"/>
            <a:ext cx="365760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FFFFFF"/>
                </a:solidFill>
                <a:latin typeface="メイリオ" pitchFamily="34" charset="0"/>
                <a:ea typeface="メイリオ" pitchFamily="34" charset="-122"/>
                <a:cs typeface="メイリオ" pitchFamily="34" charset="-120"/>
              </a:rPr>
              <a:t>今すぐ（〜1ヶ月）</a:t>
            </a:r>
            <a:endParaRPr lang="en-US" sz="1100" dirty="0"/>
          </a:p>
        </p:txBody>
      </p:sp>
      <p:sp>
        <p:nvSpPr>
          <p:cNvPr id="9" name="Shape 7"/>
          <p:cNvSpPr/>
          <p:nvPr/>
        </p:nvSpPr>
        <p:spPr>
          <a:xfrm>
            <a:off x="548640" y="2286000"/>
            <a:ext cx="411480" cy="411480"/>
          </a:xfrm>
          <a:prstGeom prst="rect">
            <a:avLst/>
          </a:prstGeom>
          <a:solidFill>
            <a:srgbClr val="1565C0"/>
          </a:solidFill>
          <a:ln/>
        </p:spPr>
      </p:sp>
      <p:sp>
        <p:nvSpPr>
          <p:cNvPr id="10" name="Text 8"/>
          <p:cNvSpPr/>
          <p:nvPr/>
        </p:nvSpPr>
        <p:spPr>
          <a:xfrm>
            <a:off x="548640" y="2286000"/>
            <a:ext cx="41148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✓</a:t>
            </a:r>
            <a:endParaRPr lang="en-US" sz="1400" dirty="0"/>
          </a:p>
        </p:txBody>
      </p:sp>
      <p:sp>
        <p:nvSpPr>
          <p:cNvPr id="11" name="Text 9"/>
          <p:cNvSpPr/>
          <p:nvPr/>
        </p:nvSpPr>
        <p:spPr>
          <a:xfrm>
            <a:off x="1051560" y="2286000"/>
            <a:ext cx="283464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333333"/>
                </a:solidFill>
                <a:latin typeface="メイリオ" pitchFamily="34" charset="0"/>
                <a:ea typeface="メイリオ" pitchFamily="34" charset="-122"/>
                <a:cs typeface="メイリオ" pitchFamily="34" charset="-120"/>
              </a:rPr>
              <a:t>先取り貯蓄の自動化</a:t>
            </a:r>
            <a:endParaRPr lang="en-US" sz="1300" dirty="0"/>
          </a:p>
        </p:txBody>
      </p:sp>
      <p:sp>
        <p:nvSpPr>
          <p:cNvPr id="12" name="Shape 10"/>
          <p:cNvSpPr/>
          <p:nvPr/>
        </p:nvSpPr>
        <p:spPr>
          <a:xfrm>
            <a:off x="548640" y="3063240"/>
            <a:ext cx="411480" cy="411480"/>
          </a:xfrm>
          <a:prstGeom prst="rect">
            <a:avLst/>
          </a:prstGeom>
          <a:solidFill>
            <a:srgbClr val="1565C0"/>
          </a:solidFill>
          <a:ln/>
        </p:spPr>
      </p:sp>
      <p:sp>
        <p:nvSpPr>
          <p:cNvPr id="13" name="Text 11"/>
          <p:cNvSpPr/>
          <p:nvPr/>
        </p:nvSpPr>
        <p:spPr>
          <a:xfrm>
            <a:off x="548640" y="3063240"/>
            <a:ext cx="41148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✓</a:t>
            </a:r>
            <a:endParaRPr lang="en-US" sz="1400" dirty="0"/>
          </a:p>
        </p:txBody>
      </p:sp>
      <p:sp>
        <p:nvSpPr>
          <p:cNvPr id="14" name="Text 12"/>
          <p:cNvSpPr/>
          <p:nvPr/>
        </p:nvSpPr>
        <p:spPr>
          <a:xfrm>
            <a:off x="1051560" y="3063240"/>
            <a:ext cx="283464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333333"/>
                </a:solidFill>
                <a:latin typeface="メイリオ" pitchFamily="34" charset="0"/>
                <a:ea typeface="メイリオ" pitchFamily="34" charset="-122"/>
                <a:cs typeface="メイリオ" pitchFamily="34" charset="-120"/>
              </a:rPr>
              <a:t>固定費の見直し（スマホ・保険）</a:t>
            </a:r>
            <a:endParaRPr lang="en-US" sz="1300" dirty="0"/>
          </a:p>
        </p:txBody>
      </p:sp>
      <p:sp>
        <p:nvSpPr>
          <p:cNvPr id="15" name="Shape 13"/>
          <p:cNvSpPr/>
          <p:nvPr/>
        </p:nvSpPr>
        <p:spPr>
          <a:xfrm>
            <a:off x="548640" y="3840480"/>
            <a:ext cx="411480" cy="411480"/>
          </a:xfrm>
          <a:prstGeom prst="rect">
            <a:avLst/>
          </a:prstGeom>
          <a:solidFill>
            <a:srgbClr val="1565C0"/>
          </a:solidFill>
          <a:ln/>
        </p:spPr>
      </p:sp>
      <p:sp>
        <p:nvSpPr>
          <p:cNvPr id="16" name="Text 14"/>
          <p:cNvSpPr/>
          <p:nvPr/>
        </p:nvSpPr>
        <p:spPr>
          <a:xfrm>
            <a:off x="548640" y="3840480"/>
            <a:ext cx="41148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✓</a:t>
            </a:r>
            <a:endParaRPr lang="en-US" sz="1400" dirty="0"/>
          </a:p>
        </p:txBody>
      </p:sp>
      <p:sp>
        <p:nvSpPr>
          <p:cNvPr id="17" name="Text 15"/>
          <p:cNvSpPr/>
          <p:nvPr/>
        </p:nvSpPr>
        <p:spPr>
          <a:xfrm>
            <a:off x="1051560" y="3840480"/>
            <a:ext cx="283464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333333"/>
                </a:solidFill>
                <a:latin typeface="メイリオ" pitchFamily="34" charset="0"/>
                <a:ea typeface="メイリオ" pitchFamily="34" charset="-122"/>
                <a:cs typeface="メイリオ" pitchFamily="34" charset="-120"/>
              </a:rPr>
              <a:t>キャッシュレス1本化</a:t>
            </a:r>
            <a:endParaRPr lang="en-US" sz="1300" dirty="0"/>
          </a:p>
        </p:txBody>
      </p:sp>
      <p:sp>
        <p:nvSpPr>
          <p:cNvPr id="18" name="Shape 16"/>
          <p:cNvSpPr/>
          <p:nvPr/>
        </p:nvSpPr>
        <p:spPr>
          <a:xfrm>
            <a:off x="4297680" y="1188720"/>
            <a:ext cx="3657600" cy="4572000"/>
          </a:xfrm>
          <a:prstGeom prst="rect">
            <a:avLst/>
          </a:prstGeom>
          <a:solidFill>
            <a:srgbClr val="FFFFFF"/>
          </a:solidFill>
          <a:ln w="12700">
            <a:solidFill>
              <a:srgbClr val="DDDDDD"/>
            </a:solidFill>
            <a:prstDash val="solid"/>
          </a:ln>
        </p:spPr>
      </p:sp>
      <p:sp>
        <p:nvSpPr>
          <p:cNvPr id="19" name="Shape 17"/>
          <p:cNvSpPr/>
          <p:nvPr/>
        </p:nvSpPr>
        <p:spPr>
          <a:xfrm>
            <a:off x="4297680" y="1188720"/>
            <a:ext cx="3657600" cy="914400"/>
          </a:xfrm>
          <a:prstGeom prst="rect">
            <a:avLst/>
          </a:prstGeom>
          <a:solidFill>
            <a:srgbClr val="2E7D32"/>
          </a:solidFill>
          <a:ln/>
        </p:spPr>
      </p:sp>
      <p:sp>
        <p:nvSpPr>
          <p:cNvPr id="20" name="Text 18"/>
          <p:cNvSpPr/>
          <p:nvPr/>
        </p:nvSpPr>
        <p:spPr>
          <a:xfrm>
            <a:off x="4297680" y="1188720"/>
            <a:ext cx="365760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STEP 2</a:t>
            </a:r>
            <a:endParaRPr lang="en-US" sz="2000" dirty="0"/>
          </a:p>
        </p:txBody>
      </p:sp>
      <p:sp>
        <p:nvSpPr>
          <p:cNvPr id="21" name="Text 19"/>
          <p:cNvSpPr/>
          <p:nvPr/>
        </p:nvSpPr>
        <p:spPr>
          <a:xfrm>
            <a:off x="4297680" y="1664208"/>
            <a:ext cx="365760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FFFFFF"/>
                </a:solidFill>
                <a:latin typeface="メイリオ" pitchFamily="34" charset="0"/>
                <a:ea typeface="メイリオ" pitchFamily="34" charset="-122"/>
                <a:cs typeface="メイリオ" pitchFamily="34" charset="-120"/>
              </a:rPr>
              <a:t>仕組みを整える（1〜3ヶ月）</a:t>
            </a:r>
            <a:endParaRPr lang="en-US" sz="1100" dirty="0"/>
          </a:p>
        </p:txBody>
      </p:sp>
      <p:sp>
        <p:nvSpPr>
          <p:cNvPr id="22" name="Shape 20"/>
          <p:cNvSpPr/>
          <p:nvPr/>
        </p:nvSpPr>
        <p:spPr>
          <a:xfrm>
            <a:off x="4480560" y="2286000"/>
            <a:ext cx="411480" cy="411480"/>
          </a:xfrm>
          <a:prstGeom prst="rect">
            <a:avLst/>
          </a:prstGeom>
          <a:solidFill>
            <a:srgbClr val="2E7D32"/>
          </a:solidFill>
          <a:ln/>
        </p:spPr>
      </p:sp>
      <p:sp>
        <p:nvSpPr>
          <p:cNvPr id="23" name="Text 21"/>
          <p:cNvSpPr/>
          <p:nvPr/>
        </p:nvSpPr>
        <p:spPr>
          <a:xfrm>
            <a:off x="4480560" y="2286000"/>
            <a:ext cx="41148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✓</a:t>
            </a:r>
            <a:endParaRPr lang="en-US" sz="1400" dirty="0"/>
          </a:p>
        </p:txBody>
      </p:sp>
      <p:sp>
        <p:nvSpPr>
          <p:cNvPr id="24" name="Text 22"/>
          <p:cNvSpPr/>
          <p:nvPr/>
        </p:nvSpPr>
        <p:spPr>
          <a:xfrm>
            <a:off x="4983480" y="2286000"/>
            <a:ext cx="283464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333333"/>
                </a:solidFill>
                <a:latin typeface="メイリオ" pitchFamily="34" charset="0"/>
                <a:ea typeface="メイリオ" pitchFamily="34" charset="-122"/>
                <a:cs typeface="メイリオ" pitchFamily="34" charset="-120"/>
              </a:rPr>
              <a:t>ふるさと納税 / iDeCo 申込</a:t>
            </a:r>
            <a:endParaRPr lang="en-US" sz="1300" dirty="0"/>
          </a:p>
        </p:txBody>
      </p:sp>
      <p:sp>
        <p:nvSpPr>
          <p:cNvPr id="25" name="Shape 23"/>
          <p:cNvSpPr/>
          <p:nvPr/>
        </p:nvSpPr>
        <p:spPr>
          <a:xfrm>
            <a:off x="4480560" y="3063240"/>
            <a:ext cx="411480" cy="411480"/>
          </a:xfrm>
          <a:prstGeom prst="rect">
            <a:avLst/>
          </a:prstGeom>
          <a:solidFill>
            <a:srgbClr val="2E7D32"/>
          </a:solidFill>
          <a:ln/>
        </p:spPr>
      </p:sp>
      <p:sp>
        <p:nvSpPr>
          <p:cNvPr id="26" name="Text 24"/>
          <p:cNvSpPr/>
          <p:nvPr/>
        </p:nvSpPr>
        <p:spPr>
          <a:xfrm>
            <a:off x="4480560" y="3063240"/>
            <a:ext cx="41148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✓</a:t>
            </a:r>
            <a:endParaRPr lang="en-US" sz="1400" dirty="0"/>
          </a:p>
        </p:txBody>
      </p:sp>
      <p:sp>
        <p:nvSpPr>
          <p:cNvPr id="27" name="Text 25"/>
          <p:cNvSpPr/>
          <p:nvPr/>
        </p:nvSpPr>
        <p:spPr>
          <a:xfrm>
            <a:off x="4983480" y="3063240"/>
            <a:ext cx="283464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333333"/>
                </a:solidFill>
                <a:latin typeface="メイリオ" pitchFamily="34" charset="0"/>
                <a:ea typeface="メイリオ" pitchFamily="34" charset="-122"/>
                <a:cs typeface="メイリオ" pitchFamily="34" charset="-120"/>
              </a:rPr>
              <a:t>ポイントサイト登録・自己アフィ活用</a:t>
            </a:r>
            <a:endParaRPr lang="en-US" sz="1300" dirty="0"/>
          </a:p>
        </p:txBody>
      </p:sp>
      <p:sp>
        <p:nvSpPr>
          <p:cNvPr id="28" name="Shape 26"/>
          <p:cNvSpPr/>
          <p:nvPr/>
        </p:nvSpPr>
        <p:spPr>
          <a:xfrm>
            <a:off x="4480560" y="3840480"/>
            <a:ext cx="411480" cy="411480"/>
          </a:xfrm>
          <a:prstGeom prst="rect">
            <a:avLst/>
          </a:prstGeom>
          <a:solidFill>
            <a:srgbClr val="2E7D32"/>
          </a:solidFill>
          <a:ln/>
        </p:spPr>
      </p:sp>
      <p:sp>
        <p:nvSpPr>
          <p:cNvPr id="29" name="Text 27"/>
          <p:cNvSpPr/>
          <p:nvPr/>
        </p:nvSpPr>
        <p:spPr>
          <a:xfrm>
            <a:off x="4480560" y="3840480"/>
            <a:ext cx="41148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✓</a:t>
            </a:r>
            <a:endParaRPr lang="en-US" sz="1400" dirty="0"/>
          </a:p>
        </p:txBody>
      </p:sp>
      <p:sp>
        <p:nvSpPr>
          <p:cNvPr id="30" name="Text 28"/>
          <p:cNvSpPr/>
          <p:nvPr/>
        </p:nvSpPr>
        <p:spPr>
          <a:xfrm>
            <a:off x="4983480" y="3840480"/>
            <a:ext cx="283464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333333"/>
                </a:solidFill>
                <a:latin typeface="メイリオ" pitchFamily="34" charset="0"/>
                <a:ea typeface="メイリオ" pitchFamily="34" charset="-122"/>
                <a:cs typeface="メイリオ" pitchFamily="34" charset="-120"/>
              </a:rPr>
              <a:t>断捨離・不用品売却</a:t>
            </a:r>
            <a:endParaRPr lang="en-US" sz="1300" dirty="0"/>
          </a:p>
        </p:txBody>
      </p:sp>
      <p:sp>
        <p:nvSpPr>
          <p:cNvPr id="31" name="Shape 29"/>
          <p:cNvSpPr/>
          <p:nvPr/>
        </p:nvSpPr>
        <p:spPr>
          <a:xfrm>
            <a:off x="8229600" y="1188720"/>
            <a:ext cx="3657600" cy="4572000"/>
          </a:xfrm>
          <a:prstGeom prst="rect">
            <a:avLst/>
          </a:prstGeom>
          <a:solidFill>
            <a:srgbClr val="FFFFFF"/>
          </a:solidFill>
          <a:ln w="12700">
            <a:solidFill>
              <a:srgbClr val="DDDDDD"/>
            </a:solidFill>
            <a:prstDash val="solid"/>
          </a:ln>
        </p:spPr>
      </p:sp>
      <p:sp>
        <p:nvSpPr>
          <p:cNvPr id="32" name="Shape 30"/>
          <p:cNvSpPr/>
          <p:nvPr/>
        </p:nvSpPr>
        <p:spPr>
          <a:xfrm>
            <a:off x="8229600" y="1188720"/>
            <a:ext cx="3657600" cy="914400"/>
          </a:xfrm>
          <a:prstGeom prst="rect">
            <a:avLst/>
          </a:prstGeom>
          <a:solidFill>
            <a:srgbClr val="E8602C"/>
          </a:solidFill>
          <a:ln/>
        </p:spPr>
      </p:sp>
      <p:sp>
        <p:nvSpPr>
          <p:cNvPr id="33" name="Text 31"/>
          <p:cNvSpPr/>
          <p:nvPr/>
        </p:nvSpPr>
        <p:spPr>
          <a:xfrm>
            <a:off x="8229600" y="1188720"/>
            <a:ext cx="365760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STEP 3</a:t>
            </a:r>
            <a:endParaRPr lang="en-US" sz="2000" dirty="0"/>
          </a:p>
        </p:txBody>
      </p:sp>
      <p:sp>
        <p:nvSpPr>
          <p:cNvPr id="34" name="Text 32"/>
          <p:cNvSpPr/>
          <p:nvPr/>
        </p:nvSpPr>
        <p:spPr>
          <a:xfrm>
            <a:off x="8229600" y="1664208"/>
            <a:ext cx="365760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FFFFFF"/>
                </a:solidFill>
                <a:latin typeface="メイリオ" pitchFamily="34" charset="0"/>
                <a:ea typeface="メイリオ" pitchFamily="34" charset="-122"/>
                <a:cs typeface="メイリオ" pitchFamily="34" charset="-120"/>
              </a:rPr>
              <a:t>収入を増やす（3ヶ月〜）</a:t>
            </a:r>
            <a:endParaRPr lang="en-US" sz="1100" dirty="0"/>
          </a:p>
        </p:txBody>
      </p:sp>
      <p:sp>
        <p:nvSpPr>
          <p:cNvPr id="35" name="Shape 33"/>
          <p:cNvSpPr/>
          <p:nvPr/>
        </p:nvSpPr>
        <p:spPr>
          <a:xfrm>
            <a:off x="8412480" y="2286000"/>
            <a:ext cx="411480" cy="411480"/>
          </a:xfrm>
          <a:prstGeom prst="rect">
            <a:avLst/>
          </a:prstGeom>
          <a:solidFill>
            <a:srgbClr val="E8602C"/>
          </a:solidFill>
          <a:ln/>
        </p:spPr>
      </p:sp>
      <p:sp>
        <p:nvSpPr>
          <p:cNvPr id="36" name="Text 34"/>
          <p:cNvSpPr/>
          <p:nvPr/>
        </p:nvSpPr>
        <p:spPr>
          <a:xfrm>
            <a:off x="8412480" y="2286000"/>
            <a:ext cx="41148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✓</a:t>
            </a:r>
            <a:endParaRPr lang="en-US" sz="1400" dirty="0"/>
          </a:p>
        </p:txBody>
      </p:sp>
      <p:sp>
        <p:nvSpPr>
          <p:cNvPr id="37" name="Text 35"/>
          <p:cNvSpPr/>
          <p:nvPr/>
        </p:nvSpPr>
        <p:spPr>
          <a:xfrm>
            <a:off x="8915400" y="2286000"/>
            <a:ext cx="283464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333333"/>
                </a:solidFill>
                <a:latin typeface="メイリオ" pitchFamily="34" charset="0"/>
                <a:ea typeface="メイリオ" pitchFamily="34" charset="-122"/>
                <a:cs typeface="メイリオ" pitchFamily="34" charset="-120"/>
              </a:rPr>
              <a:t>副業スタート（小さく始める）</a:t>
            </a:r>
            <a:endParaRPr lang="en-US" sz="1300" dirty="0"/>
          </a:p>
        </p:txBody>
      </p:sp>
      <p:sp>
        <p:nvSpPr>
          <p:cNvPr id="38" name="Shape 36"/>
          <p:cNvSpPr/>
          <p:nvPr/>
        </p:nvSpPr>
        <p:spPr>
          <a:xfrm>
            <a:off x="8412480" y="3063240"/>
            <a:ext cx="411480" cy="411480"/>
          </a:xfrm>
          <a:prstGeom prst="rect">
            <a:avLst/>
          </a:prstGeom>
          <a:solidFill>
            <a:srgbClr val="E8602C"/>
          </a:solidFill>
          <a:ln/>
        </p:spPr>
      </p:sp>
      <p:sp>
        <p:nvSpPr>
          <p:cNvPr id="39" name="Text 37"/>
          <p:cNvSpPr/>
          <p:nvPr/>
        </p:nvSpPr>
        <p:spPr>
          <a:xfrm>
            <a:off x="8412480" y="3063240"/>
            <a:ext cx="41148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✓</a:t>
            </a:r>
            <a:endParaRPr lang="en-US" sz="1400" dirty="0"/>
          </a:p>
        </p:txBody>
      </p:sp>
      <p:sp>
        <p:nvSpPr>
          <p:cNvPr id="40" name="Text 38"/>
          <p:cNvSpPr/>
          <p:nvPr/>
        </p:nvSpPr>
        <p:spPr>
          <a:xfrm>
            <a:off x="8915400" y="3063240"/>
            <a:ext cx="283464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333333"/>
                </a:solidFill>
                <a:latin typeface="メイリオ" pitchFamily="34" charset="0"/>
                <a:ea typeface="メイリオ" pitchFamily="34" charset="-122"/>
                <a:cs typeface="メイリオ" pitchFamily="34" charset="-120"/>
              </a:rPr>
              <a:t>軍資金の全額を投資口座に自動移動</a:t>
            </a:r>
            <a:endParaRPr lang="en-US" sz="1300" dirty="0"/>
          </a:p>
        </p:txBody>
      </p:sp>
      <p:sp>
        <p:nvSpPr>
          <p:cNvPr id="41" name="Shape 39"/>
          <p:cNvSpPr/>
          <p:nvPr/>
        </p:nvSpPr>
        <p:spPr>
          <a:xfrm>
            <a:off x="8412480" y="3840480"/>
            <a:ext cx="411480" cy="411480"/>
          </a:xfrm>
          <a:prstGeom prst="rect">
            <a:avLst/>
          </a:prstGeom>
          <a:solidFill>
            <a:srgbClr val="E8602C"/>
          </a:solidFill>
          <a:ln/>
        </p:spPr>
      </p:sp>
      <p:sp>
        <p:nvSpPr>
          <p:cNvPr id="42" name="Text 40"/>
          <p:cNvSpPr/>
          <p:nvPr/>
        </p:nvSpPr>
        <p:spPr>
          <a:xfrm>
            <a:off x="8412480" y="3840480"/>
            <a:ext cx="41148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✓</a:t>
            </a:r>
            <a:endParaRPr lang="en-US" sz="1400" dirty="0"/>
          </a:p>
        </p:txBody>
      </p:sp>
      <p:sp>
        <p:nvSpPr>
          <p:cNvPr id="43" name="Text 41"/>
          <p:cNvSpPr/>
          <p:nvPr/>
        </p:nvSpPr>
        <p:spPr>
          <a:xfrm>
            <a:off x="8915400" y="3840480"/>
            <a:ext cx="283464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333333"/>
                </a:solidFill>
                <a:latin typeface="メイリオ" pitchFamily="34" charset="0"/>
                <a:ea typeface="メイリオ" pitchFamily="34" charset="-122"/>
                <a:cs typeface="メイリオ" pitchFamily="34" charset="-120"/>
              </a:rPr>
              <a:t>高速資産形成セミナーで「増やす」へ</a:t>
            </a:r>
            <a:endParaRPr lang="en-US" sz="1300" dirty="0"/>
          </a:p>
        </p:txBody>
      </p:sp>
      <p:sp>
        <p:nvSpPr>
          <p:cNvPr id="44" name="Shape 42"/>
          <p:cNvSpPr/>
          <p:nvPr/>
        </p:nvSpPr>
        <p:spPr>
          <a:xfrm>
            <a:off x="365760" y="5623560"/>
            <a:ext cx="11430000" cy="502920"/>
          </a:xfrm>
          <a:prstGeom prst="rect">
            <a:avLst/>
          </a:prstGeom>
          <a:solidFill>
            <a:srgbClr val="1A2744"/>
          </a:solidFill>
          <a:ln/>
        </p:spPr>
      </p:sp>
      <p:sp>
        <p:nvSpPr>
          <p:cNvPr id="45" name="Text 43"/>
          <p:cNvSpPr/>
          <p:nvPr/>
        </p:nvSpPr>
        <p:spPr>
          <a:xfrm>
            <a:off x="365760" y="5623560"/>
            <a:ext cx="1143000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D4A843"/>
                </a:solidFill>
                <a:latin typeface="メイリオ" pitchFamily="34" charset="0"/>
                <a:ea typeface="メイリオ" pitchFamily="34" charset="-122"/>
                <a:cs typeface="メイリオ" pitchFamily="34" charset="-120"/>
              </a:rPr>
              <a:t>軍資金を作りながら、同時に増やす仕組みを手に入れる。それが「高速資産形成」です。</a:t>
            </a:r>
            <a:endParaRPr lang="en-US" sz="1400" dirty="0"/>
          </a:p>
        </p:txBody>
      </p:sp>
      <p:sp>
        <p:nvSpPr>
          <p:cNvPr id="46" name="Text 44"/>
          <p:cNvSpPr/>
          <p:nvPr/>
        </p:nvSpPr>
        <p:spPr>
          <a:xfrm>
            <a:off x="274320" y="6309360"/>
            <a:ext cx="1161288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666666"/>
                </a:solidFill>
                <a:latin typeface="メイリオ" pitchFamily="34" charset="0"/>
                <a:ea typeface="メイリオ" pitchFamily="34" charset="-122"/>
                <a:cs typeface="メイリオ" pitchFamily="34" charset="-120"/>
              </a:rPr>
              <a:t>高速資産形成セミナー集客講義</a:t>
            </a:r>
            <a:endParaRPr lang="en-US" sz="9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18</Slides>
  <Notes>18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18</vt:i4>
      </vt:variant>
    </vt:vector>
  </HeadingPairs>
  <TitlesOfParts>
    <vt:vector size="21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  <vt:lpstr>Slide 9</vt:lpstr>
      <vt:lpstr>Slide 10</vt:lpstr>
      <vt:lpstr>Slide 11</vt:lpstr>
      <vt:lpstr>Slide 12</vt:lpstr>
      <vt:lpstr>Slide 13</vt:lpstr>
      <vt:lpstr>Slide 14</vt:lpstr>
      <vt:lpstr>Slide 15</vt:lpstr>
      <vt:lpstr>Slide 16</vt:lpstr>
      <vt:lpstr>Slide 17</vt:lpstr>
      <vt:lpstr>Slide 18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PptxGenJS Presentation</dc:title>
  <dc:subject>PptxGenJS Presentation</dc:subject>
  <dc:creator>PptxGenJS</dc:creator>
  <cp:lastModifiedBy>PptxGenJS</cp:lastModifiedBy>
  <cp:revision>1</cp:revision>
  <dcterms:created xsi:type="dcterms:W3CDTF">2026-03-02T17:29:07Z</dcterms:created>
  <dcterms:modified xsi:type="dcterms:W3CDTF">2026-03-02T17:29:07Z</dcterms:modified>
</cp:coreProperties>
</file>