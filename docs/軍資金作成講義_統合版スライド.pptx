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0"/>
            <a:ext cx="12192000" cy="64008"/>
          </a:xfrm>
          <a:prstGeom prst="rect">
            <a:avLst/>
          </a:prstGeom>
          <a:solidFill>
            <a:srgbClr val="D4A843"/>
          </a:solidFill>
          <a:ln/>
        </p:spPr>
      </p:sp>
      <p:sp>
        <p:nvSpPr>
          <p:cNvPr id="4" name="Shape 2"/>
          <p:cNvSpPr/>
          <p:nvPr/>
        </p:nvSpPr>
        <p:spPr>
          <a:xfrm>
            <a:off x="0" y="5760720"/>
            <a:ext cx="12192000" cy="64008"/>
          </a:xfrm>
          <a:prstGeom prst="rect">
            <a:avLst/>
          </a:prstGeom>
          <a:solidFill>
            <a:srgbClr val="D4A843"/>
          </a:solidFill>
          <a:ln/>
        </p:spPr>
      </p:sp>
      <p:sp>
        <p:nvSpPr>
          <p:cNvPr id="5" name="Shape 3"/>
          <p:cNvSpPr/>
          <p:nvPr/>
        </p:nvSpPr>
        <p:spPr>
          <a:xfrm>
            <a:off x="0" y="5824728"/>
            <a:ext cx="12192000" cy="36576"/>
          </a:xfrm>
          <a:prstGeom prst="rect">
            <a:avLst/>
          </a:prstGeom>
          <a:solidFill>
            <a:srgbClr val="E8602C"/>
          </a:solidFill>
          <a:ln/>
        </p:spPr>
      </p:sp>
      <p:sp>
        <p:nvSpPr>
          <p:cNvPr id="6" name="Text 4"/>
          <p:cNvSpPr/>
          <p:nvPr/>
        </p:nvSpPr>
        <p:spPr>
          <a:xfrm>
            <a:off x="731520" y="822960"/>
            <a:ext cx="10698480" cy="914400"/>
          </a:xfrm>
          <a:prstGeom prst="rect">
            <a:avLst/>
          </a:prstGeom>
          <a:noFill/>
          <a:ln/>
        </p:spPr>
        <p:txBody>
          <a:bodyPr wrap="square" rtlCol="0" anchor="ctr"/>
          <a:lstStyle/>
          <a:p>
            <a:pPr algn="ctr" indent="0" marL="0">
              <a:buNone/>
            </a:pPr>
            <a:r>
              <a:rPr lang="en-US" sz="4600" b="1" dirty="0">
                <a:solidFill>
                  <a:srgbClr val="FFFFFF"/>
                </a:solidFill>
                <a:latin typeface="メイリオ" pitchFamily="34" charset="0"/>
                <a:ea typeface="メイリオ" pitchFamily="34" charset="-122"/>
                <a:cs typeface="メイリオ" pitchFamily="34" charset="-120"/>
              </a:rPr>
              <a:t>投資の軍資金を作る</a:t>
            </a:r>
            <a:endParaRPr lang="en-US" sz="4600" dirty="0"/>
          </a:p>
        </p:txBody>
      </p:sp>
      <p:sp>
        <p:nvSpPr>
          <p:cNvPr id="7" name="Text 5"/>
          <p:cNvSpPr/>
          <p:nvPr/>
        </p:nvSpPr>
        <p:spPr>
          <a:xfrm>
            <a:off x="731520" y="1719072"/>
            <a:ext cx="10698480" cy="1188720"/>
          </a:xfrm>
          <a:prstGeom prst="rect">
            <a:avLst/>
          </a:prstGeom>
          <a:noFill/>
          <a:ln/>
        </p:spPr>
        <p:txBody>
          <a:bodyPr wrap="square" rtlCol="0" anchor="ctr"/>
          <a:lstStyle/>
          <a:p>
            <a:pPr algn="ctr" indent="0" marL="0">
              <a:buNone/>
            </a:pPr>
            <a:r>
              <a:rPr lang="en-US" sz="6400" b="1" dirty="0">
                <a:solidFill>
                  <a:srgbClr val="D4A843"/>
                </a:solidFill>
                <a:latin typeface="メイリオ" pitchFamily="34" charset="0"/>
                <a:ea typeface="メイリオ" pitchFamily="34" charset="-122"/>
                <a:cs typeface="メイリオ" pitchFamily="34" charset="-120"/>
              </a:rPr>
              <a:t>8つの方法</a:t>
            </a:r>
            <a:endParaRPr lang="en-US" sz="6400" dirty="0"/>
          </a:p>
        </p:txBody>
      </p:sp>
      <p:sp>
        <p:nvSpPr>
          <p:cNvPr id="8" name="Shape 6"/>
          <p:cNvSpPr/>
          <p:nvPr/>
        </p:nvSpPr>
        <p:spPr>
          <a:xfrm>
            <a:off x="2926080" y="3017520"/>
            <a:ext cx="6309360" cy="54864"/>
          </a:xfrm>
          <a:prstGeom prst="rect">
            <a:avLst/>
          </a:prstGeom>
          <a:solidFill>
            <a:srgbClr val="E8602C"/>
          </a:solidFill>
          <a:ln/>
        </p:spPr>
      </p:sp>
      <p:sp>
        <p:nvSpPr>
          <p:cNvPr id="9" name="Text 7"/>
          <p:cNvSpPr/>
          <p:nvPr/>
        </p:nvSpPr>
        <p:spPr>
          <a:xfrm>
            <a:off x="731520" y="3127248"/>
            <a:ext cx="10698480" cy="475488"/>
          </a:xfrm>
          <a:prstGeom prst="rect">
            <a:avLst/>
          </a:prstGeom>
          <a:noFill/>
          <a:ln/>
        </p:spPr>
        <p:txBody>
          <a:bodyPr wrap="square" rtlCol="0" anchor="ctr"/>
          <a:lstStyle/>
          <a:p>
            <a:pPr algn="ctr" indent="0" marL="0">
              <a:buNone/>
            </a:pPr>
            <a:r>
              <a:rPr lang="en-US" sz="1700" dirty="0">
                <a:solidFill>
                  <a:srgbClr val="B0C4DE"/>
                </a:solidFill>
                <a:latin typeface="メイリオ" pitchFamily="34" charset="0"/>
                <a:ea typeface="メイリオ" pitchFamily="34" charset="-122"/>
                <a:cs typeface="メイリオ" pitchFamily="34" charset="-120"/>
              </a:rPr>
              <a:t>〜 将来不安をゼロにする、資金作りの全技術 〜</a:t>
            </a:r>
            <a:endParaRPr lang="en-US" sz="1700" dirty="0"/>
          </a:p>
        </p:txBody>
      </p:sp>
      <p:sp>
        <p:nvSpPr>
          <p:cNvPr id="10" name="Shape 8"/>
          <p:cNvSpPr/>
          <p:nvPr/>
        </p:nvSpPr>
        <p:spPr>
          <a:xfrm>
            <a:off x="3474720" y="3840480"/>
            <a:ext cx="5212080" cy="777240"/>
          </a:xfrm>
          <a:prstGeom prst="rect">
            <a:avLst/>
          </a:prstGeom>
          <a:solidFill>
            <a:srgbClr val="243060"/>
          </a:solidFill>
          <a:ln/>
        </p:spPr>
      </p:sp>
      <p:sp>
        <p:nvSpPr>
          <p:cNvPr id="11" name="Text 9"/>
          <p:cNvSpPr/>
          <p:nvPr/>
        </p:nvSpPr>
        <p:spPr>
          <a:xfrm>
            <a:off x="3474720" y="3840480"/>
            <a:ext cx="5212080" cy="777240"/>
          </a:xfrm>
          <a:prstGeom prst="rect">
            <a:avLst/>
          </a:prstGeom>
          <a:noFill/>
          <a:ln/>
        </p:spPr>
        <p:txBody>
          <a:bodyPr wrap="square" rtlCol="0" anchor="ctr"/>
          <a:lstStyle/>
          <a:p>
            <a:pPr algn="ctr" indent="0" marL="0">
              <a:buNone/>
            </a:pPr>
            <a:r>
              <a:rPr lang="en-US" sz="2200" b="1" dirty="0">
                <a:solidFill>
                  <a:srgbClr val="D4A843"/>
                </a:solidFill>
                <a:latin typeface="メイリオ" pitchFamily="34" charset="0"/>
                <a:ea typeface="メイリオ" pitchFamily="34" charset="-122"/>
                <a:cs typeface="メイリオ" pitchFamily="34" charset="-120"/>
              </a:rPr>
              <a:t>株式会社 Vision Creator</a:t>
            </a:r>
            <a:endParaRPr lang="en-US" sz="2200" dirty="0"/>
          </a:p>
        </p:txBody>
      </p:sp>
      <p:sp>
        <p:nvSpPr>
          <p:cNvPr id="12" name="Text 10"/>
          <p:cNvSpPr/>
          <p:nvPr/>
        </p:nvSpPr>
        <p:spPr>
          <a:xfrm>
            <a:off x="0" y="5989320"/>
            <a:ext cx="12192000" cy="320040"/>
          </a:xfrm>
          <a:prstGeom prst="rect">
            <a:avLst/>
          </a:prstGeom>
          <a:noFill/>
          <a:ln/>
        </p:spPr>
        <p:txBody>
          <a:bodyPr wrap="square" rtlCol="0" anchor="ctr"/>
          <a:lstStyle/>
          <a:p>
            <a:pPr algn="ctr" indent="0" marL="0">
              <a:buNone/>
            </a:pPr>
            <a:r>
              <a:rPr lang="en-US" sz="1000" i="1" dirty="0">
                <a:solidFill>
                  <a:srgbClr val="AABBCC"/>
                </a:solidFill>
                <a:latin typeface="メイリオ" pitchFamily="34" charset="0"/>
                <a:ea typeface="メイリオ" pitchFamily="34" charset="-122"/>
                <a:cs typeface="メイリオ" pitchFamily="34" charset="-120"/>
              </a:rPr>
              <a:t>株式会社 Vision Creator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365760" y="411480"/>
            <a:ext cx="82296" cy="658368"/>
          </a:xfrm>
          <a:prstGeom prst="rect">
            <a:avLst/>
          </a:prstGeom>
          <a:solidFill>
            <a:srgbClr val="D4A843"/>
          </a:solidFill>
          <a:ln/>
        </p:spPr>
      </p:sp>
      <p:sp>
        <p:nvSpPr>
          <p:cNvPr id="4" name="Text 2"/>
          <p:cNvSpPr/>
          <p:nvPr/>
        </p:nvSpPr>
        <p:spPr>
          <a:xfrm>
            <a:off x="594360" y="411480"/>
            <a:ext cx="10972800" cy="658368"/>
          </a:xfrm>
          <a:prstGeom prst="rect">
            <a:avLst/>
          </a:prstGeom>
          <a:noFill/>
          <a:ln/>
        </p:spPr>
        <p:txBody>
          <a:bodyPr wrap="square" rtlCol="0" anchor="ctr"/>
          <a:lstStyle/>
          <a:p>
            <a:pPr indent="0" marL="0">
              <a:buNone/>
            </a:pPr>
            <a:r>
              <a:rPr lang="en-US" sz="2800" b="1" dirty="0">
                <a:solidFill>
                  <a:srgbClr val="1A2744"/>
                </a:solidFill>
                <a:latin typeface="メイリオ" pitchFamily="34" charset="0"/>
                <a:ea typeface="メイリオ" pitchFamily="34" charset="-122"/>
                <a:cs typeface="メイリオ" pitchFamily="34" charset="-120"/>
              </a:rPr>
              <a:t>本日のゴール</a:t>
            </a:r>
            <a:endParaRPr lang="en-US" sz="2800" dirty="0"/>
          </a:p>
        </p:txBody>
      </p:sp>
      <p:sp>
        <p:nvSpPr>
          <p:cNvPr id="5" name="Shape 3"/>
          <p:cNvSpPr/>
          <p:nvPr/>
        </p:nvSpPr>
        <p:spPr>
          <a:xfrm>
            <a:off x="384048" y="1417320"/>
            <a:ext cx="11228832" cy="1115568"/>
          </a:xfrm>
          <a:prstGeom prst="rect">
            <a:avLst/>
          </a:prstGeom>
          <a:solidFill>
            <a:srgbClr val="FFFFFF"/>
          </a:solidFill>
          <a:ln w="12700">
            <a:solidFill>
              <a:srgbClr val="D8DEE6"/>
            </a:solidFill>
            <a:prstDash val="solid"/>
          </a:ln>
        </p:spPr>
      </p:sp>
      <p:sp>
        <p:nvSpPr>
          <p:cNvPr id="6" name="Shape 4"/>
          <p:cNvSpPr/>
          <p:nvPr/>
        </p:nvSpPr>
        <p:spPr>
          <a:xfrm>
            <a:off x="566928" y="1627632"/>
            <a:ext cx="694944" cy="694944"/>
          </a:xfrm>
          <a:prstGeom prst="ellipse">
            <a:avLst/>
          </a:prstGeom>
          <a:solidFill>
            <a:srgbClr val="1A2744"/>
          </a:solidFill>
          <a:ln/>
        </p:spPr>
      </p:sp>
      <p:sp>
        <p:nvSpPr>
          <p:cNvPr id="7" name="Text 5"/>
          <p:cNvSpPr/>
          <p:nvPr/>
        </p:nvSpPr>
        <p:spPr>
          <a:xfrm>
            <a:off x="566928" y="1627632"/>
            <a:ext cx="694944" cy="694944"/>
          </a:xfrm>
          <a:prstGeom prst="rect">
            <a:avLst/>
          </a:prstGeom>
          <a:noFill/>
          <a:ln/>
        </p:spPr>
        <p:txBody>
          <a:bodyPr wrap="square"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①</a:t>
            </a:r>
            <a:endParaRPr lang="en-US" sz="1800" dirty="0"/>
          </a:p>
        </p:txBody>
      </p:sp>
      <p:sp>
        <p:nvSpPr>
          <p:cNvPr id="8" name="Text 6"/>
          <p:cNvSpPr/>
          <p:nvPr/>
        </p:nvSpPr>
        <p:spPr>
          <a:xfrm>
            <a:off x="1417320" y="1627632"/>
            <a:ext cx="10012680" cy="694944"/>
          </a:xfrm>
          <a:prstGeom prst="rect">
            <a:avLst/>
          </a:prstGeom>
          <a:noFill/>
          <a:ln/>
        </p:spPr>
        <p:txBody>
          <a:bodyPr wrap="square" rtlCol="0" anchor="ctr"/>
          <a:lstStyle/>
          <a:p>
            <a:pPr indent="0" marL="0">
              <a:buNone/>
            </a:pPr>
            <a:r>
              <a:rPr lang="en-US" sz="1900" dirty="0">
                <a:solidFill>
                  <a:srgbClr val="333333"/>
                </a:solidFill>
                <a:latin typeface="メイリオ" pitchFamily="34" charset="0"/>
                <a:ea typeface="メイリオ" pitchFamily="34" charset="-122"/>
                <a:cs typeface="メイリオ" pitchFamily="34" charset="-120"/>
              </a:rPr>
              <a:t>軍資金（投資元本）を作る8つの具体的手法を理解する</a:t>
            </a:r>
            <a:endParaRPr lang="en-US" sz="1900" dirty="0"/>
          </a:p>
        </p:txBody>
      </p:sp>
      <p:sp>
        <p:nvSpPr>
          <p:cNvPr id="9" name="Shape 7"/>
          <p:cNvSpPr/>
          <p:nvPr/>
        </p:nvSpPr>
        <p:spPr>
          <a:xfrm>
            <a:off x="384048" y="2743200"/>
            <a:ext cx="11228832" cy="1115568"/>
          </a:xfrm>
          <a:prstGeom prst="rect">
            <a:avLst/>
          </a:prstGeom>
          <a:solidFill>
            <a:srgbClr val="FFFFFF"/>
          </a:solidFill>
          <a:ln w="12700">
            <a:solidFill>
              <a:srgbClr val="D8DEE6"/>
            </a:solidFill>
            <a:prstDash val="solid"/>
          </a:ln>
        </p:spPr>
      </p:sp>
      <p:sp>
        <p:nvSpPr>
          <p:cNvPr id="10" name="Shape 8"/>
          <p:cNvSpPr/>
          <p:nvPr/>
        </p:nvSpPr>
        <p:spPr>
          <a:xfrm>
            <a:off x="566928" y="2953512"/>
            <a:ext cx="694944" cy="694944"/>
          </a:xfrm>
          <a:prstGeom prst="ellipse">
            <a:avLst/>
          </a:prstGeom>
          <a:solidFill>
            <a:srgbClr val="1565C0"/>
          </a:solidFill>
          <a:ln/>
        </p:spPr>
      </p:sp>
      <p:sp>
        <p:nvSpPr>
          <p:cNvPr id="11" name="Text 9"/>
          <p:cNvSpPr/>
          <p:nvPr/>
        </p:nvSpPr>
        <p:spPr>
          <a:xfrm>
            <a:off x="566928" y="2953512"/>
            <a:ext cx="694944" cy="694944"/>
          </a:xfrm>
          <a:prstGeom prst="rect">
            <a:avLst/>
          </a:prstGeom>
          <a:noFill/>
          <a:ln/>
        </p:spPr>
        <p:txBody>
          <a:bodyPr wrap="square"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②</a:t>
            </a:r>
            <a:endParaRPr lang="en-US" sz="1800" dirty="0"/>
          </a:p>
        </p:txBody>
      </p:sp>
      <p:sp>
        <p:nvSpPr>
          <p:cNvPr id="12" name="Text 10"/>
          <p:cNvSpPr/>
          <p:nvPr/>
        </p:nvSpPr>
        <p:spPr>
          <a:xfrm>
            <a:off x="1417320" y="2953512"/>
            <a:ext cx="10012680" cy="694944"/>
          </a:xfrm>
          <a:prstGeom prst="rect">
            <a:avLst/>
          </a:prstGeom>
          <a:noFill/>
          <a:ln/>
        </p:spPr>
        <p:txBody>
          <a:bodyPr wrap="square" rtlCol="0" anchor="ctr"/>
          <a:lstStyle/>
          <a:p>
            <a:pPr indent="0" marL="0">
              <a:buNone/>
            </a:pPr>
            <a:r>
              <a:rPr lang="en-US" sz="1900" dirty="0">
                <a:solidFill>
                  <a:srgbClr val="333333"/>
                </a:solidFill>
                <a:latin typeface="メイリオ" pitchFamily="34" charset="0"/>
                <a:ea typeface="メイリオ" pitchFamily="34" charset="-122"/>
                <a:cs typeface="メイリオ" pitchFamily="34" charset="-120"/>
              </a:rPr>
              <a:t>月3〜10万円の軍資金を継続的に確保できるイメージを持つ</a:t>
            </a:r>
            <a:endParaRPr lang="en-US" sz="1900" dirty="0"/>
          </a:p>
        </p:txBody>
      </p:sp>
      <p:sp>
        <p:nvSpPr>
          <p:cNvPr id="13" name="Shape 11"/>
          <p:cNvSpPr/>
          <p:nvPr/>
        </p:nvSpPr>
        <p:spPr>
          <a:xfrm>
            <a:off x="384048" y="4069080"/>
            <a:ext cx="11228832" cy="1115568"/>
          </a:xfrm>
          <a:prstGeom prst="rect">
            <a:avLst/>
          </a:prstGeom>
          <a:solidFill>
            <a:srgbClr val="FFFFFF"/>
          </a:solidFill>
          <a:ln w="12700">
            <a:solidFill>
              <a:srgbClr val="D8DEE6"/>
            </a:solidFill>
            <a:prstDash val="solid"/>
          </a:ln>
        </p:spPr>
      </p:sp>
      <p:sp>
        <p:nvSpPr>
          <p:cNvPr id="14" name="Shape 12"/>
          <p:cNvSpPr/>
          <p:nvPr/>
        </p:nvSpPr>
        <p:spPr>
          <a:xfrm>
            <a:off x="566928" y="4279392"/>
            <a:ext cx="694944" cy="694944"/>
          </a:xfrm>
          <a:prstGeom prst="ellipse">
            <a:avLst/>
          </a:prstGeom>
          <a:solidFill>
            <a:srgbClr val="E8602C"/>
          </a:solidFill>
          <a:ln/>
        </p:spPr>
      </p:sp>
      <p:sp>
        <p:nvSpPr>
          <p:cNvPr id="15" name="Text 13"/>
          <p:cNvSpPr/>
          <p:nvPr/>
        </p:nvSpPr>
        <p:spPr>
          <a:xfrm>
            <a:off x="566928" y="4279392"/>
            <a:ext cx="694944" cy="694944"/>
          </a:xfrm>
          <a:prstGeom prst="rect">
            <a:avLst/>
          </a:prstGeom>
          <a:noFill/>
          <a:ln/>
        </p:spPr>
        <p:txBody>
          <a:bodyPr wrap="square"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③</a:t>
            </a:r>
            <a:endParaRPr lang="en-US" sz="1800" dirty="0"/>
          </a:p>
        </p:txBody>
      </p:sp>
      <p:sp>
        <p:nvSpPr>
          <p:cNvPr id="16" name="Text 14"/>
          <p:cNvSpPr/>
          <p:nvPr/>
        </p:nvSpPr>
        <p:spPr>
          <a:xfrm>
            <a:off x="1417320" y="4279392"/>
            <a:ext cx="10012680" cy="694944"/>
          </a:xfrm>
          <a:prstGeom prst="rect">
            <a:avLst/>
          </a:prstGeom>
          <a:noFill/>
          <a:ln/>
        </p:spPr>
        <p:txBody>
          <a:bodyPr wrap="square" rtlCol="0" anchor="ctr"/>
          <a:lstStyle/>
          <a:p>
            <a:pPr indent="0" marL="0">
              <a:buNone/>
            </a:pPr>
            <a:r>
              <a:rPr lang="en-US" sz="1900" dirty="0">
                <a:solidFill>
                  <a:srgbClr val="333333"/>
                </a:solidFill>
                <a:latin typeface="メイリオ" pitchFamily="34" charset="0"/>
                <a:ea typeface="メイリオ" pitchFamily="34" charset="-122"/>
                <a:cs typeface="メイリオ" pitchFamily="34" charset="-120"/>
              </a:rPr>
              <a:t>貯めた軍資金を「どう増やすか」の選択肢を広げる</a:t>
            </a:r>
            <a:endParaRPr lang="en-US" sz="1900" dirty="0"/>
          </a:p>
        </p:txBody>
      </p:sp>
      <p:sp>
        <p:nvSpPr>
          <p:cNvPr id="17" name="Text 15"/>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18" name="Text 16"/>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0"/>
            <a:ext cx="12192000" cy="64008"/>
          </a:xfrm>
          <a:prstGeom prst="rect">
            <a:avLst/>
          </a:prstGeom>
          <a:solidFill>
            <a:srgbClr val="D4A843"/>
          </a:solidFill>
          <a:ln/>
        </p:spPr>
      </p:sp>
      <p:sp>
        <p:nvSpPr>
          <p:cNvPr id="4" name="Text 2"/>
          <p:cNvSpPr/>
          <p:nvPr/>
        </p:nvSpPr>
        <p:spPr>
          <a:xfrm>
            <a:off x="457200" y="164592"/>
            <a:ext cx="11247120" cy="731520"/>
          </a:xfrm>
          <a:prstGeom prst="rect">
            <a:avLst/>
          </a:prstGeom>
          <a:noFill/>
          <a:ln/>
        </p:spPr>
        <p:txBody>
          <a:bodyPr wrap="square" rtlCol="0" anchor="ctr"/>
          <a:lstStyle/>
          <a:p>
            <a:pPr algn="ctr" indent="0" marL="0">
              <a:buNone/>
            </a:pPr>
            <a:r>
              <a:rPr lang="en-US" sz="3000" b="1" dirty="0">
                <a:solidFill>
                  <a:srgbClr val="FFFFFF"/>
                </a:solidFill>
                <a:latin typeface="メイリオ" pitchFamily="34" charset="0"/>
                <a:ea typeface="メイリオ" pitchFamily="34" charset="-122"/>
                <a:cs typeface="メイリオ" pitchFamily="34" charset="-120"/>
              </a:rPr>
              <a:t>あなたの老後は、今のままで大丈夫ですか？</a:t>
            </a:r>
            <a:endParaRPr lang="en-US" sz="3000" dirty="0"/>
          </a:p>
        </p:txBody>
      </p:sp>
      <p:sp>
        <p:nvSpPr>
          <p:cNvPr id="5" name="Shape 3"/>
          <p:cNvSpPr/>
          <p:nvPr/>
        </p:nvSpPr>
        <p:spPr>
          <a:xfrm>
            <a:off x="384048" y="1097280"/>
            <a:ext cx="5486400" cy="1920240"/>
          </a:xfrm>
          <a:prstGeom prst="rect">
            <a:avLst/>
          </a:prstGeom>
          <a:solidFill>
            <a:srgbClr val="243060"/>
          </a:solidFill>
          <a:ln w="12700">
            <a:solidFill>
              <a:srgbClr val="E8602C"/>
            </a:solidFill>
            <a:prstDash val="solid"/>
          </a:ln>
        </p:spPr>
      </p:sp>
      <p:sp>
        <p:nvSpPr>
          <p:cNvPr id="6" name="Text 4"/>
          <p:cNvSpPr/>
          <p:nvPr/>
        </p:nvSpPr>
        <p:spPr>
          <a:xfrm>
            <a:off x="384048" y="1188720"/>
            <a:ext cx="5486400" cy="914400"/>
          </a:xfrm>
          <a:prstGeom prst="rect">
            <a:avLst/>
          </a:prstGeom>
          <a:noFill/>
          <a:ln/>
        </p:spPr>
        <p:txBody>
          <a:bodyPr wrap="square" rtlCol="0" anchor="ctr"/>
          <a:lstStyle/>
          <a:p>
            <a:pPr algn="ctr" indent="0" marL="0">
              <a:buNone/>
            </a:pPr>
            <a:r>
              <a:rPr lang="en-US" sz="4000" b="1" dirty="0">
                <a:solidFill>
                  <a:srgbClr val="E8602C"/>
                </a:solidFill>
                <a:latin typeface="Calibri" pitchFamily="34" charset="0"/>
                <a:ea typeface="Calibri" pitchFamily="34" charset="-122"/>
                <a:cs typeface="Calibri" pitchFamily="34" charset="-120"/>
              </a:rPr>
              <a:t>¥148,000</a:t>
            </a:r>
            <a:endParaRPr lang="en-US" sz="4000" dirty="0"/>
          </a:p>
        </p:txBody>
      </p:sp>
      <p:sp>
        <p:nvSpPr>
          <p:cNvPr id="7" name="Text 5"/>
          <p:cNvSpPr/>
          <p:nvPr/>
        </p:nvSpPr>
        <p:spPr>
          <a:xfrm>
            <a:off x="384048" y="2057400"/>
            <a:ext cx="5486400" cy="47548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厚生年金の平均月額</a:t>
            </a:r>
            <a:endParaRPr lang="en-US" sz="1600" dirty="0"/>
          </a:p>
        </p:txBody>
      </p:sp>
      <p:sp>
        <p:nvSpPr>
          <p:cNvPr id="8" name="Text 6"/>
          <p:cNvSpPr/>
          <p:nvPr/>
        </p:nvSpPr>
        <p:spPr>
          <a:xfrm>
            <a:off x="384048" y="2514600"/>
            <a:ext cx="5486400" cy="365760"/>
          </a:xfrm>
          <a:prstGeom prst="rect">
            <a:avLst/>
          </a:prstGeom>
          <a:noFill/>
          <a:ln/>
        </p:spPr>
        <p:txBody>
          <a:bodyPr wrap="square" rtlCol="0" anchor="ctr"/>
          <a:lstStyle/>
          <a:p>
            <a:pPr algn="ctr" indent="0" marL="0">
              <a:buNone/>
            </a:pPr>
            <a:r>
              <a:rPr lang="en-US" sz="1200" dirty="0">
                <a:solidFill>
                  <a:srgbClr val="AABBCC"/>
                </a:solidFill>
                <a:latin typeface="メイリオ" pitchFamily="34" charset="0"/>
                <a:ea typeface="メイリオ" pitchFamily="34" charset="-122"/>
                <a:cs typeface="メイリオ" pitchFamily="34" charset="-120"/>
              </a:rPr>
              <a:t>（2024年度）</a:t>
            </a:r>
            <a:endParaRPr lang="en-US" sz="1200" dirty="0"/>
          </a:p>
        </p:txBody>
      </p:sp>
      <p:sp>
        <p:nvSpPr>
          <p:cNvPr id="9" name="Shape 7"/>
          <p:cNvSpPr/>
          <p:nvPr/>
        </p:nvSpPr>
        <p:spPr>
          <a:xfrm>
            <a:off x="6199632" y="1097280"/>
            <a:ext cx="5486400" cy="1920240"/>
          </a:xfrm>
          <a:prstGeom prst="rect">
            <a:avLst/>
          </a:prstGeom>
          <a:solidFill>
            <a:srgbClr val="243060"/>
          </a:solidFill>
          <a:ln w="12700">
            <a:solidFill>
              <a:srgbClr val="C62828"/>
            </a:solidFill>
            <a:prstDash val="solid"/>
          </a:ln>
        </p:spPr>
      </p:sp>
      <p:sp>
        <p:nvSpPr>
          <p:cNvPr id="10" name="Text 8"/>
          <p:cNvSpPr/>
          <p:nvPr/>
        </p:nvSpPr>
        <p:spPr>
          <a:xfrm>
            <a:off x="6199632" y="1188720"/>
            <a:ext cx="5486400" cy="914400"/>
          </a:xfrm>
          <a:prstGeom prst="rect">
            <a:avLst/>
          </a:prstGeom>
          <a:noFill/>
          <a:ln/>
        </p:spPr>
        <p:txBody>
          <a:bodyPr wrap="square" rtlCol="0" anchor="ctr"/>
          <a:lstStyle/>
          <a:p>
            <a:pPr algn="ctr" indent="0" marL="0">
              <a:buNone/>
            </a:pPr>
            <a:r>
              <a:rPr lang="en-US" sz="4000" b="1" dirty="0">
                <a:solidFill>
                  <a:srgbClr val="C62828"/>
                </a:solidFill>
                <a:latin typeface="Calibri" pitchFamily="34" charset="0"/>
                <a:ea typeface="Calibri" pitchFamily="34" charset="-122"/>
                <a:cs typeface="Calibri" pitchFamily="34" charset="-120"/>
              </a:rPr>
              <a:t>0.1%</a:t>
            </a:r>
            <a:endParaRPr lang="en-US" sz="4000" dirty="0"/>
          </a:p>
        </p:txBody>
      </p:sp>
      <p:sp>
        <p:nvSpPr>
          <p:cNvPr id="11" name="Text 9"/>
          <p:cNvSpPr/>
          <p:nvPr/>
        </p:nvSpPr>
        <p:spPr>
          <a:xfrm>
            <a:off x="6199632" y="2057400"/>
            <a:ext cx="5486400" cy="47548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銀行普通預金の金利</a:t>
            </a:r>
            <a:endParaRPr lang="en-US" sz="1600" dirty="0"/>
          </a:p>
        </p:txBody>
      </p:sp>
      <p:sp>
        <p:nvSpPr>
          <p:cNvPr id="12" name="Text 10"/>
          <p:cNvSpPr/>
          <p:nvPr/>
        </p:nvSpPr>
        <p:spPr>
          <a:xfrm>
            <a:off x="6199632" y="2514600"/>
            <a:ext cx="5486400" cy="365760"/>
          </a:xfrm>
          <a:prstGeom prst="rect">
            <a:avLst/>
          </a:prstGeom>
          <a:noFill/>
          <a:ln/>
        </p:spPr>
        <p:txBody>
          <a:bodyPr wrap="square" rtlCol="0" anchor="ctr"/>
          <a:lstStyle/>
          <a:p>
            <a:pPr algn="ctr" indent="0" marL="0">
              <a:buNone/>
            </a:pPr>
            <a:r>
              <a:rPr lang="en-US" sz="1200" dirty="0">
                <a:solidFill>
                  <a:srgbClr val="AABBCC"/>
                </a:solidFill>
                <a:latin typeface="メイリオ" pitchFamily="34" charset="0"/>
                <a:ea typeface="メイリオ" pitchFamily="34" charset="-122"/>
                <a:cs typeface="メイリオ" pitchFamily="34" charset="-120"/>
              </a:rPr>
              <a:t>100万円預けて年わずか1,000円</a:t>
            </a:r>
            <a:endParaRPr lang="en-US" sz="1200" dirty="0"/>
          </a:p>
        </p:txBody>
      </p:sp>
      <p:sp>
        <p:nvSpPr>
          <p:cNvPr id="13" name="Shape 11"/>
          <p:cNvSpPr/>
          <p:nvPr/>
        </p:nvSpPr>
        <p:spPr>
          <a:xfrm>
            <a:off x="384048" y="3246120"/>
            <a:ext cx="5486400" cy="1920240"/>
          </a:xfrm>
          <a:prstGeom prst="rect">
            <a:avLst/>
          </a:prstGeom>
          <a:solidFill>
            <a:srgbClr val="243060"/>
          </a:solidFill>
          <a:ln w="12700">
            <a:solidFill>
              <a:srgbClr val="E8602C"/>
            </a:solidFill>
            <a:prstDash val="solid"/>
          </a:ln>
        </p:spPr>
      </p:sp>
      <p:sp>
        <p:nvSpPr>
          <p:cNvPr id="14" name="Text 12"/>
          <p:cNvSpPr/>
          <p:nvPr/>
        </p:nvSpPr>
        <p:spPr>
          <a:xfrm>
            <a:off x="384048" y="3337560"/>
            <a:ext cx="5486400" cy="914400"/>
          </a:xfrm>
          <a:prstGeom prst="rect">
            <a:avLst/>
          </a:prstGeom>
          <a:noFill/>
          <a:ln/>
        </p:spPr>
        <p:txBody>
          <a:bodyPr wrap="square" rtlCol="0" anchor="ctr"/>
          <a:lstStyle/>
          <a:p>
            <a:pPr algn="ctr" indent="0" marL="0">
              <a:buNone/>
            </a:pPr>
            <a:r>
              <a:rPr lang="en-US" sz="4000" b="1" dirty="0">
                <a:solidFill>
                  <a:srgbClr val="E8602C"/>
                </a:solidFill>
                <a:latin typeface="Calibri" pitchFamily="34" charset="0"/>
                <a:ea typeface="Calibri" pitchFamily="34" charset="-122"/>
                <a:cs typeface="Calibri" pitchFamily="34" charset="-120"/>
              </a:rPr>
              <a:t>+30%</a:t>
            </a:r>
            <a:endParaRPr lang="en-US" sz="4000" dirty="0"/>
          </a:p>
        </p:txBody>
      </p:sp>
      <p:sp>
        <p:nvSpPr>
          <p:cNvPr id="15" name="Text 13"/>
          <p:cNvSpPr/>
          <p:nvPr/>
        </p:nvSpPr>
        <p:spPr>
          <a:xfrm>
            <a:off x="384048" y="4206240"/>
            <a:ext cx="5486400" cy="47548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物価上昇（2020年比）</a:t>
            </a:r>
            <a:endParaRPr lang="en-US" sz="1600" dirty="0"/>
          </a:p>
        </p:txBody>
      </p:sp>
      <p:sp>
        <p:nvSpPr>
          <p:cNvPr id="16" name="Text 14"/>
          <p:cNvSpPr/>
          <p:nvPr/>
        </p:nvSpPr>
        <p:spPr>
          <a:xfrm>
            <a:off x="384048" y="4663440"/>
            <a:ext cx="5486400" cy="365760"/>
          </a:xfrm>
          <a:prstGeom prst="rect">
            <a:avLst/>
          </a:prstGeom>
          <a:noFill/>
          <a:ln/>
        </p:spPr>
        <p:txBody>
          <a:bodyPr wrap="square" rtlCol="0" anchor="ctr"/>
          <a:lstStyle/>
          <a:p>
            <a:pPr algn="ctr" indent="0" marL="0">
              <a:buNone/>
            </a:pPr>
            <a:r>
              <a:rPr lang="en-US" sz="1200" dirty="0">
                <a:solidFill>
                  <a:srgbClr val="AABBCC"/>
                </a:solidFill>
                <a:latin typeface="メイリオ" pitchFamily="34" charset="0"/>
                <a:ea typeface="メイリオ" pitchFamily="34" charset="-122"/>
                <a:cs typeface="メイリオ" pitchFamily="34" charset="-120"/>
              </a:rPr>
              <a:t>実質的な購買力は年々低下</a:t>
            </a:r>
            <a:endParaRPr lang="en-US" sz="1200" dirty="0"/>
          </a:p>
        </p:txBody>
      </p:sp>
      <p:sp>
        <p:nvSpPr>
          <p:cNvPr id="17" name="Shape 15"/>
          <p:cNvSpPr/>
          <p:nvPr/>
        </p:nvSpPr>
        <p:spPr>
          <a:xfrm>
            <a:off x="6199632" y="3246120"/>
            <a:ext cx="5486400" cy="1920240"/>
          </a:xfrm>
          <a:prstGeom prst="rect">
            <a:avLst/>
          </a:prstGeom>
          <a:solidFill>
            <a:srgbClr val="243060"/>
          </a:solidFill>
          <a:ln w="12700">
            <a:solidFill>
              <a:srgbClr val="C62828"/>
            </a:solidFill>
            <a:prstDash val="solid"/>
          </a:ln>
        </p:spPr>
      </p:sp>
      <p:sp>
        <p:nvSpPr>
          <p:cNvPr id="18" name="Text 16"/>
          <p:cNvSpPr/>
          <p:nvPr/>
        </p:nvSpPr>
        <p:spPr>
          <a:xfrm>
            <a:off x="6199632" y="3337560"/>
            <a:ext cx="5486400" cy="914400"/>
          </a:xfrm>
          <a:prstGeom prst="rect">
            <a:avLst/>
          </a:prstGeom>
          <a:noFill/>
          <a:ln/>
        </p:spPr>
        <p:txBody>
          <a:bodyPr wrap="square" rtlCol="0" anchor="ctr"/>
          <a:lstStyle/>
          <a:p>
            <a:pPr algn="ctr" indent="0" marL="0">
              <a:buNone/>
            </a:pPr>
            <a:r>
              <a:rPr lang="en-US" sz="4000" b="1" dirty="0">
                <a:solidFill>
                  <a:srgbClr val="C62828"/>
                </a:solidFill>
                <a:latin typeface="Calibri" pitchFamily="34" charset="0"/>
                <a:ea typeface="Calibri" pitchFamily="34" charset="-122"/>
                <a:cs typeface="Calibri" pitchFamily="34" charset="-120"/>
              </a:rPr>
              <a:t>2,000万円</a:t>
            </a:r>
            <a:endParaRPr lang="en-US" sz="4000" dirty="0"/>
          </a:p>
        </p:txBody>
      </p:sp>
      <p:sp>
        <p:nvSpPr>
          <p:cNvPr id="19" name="Text 17"/>
          <p:cNvSpPr/>
          <p:nvPr/>
        </p:nvSpPr>
        <p:spPr>
          <a:xfrm>
            <a:off x="6199632" y="4206240"/>
            <a:ext cx="5486400" cy="47548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老後の資金不足試算額</a:t>
            </a:r>
            <a:endParaRPr lang="en-US" sz="1600" dirty="0"/>
          </a:p>
        </p:txBody>
      </p:sp>
      <p:sp>
        <p:nvSpPr>
          <p:cNvPr id="20" name="Text 18"/>
          <p:cNvSpPr/>
          <p:nvPr/>
        </p:nvSpPr>
        <p:spPr>
          <a:xfrm>
            <a:off x="6199632" y="4663440"/>
            <a:ext cx="5486400" cy="365760"/>
          </a:xfrm>
          <a:prstGeom prst="rect">
            <a:avLst/>
          </a:prstGeom>
          <a:noFill/>
          <a:ln/>
        </p:spPr>
        <p:txBody>
          <a:bodyPr wrap="square" rtlCol="0" anchor="ctr"/>
          <a:lstStyle/>
          <a:p>
            <a:pPr algn="ctr" indent="0" marL="0">
              <a:buNone/>
            </a:pPr>
            <a:r>
              <a:rPr lang="en-US" sz="1200" dirty="0">
                <a:solidFill>
                  <a:srgbClr val="AABBCC"/>
                </a:solidFill>
                <a:latin typeface="メイリオ" pitchFamily="34" charset="0"/>
                <a:ea typeface="メイリオ" pitchFamily="34" charset="-122"/>
                <a:cs typeface="メイリオ" pitchFamily="34" charset="-120"/>
              </a:rPr>
              <a:t>（金融庁レポートより）</a:t>
            </a:r>
            <a:endParaRPr lang="en-US" sz="1200" dirty="0"/>
          </a:p>
        </p:txBody>
      </p:sp>
      <p:sp>
        <p:nvSpPr>
          <p:cNvPr id="21" name="Text 19"/>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2" name="Text 20"/>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365760" y="411480"/>
            <a:ext cx="82296" cy="658368"/>
          </a:xfrm>
          <a:prstGeom prst="rect">
            <a:avLst/>
          </a:prstGeom>
          <a:solidFill>
            <a:srgbClr val="D4A843"/>
          </a:solidFill>
          <a:ln/>
        </p:spPr>
      </p:sp>
      <p:sp>
        <p:nvSpPr>
          <p:cNvPr id="4" name="Text 2"/>
          <p:cNvSpPr/>
          <p:nvPr/>
        </p:nvSpPr>
        <p:spPr>
          <a:xfrm>
            <a:off x="594360" y="411480"/>
            <a:ext cx="10972800" cy="658368"/>
          </a:xfrm>
          <a:prstGeom prst="rect">
            <a:avLst/>
          </a:prstGeom>
          <a:noFill/>
          <a:ln/>
        </p:spPr>
        <p:txBody>
          <a:bodyPr wrap="square" rtlCol="0" anchor="ctr"/>
          <a:lstStyle/>
          <a:p>
            <a:pPr indent="0" marL="0">
              <a:buNone/>
            </a:pPr>
            <a:r>
              <a:rPr lang="en-US" sz="2800" b="1" dirty="0">
                <a:solidFill>
                  <a:srgbClr val="1A2744"/>
                </a:solidFill>
                <a:latin typeface="メイリオ" pitchFamily="34" charset="0"/>
                <a:ea typeface="メイリオ" pitchFamily="34" charset="-122"/>
                <a:cs typeface="メイリオ" pitchFamily="34" charset="-120"/>
              </a:rPr>
              <a:t>「軍資金」という発想の転換</a:t>
            </a:r>
            <a:endParaRPr lang="en-US" sz="2800" dirty="0"/>
          </a:p>
        </p:txBody>
      </p:sp>
      <p:sp>
        <p:nvSpPr>
          <p:cNvPr id="5" name="Shape 3"/>
          <p:cNvSpPr/>
          <p:nvPr/>
        </p:nvSpPr>
        <p:spPr>
          <a:xfrm>
            <a:off x="384048" y="1325880"/>
            <a:ext cx="11228832" cy="658368"/>
          </a:xfrm>
          <a:prstGeom prst="rect">
            <a:avLst/>
          </a:prstGeom>
          <a:solidFill>
            <a:srgbClr val="1A2744"/>
          </a:solidFill>
          <a:ln/>
        </p:spPr>
      </p:sp>
      <p:sp>
        <p:nvSpPr>
          <p:cNvPr id="6" name="Text 4"/>
          <p:cNvSpPr/>
          <p:nvPr/>
        </p:nvSpPr>
        <p:spPr>
          <a:xfrm>
            <a:off x="457200" y="1325880"/>
            <a:ext cx="11064240" cy="658368"/>
          </a:xfrm>
          <a:prstGeom prst="rect">
            <a:avLst/>
          </a:prstGeom>
          <a:noFill/>
          <a:ln/>
        </p:spPr>
        <p:txBody>
          <a:bodyPr wrap="square" rtlCol="0" anchor="ctr"/>
          <a:lstStyle/>
          <a:p>
            <a:pPr algn="ctr" indent="0" marL="0">
              <a:buNone/>
            </a:pPr>
            <a:r>
              <a:rPr lang="en-US" sz="1800" b="1" dirty="0">
                <a:solidFill>
                  <a:srgbClr val="D4A843"/>
                </a:solidFill>
                <a:latin typeface="メイリオ" pitchFamily="34" charset="0"/>
                <a:ea typeface="メイリオ" pitchFamily="34" charset="-122"/>
                <a:cs typeface="メイリオ" pitchFamily="34" charset="-120"/>
              </a:rPr>
              <a:t>給料 ＝ 「生活費」だけではなく「生活費」＋「軍資金」に分けて考える</a:t>
            </a:r>
            <a:endParaRPr lang="en-US" sz="1800" dirty="0"/>
          </a:p>
        </p:txBody>
      </p:sp>
      <p:sp>
        <p:nvSpPr>
          <p:cNvPr id="7" name="Shape 5"/>
          <p:cNvSpPr/>
          <p:nvPr/>
        </p:nvSpPr>
        <p:spPr>
          <a:xfrm>
            <a:off x="365760" y="2240280"/>
            <a:ext cx="2834640" cy="1371600"/>
          </a:xfrm>
          <a:prstGeom prst="rect">
            <a:avLst/>
          </a:prstGeom>
          <a:solidFill>
            <a:srgbClr val="1565C0"/>
          </a:solidFill>
          <a:ln/>
        </p:spPr>
      </p:sp>
      <p:sp>
        <p:nvSpPr>
          <p:cNvPr id="8" name="Text 6"/>
          <p:cNvSpPr/>
          <p:nvPr/>
        </p:nvSpPr>
        <p:spPr>
          <a:xfrm>
            <a:off x="365760" y="2240280"/>
            <a:ext cx="2834640" cy="1371600"/>
          </a:xfrm>
          <a:prstGeom prst="rect">
            <a:avLst/>
          </a:prstGeom>
          <a:noFill/>
          <a:ln/>
        </p:spPr>
        <p:txBody>
          <a:bodyPr wrap="square"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給与</a:t>
            </a:r>
            <a:endParaRPr lang="en-US" sz="1900" dirty="0"/>
          </a:p>
          <a:p>
            <a:pPr algn="ctr" indent="0" marL="0">
              <a:buNone/>
            </a:pPr>
            <a:r>
              <a:rPr lang="en-US" sz="1900" b="1" dirty="0">
                <a:solidFill>
                  <a:srgbClr val="FFFFFF"/>
                </a:solidFill>
                <a:latin typeface="メイリオ" pitchFamily="34" charset="0"/>
                <a:ea typeface="メイリオ" pitchFamily="34" charset="-122"/>
                <a:cs typeface="メイリオ" pitchFamily="34" charset="-120"/>
              </a:rPr>
              <a:t>収入</a:t>
            </a:r>
            <a:endParaRPr lang="en-US" sz="1900" dirty="0"/>
          </a:p>
        </p:txBody>
      </p:sp>
      <p:sp>
        <p:nvSpPr>
          <p:cNvPr id="9" name="Shape 7"/>
          <p:cNvSpPr/>
          <p:nvPr/>
        </p:nvSpPr>
        <p:spPr>
          <a:xfrm>
            <a:off x="3236976" y="2651760"/>
            <a:ext cx="384048" cy="548640"/>
          </a:xfrm>
          <a:prstGeom prst="rect">
            <a:avLst/>
          </a:prstGeom>
          <a:solidFill>
            <a:srgbClr val="D4A843"/>
          </a:solidFill>
          <a:ln/>
        </p:spPr>
      </p:sp>
      <p:sp>
        <p:nvSpPr>
          <p:cNvPr id="10" name="Text 8"/>
          <p:cNvSpPr/>
          <p:nvPr/>
        </p:nvSpPr>
        <p:spPr>
          <a:xfrm>
            <a:off x="3236976" y="2651760"/>
            <a:ext cx="384048"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520440" y="2240280"/>
            <a:ext cx="2834640" cy="1371600"/>
          </a:xfrm>
          <a:prstGeom prst="rect">
            <a:avLst/>
          </a:prstGeom>
          <a:solidFill>
            <a:srgbClr val="7A8A9A"/>
          </a:solidFill>
          <a:ln/>
        </p:spPr>
      </p:sp>
      <p:sp>
        <p:nvSpPr>
          <p:cNvPr id="12" name="Text 10"/>
          <p:cNvSpPr/>
          <p:nvPr/>
        </p:nvSpPr>
        <p:spPr>
          <a:xfrm>
            <a:off x="3520440" y="2240280"/>
            <a:ext cx="2834640" cy="1371600"/>
          </a:xfrm>
          <a:prstGeom prst="rect">
            <a:avLst/>
          </a:prstGeom>
          <a:noFill/>
          <a:ln/>
        </p:spPr>
        <p:txBody>
          <a:bodyPr wrap="square"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生活費</a:t>
            </a:r>
            <a:endParaRPr lang="en-US" sz="1900" dirty="0"/>
          </a:p>
          <a:p>
            <a:pPr algn="ctr" indent="0" marL="0">
              <a:buNone/>
            </a:pPr>
            <a:r>
              <a:rPr lang="en-US" sz="1900" b="1" dirty="0">
                <a:solidFill>
                  <a:srgbClr val="FFFFFF"/>
                </a:solidFill>
                <a:latin typeface="メイリオ" pitchFamily="34" charset="0"/>
                <a:ea typeface="メイリオ" pitchFamily="34" charset="-122"/>
                <a:cs typeface="メイリオ" pitchFamily="34" charset="-120"/>
              </a:rPr>
              <a:t>（支出）</a:t>
            </a:r>
            <a:endParaRPr lang="en-US" sz="1900" dirty="0"/>
          </a:p>
        </p:txBody>
      </p:sp>
      <p:sp>
        <p:nvSpPr>
          <p:cNvPr id="13" name="Shape 11"/>
          <p:cNvSpPr/>
          <p:nvPr/>
        </p:nvSpPr>
        <p:spPr>
          <a:xfrm>
            <a:off x="6391656" y="2651760"/>
            <a:ext cx="384048" cy="548640"/>
          </a:xfrm>
          <a:prstGeom prst="rect">
            <a:avLst/>
          </a:prstGeom>
          <a:solidFill>
            <a:srgbClr val="D4A843"/>
          </a:solidFill>
          <a:ln/>
        </p:spPr>
      </p:sp>
      <p:sp>
        <p:nvSpPr>
          <p:cNvPr id="14" name="Text 12"/>
          <p:cNvSpPr/>
          <p:nvPr/>
        </p:nvSpPr>
        <p:spPr>
          <a:xfrm>
            <a:off x="6391656" y="2651760"/>
            <a:ext cx="384048"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675120" y="2240280"/>
            <a:ext cx="2834640" cy="1371600"/>
          </a:xfrm>
          <a:prstGeom prst="rect">
            <a:avLst/>
          </a:prstGeom>
          <a:solidFill>
            <a:srgbClr val="2E7D32"/>
          </a:solidFill>
          <a:ln/>
        </p:spPr>
      </p:sp>
      <p:sp>
        <p:nvSpPr>
          <p:cNvPr id="16" name="Text 14"/>
          <p:cNvSpPr/>
          <p:nvPr/>
        </p:nvSpPr>
        <p:spPr>
          <a:xfrm>
            <a:off x="6675120" y="2240280"/>
            <a:ext cx="2834640" cy="1371600"/>
          </a:xfrm>
          <a:prstGeom prst="rect">
            <a:avLst/>
          </a:prstGeom>
          <a:noFill/>
          <a:ln/>
        </p:spPr>
        <p:txBody>
          <a:bodyPr wrap="square"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軍資金</a:t>
            </a:r>
            <a:endParaRPr lang="en-US" sz="1900" dirty="0"/>
          </a:p>
          <a:p>
            <a:pPr algn="ctr" indent="0" marL="0">
              <a:buNone/>
            </a:pPr>
            <a:r>
              <a:rPr lang="en-US" sz="1900" b="1" dirty="0">
                <a:solidFill>
                  <a:srgbClr val="FFFFFF"/>
                </a:solidFill>
                <a:latin typeface="メイリオ" pitchFamily="34" charset="0"/>
                <a:ea typeface="メイリオ" pitchFamily="34" charset="-122"/>
                <a:cs typeface="メイリオ" pitchFamily="34" charset="-120"/>
              </a:rPr>
              <a:t>（元本）</a:t>
            </a:r>
            <a:endParaRPr lang="en-US" sz="1900" dirty="0"/>
          </a:p>
        </p:txBody>
      </p:sp>
      <p:sp>
        <p:nvSpPr>
          <p:cNvPr id="17" name="Shape 15"/>
          <p:cNvSpPr/>
          <p:nvPr/>
        </p:nvSpPr>
        <p:spPr>
          <a:xfrm>
            <a:off x="9546336" y="2651760"/>
            <a:ext cx="384048" cy="548640"/>
          </a:xfrm>
          <a:prstGeom prst="rect">
            <a:avLst/>
          </a:prstGeom>
          <a:solidFill>
            <a:srgbClr val="D4A843"/>
          </a:solidFill>
          <a:ln/>
        </p:spPr>
      </p:sp>
      <p:sp>
        <p:nvSpPr>
          <p:cNvPr id="18" name="Text 16"/>
          <p:cNvSpPr/>
          <p:nvPr/>
        </p:nvSpPr>
        <p:spPr>
          <a:xfrm>
            <a:off x="9546336" y="2651760"/>
            <a:ext cx="384048"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829800" y="2240280"/>
            <a:ext cx="2834640" cy="1371600"/>
          </a:xfrm>
          <a:prstGeom prst="rect">
            <a:avLst/>
          </a:prstGeom>
          <a:solidFill>
            <a:srgbClr val="E8602C"/>
          </a:solidFill>
          <a:ln/>
        </p:spPr>
      </p:sp>
      <p:sp>
        <p:nvSpPr>
          <p:cNvPr id="20" name="Text 18"/>
          <p:cNvSpPr/>
          <p:nvPr/>
        </p:nvSpPr>
        <p:spPr>
          <a:xfrm>
            <a:off x="9829800" y="2240280"/>
            <a:ext cx="2834640" cy="1371600"/>
          </a:xfrm>
          <a:prstGeom prst="rect">
            <a:avLst/>
          </a:prstGeom>
          <a:noFill/>
          <a:ln/>
        </p:spPr>
        <p:txBody>
          <a:bodyPr wrap="square" rtlCol="0" anchor="ctr"/>
          <a:lstStyle/>
          <a:p>
            <a:pPr algn="ctr" indent="0" marL="0">
              <a:buNone/>
            </a:pPr>
            <a:r>
              <a:rPr lang="en-US" sz="1900" b="1" dirty="0">
                <a:solidFill>
                  <a:srgbClr val="FFFFFF"/>
                </a:solidFill>
                <a:latin typeface="メイリオ" pitchFamily="34" charset="0"/>
                <a:ea typeface="メイリオ" pitchFamily="34" charset="-122"/>
                <a:cs typeface="メイリオ" pitchFamily="34" charset="-120"/>
              </a:rPr>
              <a:t>資産形成</a:t>
            </a:r>
            <a:endParaRPr lang="en-US" sz="1900" dirty="0"/>
          </a:p>
          <a:p>
            <a:pPr algn="ctr" indent="0" marL="0">
              <a:buNone/>
            </a:pPr>
            <a:r>
              <a:rPr lang="en-US" sz="1900" b="1" dirty="0">
                <a:solidFill>
                  <a:srgbClr val="FFFFFF"/>
                </a:solidFill>
                <a:latin typeface="メイリオ" pitchFamily="34" charset="0"/>
                <a:ea typeface="メイリオ" pitchFamily="34" charset="-122"/>
                <a:cs typeface="メイリオ" pitchFamily="34" charset="-120"/>
              </a:rPr>
              <a:t>（未来）</a:t>
            </a:r>
            <a:endParaRPr lang="en-US" sz="1900" dirty="0"/>
          </a:p>
        </p:txBody>
      </p:sp>
      <p:sp>
        <p:nvSpPr>
          <p:cNvPr id="21" name="Text 19"/>
          <p:cNvSpPr/>
          <p:nvPr/>
        </p:nvSpPr>
        <p:spPr>
          <a:xfrm>
            <a:off x="384048" y="3794760"/>
            <a:ext cx="11228832" cy="475488"/>
          </a:xfrm>
          <a:prstGeom prst="rect">
            <a:avLst/>
          </a:prstGeom>
          <a:noFill/>
          <a:ln/>
        </p:spPr>
        <p:txBody>
          <a:bodyPr wrap="square" rtlCol="0" anchor="ctr"/>
          <a:lstStyle/>
          <a:p>
            <a:pPr indent="0" marL="0">
              <a:buNone/>
            </a:pPr>
            <a:r>
              <a:rPr lang="en-US" sz="1600" dirty="0">
                <a:solidFill>
                  <a:srgbClr val="7A8A9A"/>
                </a:solidFill>
                <a:latin typeface="メイリオ" pitchFamily="34" charset="0"/>
                <a:ea typeface="メイリオ" pitchFamily="34" charset="-122"/>
                <a:cs typeface="メイリオ" pitchFamily="34" charset="-120"/>
              </a:rPr>
              <a:t>「軍資金思考」のポイント：先に確保して、残りで生活する</a:t>
            </a:r>
            <a:endParaRPr lang="en-US" sz="1600" dirty="0"/>
          </a:p>
        </p:txBody>
      </p:sp>
      <p:sp>
        <p:nvSpPr>
          <p:cNvPr id="22" name="Text 20"/>
          <p:cNvSpPr/>
          <p:nvPr/>
        </p:nvSpPr>
        <p:spPr>
          <a:xfrm>
            <a:off x="384048" y="4315968"/>
            <a:ext cx="11228832" cy="475488"/>
          </a:xfrm>
          <a:prstGeom prst="rect">
            <a:avLst/>
          </a:prstGeom>
          <a:noFill/>
          <a:ln/>
        </p:spPr>
        <p:txBody>
          <a:bodyPr wrap="square" rtlCol="0" anchor="ctr"/>
          <a:lstStyle/>
          <a:p>
            <a:pPr indent="0" marL="0">
              <a:buNone/>
            </a:pPr>
            <a:r>
              <a:rPr lang="en-US" sz="1700" b="1" dirty="0">
                <a:solidFill>
                  <a:srgbClr val="E8602C"/>
                </a:solidFill>
                <a:latin typeface="メイリオ" pitchFamily="34" charset="0"/>
                <a:ea typeface="メイリオ" pitchFamily="34" charset="-122"/>
                <a:cs typeface="メイリオ" pitchFamily="34" charset="-120"/>
              </a:rPr>
              <a:t>今日の講義では、この軍資金を作る8つの方法をすべてお伝えします</a:t>
            </a:r>
            <a:endParaRPr lang="en-US" sz="1700" dirty="0"/>
          </a:p>
        </p:txBody>
      </p:sp>
      <p:sp>
        <p:nvSpPr>
          <p:cNvPr id="23" name="Text 21"/>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4" name="Text 22"/>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0"/>
            <a:ext cx="12192000" cy="64008"/>
          </a:xfrm>
          <a:prstGeom prst="rect">
            <a:avLst/>
          </a:prstGeom>
          <a:solidFill>
            <a:srgbClr val="D4A843"/>
          </a:solidFill>
          <a:ln/>
        </p:spPr>
      </p:sp>
      <p:sp>
        <p:nvSpPr>
          <p:cNvPr id="4" name="Text 2"/>
          <p:cNvSpPr/>
          <p:nvPr/>
        </p:nvSpPr>
        <p:spPr>
          <a:xfrm>
            <a:off x="457200" y="137160"/>
            <a:ext cx="11247120" cy="658368"/>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8つの軍資金作成法　全体マップ</a:t>
            </a:r>
            <a:endParaRPr lang="en-US" sz="2600" dirty="0"/>
          </a:p>
        </p:txBody>
      </p:sp>
      <p:sp>
        <p:nvSpPr>
          <p:cNvPr id="5" name="Shape 3"/>
          <p:cNvSpPr/>
          <p:nvPr/>
        </p:nvSpPr>
        <p:spPr>
          <a:xfrm>
            <a:off x="384048" y="960120"/>
            <a:ext cx="5440680" cy="1097280"/>
          </a:xfrm>
          <a:prstGeom prst="rect">
            <a:avLst/>
          </a:prstGeom>
          <a:solidFill>
            <a:srgbClr val="243060"/>
          </a:solidFill>
          <a:ln w="12700">
            <a:solidFill>
              <a:srgbClr val="3A4A80"/>
            </a:solidFill>
            <a:prstDash val="solid"/>
          </a:ln>
        </p:spPr>
      </p:sp>
      <p:sp>
        <p:nvSpPr>
          <p:cNvPr id="6" name="Shape 4"/>
          <p:cNvSpPr/>
          <p:nvPr/>
        </p:nvSpPr>
        <p:spPr>
          <a:xfrm>
            <a:off x="384048" y="960120"/>
            <a:ext cx="530352" cy="1097280"/>
          </a:xfrm>
          <a:prstGeom prst="rect">
            <a:avLst/>
          </a:prstGeom>
          <a:solidFill>
            <a:srgbClr val="D4A843"/>
          </a:solidFill>
          <a:ln/>
        </p:spPr>
      </p:sp>
      <p:sp>
        <p:nvSpPr>
          <p:cNvPr id="7" name="Text 5"/>
          <p:cNvSpPr/>
          <p:nvPr/>
        </p:nvSpPr>
        <p:spPr>
          <a:xfrm>
            <a:off x="384048" y="1234440"/>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978408" y="1051560"/>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先取り貯蓄の自動化</a:t>
            </a:r>
            <a:endParaRPr lang="en-US" sz="1500" dirty="0"/>
          </a:p>
        </p:txBody>
      </p:sp>
      <p:sp>
        <p:nvSpPr>
          <p:cNvPr id="9" name="Shape 7"/>
          <p:cNvSpPr/>
          <p:nvPr/>
        </p:nvSpPr>
        <p:spPr>
          <a:xfrm>
            <a:off x="978408" y="1636776"/>
            <a:ext cx="914400" cy="274320"/>
          </a:xfrm>
          <a:prstGeom prst="rect">
            <a:avLst/>
          </a:prstGeom>
          <a:solidFill>
            <a:srgbClr val="1565C0"/>
          </a:solidFill>
          <a:ln/>
        </p:spPr>
      </p:sp>
      <p:sp>
        <p:nvSpPr>
          <p:cNvPr id="10" name="Text 8"/>
          <p:cNvSpPr/>
          <p:nvPr/>
        </p:nvSpPr>
        <p:spPr>
          <a:xfrm>
            <a:off x="978408" y="1636776"/>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支出設計</a:t>
            </a:r>
            <a:endParaRPr lang="en-US" sz="1000" dirty="0"/>
          </a:p>
        </p:txBody>
      </p:sp>
      <p:sp>
        <p:nvSpPr>
          <p:cNvPr id="11" name="Text 9"/>
          <p:cNvSpPr/>
          <p:nvPr/>
        </p:nvSpPr>
        <p:spPr>
          <a:xfrm>
            <a:off x="4178808" y="1252728"/>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月 1〜3万円</a:t>
            </a:r>
            <a:endParaRPr lang="en-US" sz="1300" dirty="0"/>
          </a:p>
        </p:txBody>
      </p:sp>
      <p:sp>
        <p:nvSpPr>
          <p:cNvPr id="12" name="Shape 10"/>
          <p:cNvSpPr/>
          <p:nvPr/>
        </p:nvSpPr>
        <p:spPr>
          <a:xfrm>
            <a:off x="6144768" y="960120"/>
            <a:ext cx="5440680" cy="1097280"/>
          </a:xfrm>
          <a:prstGeom prst="rect">
            <a:avLst/>
          </a:prstGeom>
          <a:solidFill>
            <a:srgbClr val="243060"/>
          </a:solidFill>
          <a:ln w="12700">
            <a:solidFill>
              <a:srgbClr val="3A4A80"/>
            </a:solidFill>
            <a:prstDash val="solid"/>
          </a:ln>
        </p:spPr>
      </p:sp>
      <p:sp>
        <p:nvSpPr>
          <p:cNvPr id="13" name="Shape 11"/>
          <p:cNvSpPr/>
          <p:nvPr/>
        </p:nvSpPr>
        <p:spPr>
          <a:xfrm>
            <a:off x="6144768" y="960120"/>
            <a:ext cx="530352" cy="1097280"/>
          </a:xfrm>
          <a:prstGeom prst="rect">
            <a:avLst/>
          </a:prstGeom>
          <a:solidFill>
            <a:srgbClr val="D4A843"/>
          </a:solidFill>
          <a:ln/>
        </p:spPr>
      </p:sp>
      <p:sp>
        <p:nvSpPr>
          <p:cNvPr id="14" name="Text 12"/>
          <p:cNvSpPr/>
          <p:nvPr/>
        </p:nvSpPr>
        <p:spPr>
          <a:xfrm>
            <a:off x="6144768" y="1234440"/>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02</a:t>
            </a:r>
            <a:endParaRPr lang="en-US" sz="1800" dirty="0"/>
          </a:p>
        </p:txBody>
      </p:sp>
      <p:sp>
        <p:nvSpPr>
          <p:cNvPr id="15" name="Text 13"/>
          <p:cNvSpPr/>
          <p:nvPr/>
        </p:nvSpPr>
        <p:spPr>
          <a:xfrm>
            <a:off x="6739128" y="1051560"/>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固定費の徹底見直し</a:t>
            </a:r>
            <a:endParaRPr lang="en-US" sz="1500" dirty="0"/>
          </a:p>
        </p:txBody>
      </p:sp>
      <p:sp>
        <p:nvSpPr>
          <p:cNvPr id="16" name="Shape 14"/>
          <p:cNvSpPr/>
          <p:nvPr/>
        </p:nvSpPr>
        <p:spPr>
          <a:xfrm>
            <a:off x="6739128" y="1636776"/>
            <a:ext cx="914400" cy="274320"/>
          </a:xfrm>
          <a:prstGeom prst="rect">
            <a:avLst/>
          </a:prstGeom>
          <a:solidFill>
            <a:srgbClr val="1565C0"/>
          </a:solidFill>
          <a:ln/>
        </p:spPr>
      </p:sp>
      <p:sp>
        <p:nvSpPr>
          <p:cNvPr id="17" name="Text 15"/>
          <p:cNvSpPr/>
          <p:nvPr/>
        </p:nvSpPr>
        <p:spPr>
          <a:xfrm>
            <a:off x="6739128" y="1636776"/>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支出設計</a:t>
            </a:r>
            <a:endParaRPr lang="en-US" sz="1000" dirty="0"/>
          </a:p>
        </p:txBody>
      </p:sp>
      <p:sp>
        <p:nvSpPr>
          <p:cNvPr id="18" name="Text 16"/>
          <p:cNvSpPr/>
          <p:nvPr/>
        </p:nvSpPr>
        <p:spPr>
          <a:xfrm>
            <a:off x="9939528" y="1252728"/>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月 5千〜3万円</a:t>
            </a:r>
            <a:endParaRPr lang="en-US" sz="1300" dirty="0"/>
          </a:p>
        </p:txBody>
      </p:sp>
      <p:sp>
        <p:nvSpPr>
          <p:cNvPr id="19" name="Shape 17"/>
          <p:cNvSpPr/>
          <p:nvPr/>
        </p:nvSpPr>
        <p:spPr>
          <a:xfrm>
            <a:off x="384048" y="2221992"/>
            <a:ext cx="5440680" cy="1097280"/>
          </a:xfrm>
          <a:prstGeom prst="rect">
            <a:avLst/>
          </a:prstGeom>
          <a:solidFill>
            <a:srgbClr val="243060"/>
          </a:solidFill>
          <a:ln w="12700">
            <a:solidFill>
              <a:srgbClr val="3A4A80"/>
            </a:solidFill>
            <a:prstDash val="solid"/>
          </a:ln>
        </p:spPr>
      </p:sp>
      <p:sp>
        <p:nvSpPr>
          <p:cNvPr id="20" name="Shape 18"/>
          <p:cNvSpPr/>
          <p:nvPr/>
        </p:nvSpPr>
        <p:spPr>
          <a:xfrm>
            <a:off x="384048" y="2221992"/>
            <a:ext cx="530352" cy="1097280"/>
          </a:xfrm>
          <a:prstGeom prst="rect">
            <a:avLst/>
          </a:prstGeom>
          <a:solidFill>
            <a:srgbClr val="D4A843"/>
          </a:solidFill>
          <a:ln/>
        </p:spPr>
      </p:sp>
      <p:sp>
        <p:nvSpPr>
          <p:cNvPr id="21" name="Text 19"/>
          <p:cNvSpPr/>
          <p:nvPr/>
        </p:nvSpPr>
        <p:spPr>
          <a:xfrm>
            <a:off x="384048" y="2496312"/>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978408" y="2313432"/>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変動費の最適化</a:t>
            </a:r>
            <a:endParaRPr lang="en-US" sz="1500" dirty="0"/>
          </a:p>
        </p:txBody>
      </p:sp>
      <p:sp>
        <p:nvSpPr>
          <p:cNvPr id="23" name="Shape 21"/>
          <p:cNvSpPr/>
          <p:nvPr/>
        </p:nvSpPr>
        <p:spPr>
          <a:xfrm>
            <a:off x="978408" y="2898648"/>
            <a:ext cx="914400" cy="274320"/>
          </a:xfrm>
          <a:prstGeom prst="rect">
            <a:avLst/>
          </a:prstGeom>
          <a:solidFill>
            <a:srgbClr val="1565C0"/>
          </a:solidFill>
          <a:ln/>
        </p:spPr>
      </p:sp>
      <p:sp>
        <p:nvSpPr>
          <p:cNvPr id="24" name="Text 22"/>
          <p:cNvSpPr/>
          <p:nvPr/>
        </p:nvSpPr>
        <p:spPr>
          <a:xfrm>
            <a:off x="978408" y="2898648"/>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支出設計</a:t>
            </a:r>
            <a:endParaRPr lang="en-US" sz="1000" dirty="0"/>
          </a:p>
        </p:txBody>
      </p:sp>
      <p:sp>
        <p:nvSpPr>
          <p:cNvPr id="25" name="Text 23"/>
          <p:cNvSpPr/>
          <p:nvPr/>
        </p:nvSpPr>
        <p:spPr>
          <a:xfrm>
            <a:off x="4178808" y="2514600"/>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月 3千〜1.5万円</a:t>
            </a:r>
            <a:endParaRPr lang="en-US" sz="1300" dirty="0"/>
          </a:p>
        </p:txBody>
      </p:sp>
      <p:sp>
        <p:nvSpPr>
          <p:cNvPr id="26" name="Shape 24"/>
          <p:cNvSpPr/>
          <p:nvPr/>
        </p:nvSpPr>
        <p:spPr>
          <a:xfrm>
            <a:off x="6144768" y="2221992"/>
            <a:ext cx="5440680" cy="1097280"/>
          </a:xfrm>
          <a:prstGeom prst="rect">
            <a:avLst/>
          </a:prstGeom>
          <a:solidFill>
            <a:srgbClr val="243060"/>
          </a:solidFill>
          <a:ln w="12700">
            <a:solidFill>
              <a:srgbClr val="3A4A80"/>
            </a:solidFill>
            <a:prstDash val="solid"/>
          </a:ln>
        </p:spPr>
      </p:sp>
      <p:sp>
        <p:nvSpPr>
          <p:cNvPr id="27" name="Shape 25"/>
          <p:cNvSpPr/>
          <p:nvPr/>
        </p:nvSpPr>
        <p:spPr>
          <a:xfrm>
            <a:off x="6144768" y="2221992"/>
            <a:ext cx="530352" cy="1097280"/>
          </a:xfrm>
          <a:prstGeom prst="rect">
            <a:avLst/>
          </a:prstGeom>
          <a:solidFill>
            <a:srgbClr val="D4A843"/>
          </a:solidFill>
          <a:ln/>
        </p:spPr>
      </p:sp>
      <p:sp>
        <p:nvSpPr>
          <p:cNvPr id="28" name="Text 26"/>
          <p:cNvSpPr/>
          <p:nvPr/>
        </p:nvSpPr>
        <p:spPr>
          <a:xfrm>
            <a:off x="6144768" y="2496312"/>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04</a:t>
            </a:r>
            <a:endParaRPr lang="en-US" sz="1800" dirty="0"/>
          </a:p>
        </p:txBody>
      </p:sp>
      <p:sp>
        <p:nvSpPr>
          <p:cNvPr id="29" name="Text 27"/>
          <p:cNvSpPr/>
          <p:nvPr/>
        </p:nvSpPr>
        <p:spPr>
          <a:xfrm>
            <a:off x="6739128" y="2313432"/>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キャッシュレス還元の集約</a:t>
            </a:r>
            <a:endParaRPr lang="en-US" sz="1500" dirty="0"/>
          </a:p>
        </p:txBody>
      </p:sp>
      <p:sp>
        <p:nvSpPr>
          <p:cNvPr id="30" name="Shape 28"/>
          <p:cNvSpPr/>
          <p:nvPr/>
        </p:nvSpPr>
        <p:spPr>
          <a:xfrm>
            <a:off x="6739128" y="2898648"/>
            <a:ext cx="914400" cy="274320"/>
          </a:xfrm>
          <a:prstGeom prst="rect">
            <a:avLst/>
          </a:prstGeom>
          <a:solidFill>
            <a:srgbClr val="2E7D32"/>
          </a:solidFill>
          <a:ln/>
        </p:spPr>
      </p:sp>
      <p:sp>
        <p:nvSpPr>
          <p:cNvPr id="31" name="Text 29"/>
          <p:cNvSpPr/>
          <p:nvPr/>
        </p:nvSpPr>
        <p:spPr>
          <a:xfrm>
            <a:off x="6739128" y="2898648"/>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還元活用</a:t>
            </a:r>
            <a:endParaRPr lang="en-US" sz="1000" dirty="0"/>
          </a:p>
        </p:txBody>
      </p:sp>
      <p:sp>
        <p:nvSpPr>
          <p:cNvPr id="32" name="Text 30"/>
          <p:cNvSpPr/>
          <p:nvPr/>
        </p:nvSpPr>
        <p:spPr>
          <a:xfrm>
            <a:off x="9939528" y="2514600"/>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月 2千〜1万円</a:t>
            </a:r>
            <a:endParaRPr lang="en-US" sz="1300" dirty="0"/>
          </a:p>
        </p:txBody>
      </p:sp>
      <p:sp>
        <p:nvSpPr>
          <p:cNvPr id="33" name="Shape 31"/>
          <p:cNvSpPr/>
          <p:nvPr/>
        </p:nvSpPr>
        <p:spPr>
          <a:xfrm>
            <a:off x="384048" y="3483864"/>
            <a:ext cx="5440680" cy="1097280"/>
          </a:xfrm>
          <a:prstGeom prst="rect">
            <a:avLst/>
          </a:prstGeom>
          <a:solidFill>
            <a:srgbClr val="243060"/>
          </a:solidFill>
          <a:ln w="12700">
            <a:solidFill>
              <a:srgbClr val="3A4A80"/>
            </a:solidFill>
            <a:prstDash val="solid"/>
          </a:ln>
        </p:spPr>
      </p:sp>
      <p:sp>
        <p:nvSpPr>
          <p:cNvPr id="34" name="Shape 32"/>
          <p:cNvSpPr/>
          <p:nvPr/>
        </p:nvSpPr>
        <p:spPr>
          <a:xfrm>
            <a:off x="384048" y="3483864"/>
            <a:ext cx="530352" cy="1097280"/>
          </a:xfrm>
          <a:prstGeom prst="rect">
            <a:avLst/>
          </a:prstGeom>
          <a:solidFill>
            <a:srgbClr val="D4A843"/>
          </a:solidFill>
          <a:ln/>
        </p:spPr>
      </p:sp>
      <p:sp>
        <p:nvSpPr>
          <p:cNvPr id="35" name="Text 33"/>
          <p:cNvSpPr/>
          <p:nvPr/>
        </p:nvSpPr>
        <p:spPr>
          <a:xfrm>
            <a:off x="384048" y="3758184"/>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05</a:t>
            </a:r>
            <a:endParaRPr lang="en-US" sz="1800" dirty="0"/>
          </a:p>
        </p:txBody>
      </p:sp>
      <p:sp>
        <p:nvSpPr>
          <p:cNvPr id="36" name="Text 34"/>
          <p:cNvSpPr/>
          <p:nvPr/>
        </p:nvSpPr>
        <p:spPr>
          <a:xfrm>
            <a:off x="978408" y="3575304"/>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ポイントサイト活用</a:t>
            </a:r>
            <a:endParaRPr lang="en-US" sz="1500" dirty="0"/>
          </a:p>
        </p:txBody>
      </p:sp>
      <p:sp>
        <p:nvSpPr>
          <p:cNvPr id="37" name="Shape 35"/>
          <p:cNvSpPr/>
          <p:nvPr/>
        </p:nvSpPr>
        <p:spPr>
          <a:xfrm>
            <a:off x="978408" y="4160520"/>
            <a:ext cx="914400" cy="274320"/>
          </a:xfrm>
          <a:prstGeom prst="rect">
            <a:avLst/>
          </a:prstGeom>
          <a:solidFill>
            <a:srgbClr val="E8602C"/>
          </a:solidFill>
          <a:ln/>
        </p:spPr>
      </p:sp>
      <p:sp>
        <p:nvSpPr>
          <p:cNvPr id="38" name="Text 36"/>
          <p:cNvSpPr/>
          <p:nvPr/>
        </p:nvSpPr>
        <p:spPr>
          <a:xfrm>
            <a:off x="978408" y="4160520"/>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収入獲得</a:t>
            </a:r>
            <a:endParaRPr lang="en-US" sz="1000" dirty="0"/>
          </a:p>
        </p:txBody>
      </p:sp>
      <p:sp>
        <p:nvSpPr>
          <p:cNvPr id="39" name="Text 37"/>
          <p:cNvSpPr/>
          <p:nvPr/>
        </p:nvSpPr>
        <p:spPr>
          <a:xfrm>
            <a:off x="4178808" y="3776472"/>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月 3千〜3万円</a:t>
            </a:r>
            <a:endParaRPr lang="en-US" sz="1300" dirty="0"/>
          </a:p>
        </p:txBody>
      </p:sp>
      <p:sp>
        <p:nvSpPr>
          <p:cNvPr id="40" name="Shape 38"/>
          <p:cNvSpPr/>
          <p:nvPr/>
        </p:nvSpPr>
        <p:spPr>
          <a:xfrm>
            <a:off x="6144768" y="3483864"/>
            <a:ext cx="5440680" cy="1097280"/>
          </a:xfrm>
          <a:prstGeom prst="rect">
            <a:avLst/>
          </a:prstGeom>
          <a:solidFill>
            <a:srgbClr val="243060"/>
          </a:solidFill>
          <a:ln w="12700">
            <a:solidFill>
              <a:srgbClr val="3A4A80"/>
            </a:solidFill>
            <a:prstDash val="solid"/>
          </a:ln>
        </p:spPr>
      </p:sp>
      <p:sp>
        <p:nvSpPr>
          <p:cNvPr id="41" name="Shape 39"/>
          <p:cNvSpPr/>
          <p:nvPr/>
        </p:nvSpPr>
        <p:spPr>
          <a:xfrm>
            <a:off x="6144768" y="3483864"/>
            <a:ext cx="530352" cy="1097280"/>
          </a:xfrm>
          <a:prstGeom prst="rect">
            <a:avLst/>
          </a:prstGeom>
          <a:solidFill>
            <a:srgbClr val="D4A843"/>
          </a:solidFill>
          <a:ln/>
        </p:spPr>
      </p:sp>
      <p:sp>
        <p:nvSpPr>
          <p:cNvPr id="42" name="Text 40"/>
          <p:cNvSpPr/>
          <p:nvPr/>
        </p:nvSpPr>
        <p:spPr>
          <a:xfrm>
            <a:off x="6144768" y="3758184"/>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06</a:t>
            </a:r>
            <a:endParaRPr lang="en-US" sz="1800" dirty="0"/>
          </a:p>
        </p:txBody>
      </p:sp>
      <p:sp>
        <p:nvSpPr>
          <p:cNvPr id="43" name="Text 41"/>
          <p:cNvSpPr/>
          <p:nvPr/>
        </p:nvSpPr>
        <p:spPr>
          <a:xfrm>
            <a:off x="6739128" y="3575304"/>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不用品売却・断捨離</a:t>
            </a:r>
            <a:endParaRPr lang="en-US" sz="1500" dirty="0"/>
          </a:p>
        </p:txBody>
      </p:sp>
      <p:sp>
        <p:nvSpPr>
          <p:cNvPr id="44" name="Shape 42"/>
          <p:cNvSpPr/>
          <p:nvPr/>
        </p:nvSpPr>
        <p:spPr>
          <a:xfrm>
            <a:off x="6739128" y="4160520"/>
            <a:ext cx="914400" cy="274320"/>
          </a:xfrm>
          <a:prstGeom prst="rect">
            <a:avLst/>
          </a:prstGeom>
          <a:solidFill>
            <a:srgbClr val="E8602C"/>
          </a:solidFill>
          <a:ln/>
        </p:spPr>
      </p:sp>
      <p:sp>
        <p:nvSpPr>
          <p:cNvPr id="45" name="Text 43"/>
          <p:cNvSpPr/>
          <p:nvPr/>
        </p:nvSpPr>
        <p:spPr>
          <a:xfrm>
            <a:off x="6739128" y="4160520"/>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収入獲得</a:t>
            </a:r>
            <a:endParaRPr lang="en-US" sz="1000" dirty="0"/>
          </a:p>
        </p:txBody>
      </p:sp>
      <p:sp>
        <p:nvSpPr>
          <p:cNvPr id="46" name="Text 44"/>
          <p:cNvSpPr/>
          <p:nvPr/>
        </p:nvSpPr>
        <p:spPr>
          <a:xfrm>
            <a:off x="9939528" y="3776472"/>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初回〜5万円</a:t>
            </a:r>
            <a:endParaRPr lang="en-US" sz="1300" dirty="0"/>
          </a:p>
        </p:txBody>
      </p:sp>
      <p:sp>
        <p:nvSpPr>
          <p:cNvPr id="47" name="Shape 45"/>
          <p:cNvSpPr/>
          <p:nvPr/>
        </p:nvSpPr>
        <p:spPr>
          <a:xfrm>
            <a:off x="384048" y="4745736"/>
            <a:ext cx="5440680" cy="1097280"/>
          </a:xfrm>
          <a:prstGeom prst="rect">
            <a:avLst/>
          </a:prstGeom>
          <a:solidFill>
            <a:srgbClr val="243060"/>
          </a:solidFill>
          <a:ln w="12700">
            <a:solidFill>
              <a:srgbClr val="3A4A80"/>
            </a:solidFill>
            <a:prstDash val="solid"/>
          </a:ln>
        </p:spPr>
      </p:sp>
      <p:sp>
        <p:nvSpPr>
          <p:cNvPr id="48" name="Shape 46"/>
          <p:cNvSpPr/>
          <p:nvPr/>
        </p:nvSpPr>
        <p:spPr>
          <a:xfrm>
            <a:off x="384048" y="4745736"/>
            <a:ext cx="530352" cy="1097280"/>
          </a:xfrm>
          <a:prstGeom prst="rect">
            <a:avLst/>
          </a:prstGeom>
          <a:solidFill>
            <a:srgbClr val="D4A843"/>
          </a:solidFill>
          <a:ln/>
        </p:spPr>
      </p:sp>
      <p:sp>
        <p:nvSpPr>
          <p:cNvPr id="49" name="Text 47"/>
          <p:cNvSpPr/>
          <p:nvPr/>
        </p:nvSpPr>
        <p:spPr>
          <a:xfrm>
            <a:off x="384048" y="5020056"/>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07</a:t>
            </a:r>
            <a:endParaRPr lang="en-US" sz="1800" dirty="0"/>
          </a:p>
        </p:txBody>
      </p:sp>
      <p:sp>
        <p:nvSpPr>
          <p:cNvPr id="50" name="Text 48"/>
          <p:cNvSpPr/>
          <p:nvPr/>
        </p:nvSpPr>
        <p:spPr>
          <a:xfrm>
            <a:off x="978408" y="4837176"/>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副業・スキル収益化</a:t>
            </a:r>
            <a:endParaRPr lang="en-US" sz="1500" dirty="0"/>
          </a:p>
        </p:txBody>
      </p:sp>
      <p:sp>
        <p:nvSpPr>
          <p:cNvPr id="51" name="Shape 49"/>
          <p:cNvSpPr/>
          <p:nvPr/>
        </p:nvSpPr>
        <p:spPr>
          <a:xfrm>
            <a:off x="978408" y="5422392"/>
            <a:ext cx="914400" cy="274320"/>
          </a:xfrm>
          <a:prstGeom prst="rect">
            <a:avLst/>
          </a:prstGeom>
          <a:solidFill>
            <a:srgbClr val="E8602C"/>
          </a:solidFill>
          <a:ln/>
        </p:spPr>
      </p:sp>
      <p:sp>
        <p:nvSpPr>
          <p:cNvPr id="52" name="Text 50"/>
          <p:cNvSpPr/>
          <p:nvPr/>
        </p:nvSpPr>
        <p:spPr>
          <a:xfrm>
            <a:off x="978408" y="5422392"/>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収入獲得</a:t>
            </a:r>
            <a:endParaRPr lang="en-US" sz="1000" dirty="0"/>
          </a:p>
        </p:txBody>
      </p:sp>
      <p:sp>
        <p:nvSpPr>
          <p:cNvPr id="53" name="Text 51"/>
          <p:cNvSpPr/>
          <p:nvPr/>
        </p:nvSpPr>
        <p:spPr>
          <a:xfrm>
            <a:off x="4178808" y="5038344"/>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月 1〜10万円</a:t>
            </a:r>
            <a:endParaRPr lang="en-US" sz="1300" dirty="0"/>
          </a:p>
        </p:txBody>
      </p:sp>
      <p:sp>
        <p:nvSpPr>
          <p:cNvPr id="54" name="Shape 52"/>
          <p:cNvSpPr/>
          <p:nvPr/>
        </p:nvSpPr>
        <p:spPr>
          <a:xfrm>
            <a:off x="6144768" y="4745736"/>
            <a:ext cx="5440680" cy="1097280"/>
          </a:xfrm>
          <a:prstGeom prst="rect">
            <a:avLst/>
          </a:prstGeom>
          <a:solidFill>
            <a:srgbClr val="243060"/>
          </a:solidFill>
          <a:ln w="12700">
            <a:solidFill>
              <a:srgbClr val="3A4A80"/>
            </a:solidFill>
            <a:prstDash val="solid"/>
          </a:ln>
        </p:spPr>
      </p:sp>
      <p:sp>
        <p:nvSpPr>
          <p:cNvPr id="55" name="Shape 53"/>
          <p:cNvSpPr/>
          <p:nvPr/>
        </p:nvSpPr>
        <p:spPr>
          <a:xfrm>
            <a:off x="6144768" y="4745736"/>
            <a:ext cx="530352" cy="1097280"/>
          </a:xfrm>
          <a:prstGeom prst="rect">
            <a:avLst/>
          </a:prstGeom>
          <a:solidFill>
            <a:srgbClr val="D4A843"/>
          </a:solidFill>
          <a:ln/>
        </p:spPr>
      </p:sp>
      <p:sp>
        <p:nvSpPr>
          <p:cNvPr id="56" name="Text 54"/>
          <p:cNvSpPr/>
          <p:nvPr/>
        </p:nvSpPr>
        <p:spPr>
          <a:xfrm>
            <a:off x="6144768" y="5020056"/>
            <a:ext cx="530352" cy="548640"/>
          </a:xfrm>
          <a:prstGeom prst="rect">
            <a:avLst/>
          </a:prstGeom>
          <a:noFill/>
          <a:ln/>
        </p:spPr>
        <p:txBody>
          <a:bodyPr wrap="square" rtlCol="0" anchor="ctr"/>
          <a:lstStyle/>
          <a:p>
            <a:pPr algn="ctr" indent="0" marL="0">
              <a:buNone/>
            </a:pPr>
            <a:r>
              <a:rPr lang="en-US" sz="1800" b="1" dirty="0">
                <a:solidFill>
                  <a:srgbClr val="1A2744"/>
                </a:solidFill>
                <a:latin typeface="Calibri" pitchFamily="34" charset="0"/>
                <a:ea typeface="Calibri" pitchFamily="34" charset="-122"/>
                <a:cs typeface="Calibri" pitchFamily="34" charset="-120"/>
              </a:rPr>
              <a:t>08</a:t>
            </a:r>
            <a:endParaRPr lang="en-US" sz="1800" dirty="0"/>
          </a:p>
        </p:txBody>
      </p:sp>
      <p:sp>
        <p:nvSpPr>
          <p:cNvPr id="57" name="Text 55"/>
          <p:cNvSpPr/>
          <p:nvPr/>
        </p:nvSpPr>
        <p:spPr>
          <a:xfrm>
            <a:off x="6739128" y="4837176"/>
            <a:ext cx="3154680" cy="566928"/>
          </a:xfrm>
          <a:prstGeom prst="rect">
            <a:avLst/>
          </a:prstGeom>
          <a:noFill/>
          <a:ln/>
        </p:spPr>
        <p:txBody>
          <a:bodyPr wrap="square" rtlCol="0" anchor="ctr"/>
          <a:lstStyle/>
          <a:p>
            <a:pPr indent="0" marL="0">
              <a:buNone/>
            </a:pPr>
            <a:r>
              <a:rPr lang="en-US" sz="1500" b="1" dirty="0">
                <a:solidFill>
                  <a:srgbClr val="FFFFFF"/>
                </a:solidFill>
                <a:latin typeface="メイリオ" pitchFamily="34" charset="0"/>
                <a:ea typeface="メイリオ" pitchFamily="34" charset="-122"/>
                <a:cs typeface="メイリオ" pitchFamily="34" charset="-120"/>
              </a:rPr>
              <a:t>税制優遇制度の活用</a:t>
            </a:r>
            <a:endParaRPr lang="en-US" sz="1500" dirty="0"/>
          </a:p>
        </p:txBody>
      </p:sp>
      <p:sp>
        <p:nvSpPr>
          <p:cNvPr id="58" name="Shape 56"/>
          <p:cNvSpPr/>
          <p:nvPr/>
        </p:nvSpPr>
        <p:spPr>
          <a:xfrm>
            <a:off x="6739128" y="5422392"/>
            <a:ext cx="914400" cy="274320"/>
          </a:xfrm>
          <a:prstGeom prst="rect">
            <a:avLst/>
          </a:prstGeom>
          <a:solidFill>
            <a:srgbClr val="D4A843"/>
          </a:solidFill>
          <a:ln/>
        </p:spPr>
      </p:sp>
      <p:sp>
        <p:nvSpPr>
          <p:cNvPr id="59" name="Text 57"/>
          <p:cNvSpPr/>
          <p:nvPr/>
        </p:nvSpPr>
        <p:spPr>
          <a:xfrm>
            <a:off x="6739128" y="5422392"/>
            <a:ext cx="914400" cy="274320"/>
          </a:xfrm>
          <a:prstGeom prst="rect">
            <a:avLst/>
          </a:prstGeom>
          <a:noFill/>
          <a:ln/>
        </p:spPr>
        <p:txBody>
          <a:bodyPr wrap="square" rtlCol="0" anchor="ctr"/>
          <a:lstStyle/>
          <a:p>
            <a:pPr algn="ctr" indent="0" marL="0">
              <a:buNone/>
            </a:pPr>
            <a:r>
              <a:rPr lang="en-US" sz="1000" dirty="0">
                <a:solidFill>
                  <a:srgbClr val="FFFFFF"/>
                </a:solidFill>
                <a:latin typeface="メイリオ" pitchFamily="34" charset="0"/>
                <a:ea typeface="メイリオ" pitchFamily="34" charset="-122"/>
                <a:cs typeface="メイリオ" pitchFamily="34" charset="-120"/>
              </a:rPr>
              <a:t>節税</a:t>
            </a:r>
            <a:endParaRPr lang="en-US" sz="1000" dirty="0"/>
          </a:p>
        </p:txBody>
      </p:sp>
      <p:sp>
        <p:nvSpPr>
          <p:cNvPr id="60" name="Text 58"/>
          <p:cNvSpPr/>
          <p:nvPr/>
        </p:nvSpPr>
        <p:spPr>
          <a:xfrm>
            <a:off x="9939528" y="5038344"/>
            <a:ext cx="1554480" cy="512064"/>
          </a:xfrm>
          <a:prstGeom prst="rect">
            <a:avLst/>
          </a:prstGeom>
          <a:noFill/>
          <a:ln/>
        </p:spPr>
        <p:txBody>
          <a:bodyPr wrap="square" rtlCol="0" anchor="ctr"/>
          <a:lstStyle/>
          <a:p>
            <a:pPr algn="r" indent="0" marL="0">
              <a:buNone/>
            </a:pPr>
            <a:r>
              <a:rPr lang="en-US" sz="1300" b="1" dirty="0">
                <a:solidFill>
                  <a:srgbClr val="D4A843"/>
                </a:solidFill>
                <a:latin typeface="メイリオ" pitchFamily="34" charset="0"/>
                <a:ea typeface="メイリオ" pitchFamily="34" charset="-122"/>
                <a:cs typeface="メイリオ" pitchFamily="34" charset="-120"/>
              </a:rPr>
              <a:t>年 5〜20万円</a:t>
            </a:r>
            <a:endParaRPr lang="en-US" sz="1300" dirty="0"/>
          </a:p>
        </p:txBody>
      </p:sp>
      <p:sp>
        <p:nvSpPr>
          <p:cNvPr id="61" name="Text 59"/>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62" name="Text 60"/>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01</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先取り貯蓄の自動化</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月 1〜3万円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〜「残ったら貯める」から「先に確保する」への転換〜</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給与振込日の翌日に専用口座・証券口座へ「自動転送」を設定する</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手取りの10%を目標に。月収25万円なら2.5万円を"存在しないお金"として扱う</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住信SBIネット銀行「目的別口座」や楽天銀行「自動振替」が実用的</a:t>
            </a:r>
            <a:endParaRPr lang="en-US" sz="1550" dirty="0"/>
          </a:p>
        </p:txBody>
      </p:sp>
      <p:sp>
        <p:nvSpPr>
          <p:cNvPr id="20" name="Shape 18"/>
          <p:cNvSpPr/>
          <p:nvPr/>
        </p:nvSpPr>
        <p:spPr>
          <a:xfrm>
            <a:off x="384048" y="4059936"/>
            <a:ext cx="11228832" cy="658368"/>
          </a:xfrm>
          <a:prstGeom prst="rect">
            <a:avLst/>
          </a:prstGeom>
          <a:solidFill>
            <a:srgbClr val="FFF8E1"/>
          </a:solidFill>
          <a:ln w="12700">
            <a:solidFill>
              <a:srgbClr val="D4A843"/>
            </a:solidFill>
            <a:prstDash val="solid"/>
          </a:ln>
        </p:spPr>
      </p:sp>
      <p:sp>
        <p:nvSpPr>
          <p:cNvPr id="21" name="Shape 19"/>
          <p:cNvSpPr/>
          <p:nvPr/>
        </p:nvSpPr>
        <p:spPr>
          <a:xfrm>
            <a:off x="384048" y="4059936"/>
            <a:ext cx="1417320" cy="658368"/>
          </a:xfrm>
          <a:prstGeom prst="rect">
            <a:avLst/>
          </a:prstGeom>
          <a:solidFill>
            <a:srgbClr val="D4A843"/>
          </a:solidFill>
          <a:ln/>
        </p:spPr>
      </p:sp>
      <p:sp>
        <p:nvSpPr>
          <p:cNvPr id="22" name="Text 20"/>
          <p:cNvSpPr/>
          <p:nvPr/>
        </p:nvSpPr>
        <p:spPr>
          <a:xfrm>
            <a:off x="384048" y="4169664"/>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3" name="Text 21"/>
          <p:cNvSpPr/>
          <p:nvPr/>
        </p:nvSpPr>
        <p:spPr>
          <a:xfrm>
            <a:off x="1901952" y="4169664"/>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今月中に証券口座または専用貯蓄口座への自動積立をオンに設定する</a:t>
            </a:r>
            <a:endParaRPr lang="en-US" sz="1400" dirty="0"/>
          </a:p>
        </p:txBody>
      </p:sp>
      <p:sp>
        <p:nvSpPr>
          <p:cNvPr id="24" name="Shape 22"/>
          <p:cNvSpPr/>
          <p:nvPr/>
        </p:nvSpPr>
        <p:spPr>
          <a:xfrm>
            <a:off x="384048" y="4864608"/>
            <a:ext cx="11228832" cy="566928"/>
          </a:xfrm>
          <a:prstGeom prst="rect">
            <a:avLst/>
          </a:prstGeom>
          <a:solidFill>
            <a:srgbClr val="EEF3FB"/>
          </a:solidFill>
          <a:ln w="12700">
            <a:solidFill>
              <a:srgbClr val="1565C0"/>
            </a:solidFill>
            <a:prstDash val="solid"/>
          </a:ln>
        </p:spPr>
      </p:sp>
      <p:sp>
        <p:nvSpPr>
          <p:cNvPr id="25" name="Text 23"/>
          <p:cNvSpPr/>
          <p:nvPr/>
        </p:nvSpPr>
        <p:spPr>
          <a:xfrm>
            <a:off x="530352" y="4919472"/>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米国発「Pay Yourself First」── 資産家に共通する、収入管理の世界的鉄則</a:t>
            </a:r>
            <a:endParaRPr lang="en-US" sz="1350" dirty="0"/>
          </a:p>
        </p:txBody>
      </p:sp>
      <p:sp>
        <p:nvSpPr>
          <p:cNvPr id="26" name="Text 24"/>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7" name="Text 25"/>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02</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固定費の徹底見直し</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月 5千〜3万円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〜一度やれば毎月ずっと効く"最高コスパ"の節約〜</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スマートフォン：大手キャリア（〜8,000円）→ 格安SIM（〜1,500円）で月6,500円削減</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生命保険：保障が過大になりやすい。FP無料相談で月5,000〜15,000円の削減余地を確認</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サブスク棚卸し：使っていないサービスをリストアップ → 月2,000〜5,000円削減</a:t>
            </a:r>
            <a:endParaRPr lang="en-US" sz="1550" dirty="0"/>
          </a:p>
        </p:txBody>
      </p:sp>
      <p:sp>
        <p:nvSpPr>
          <p:cNvPr id="20" name="Shape 18"/>
          <p:cNvSpPr/>
          <p:nvPr/>
        </p:nvSpPr>
        <p:spPr>
          <a:xfrm>
            <a:off x="384048" y="3968496"/>
            <a:ext cx="438912" cy="438912"/>
          </a:xfrm>
          <a:prstGeom prst="rect">
            <a:avLst/>
          </a:prstGeom>
          <a:solidFill>
            <a:srgbClr val="1565C0"/>
          </a:solidFill>
          <a:ln/>
        </p:spPr>
      </p:sp>
      <p:sp>
        <p:nvSpPr>
          <p:cNvPr id="21" name="Text 19"/>
          <p:cNvSpPr/>
          <p:nvPr/>
        </p:nvSpPr>
        <p:spPr>
          <a:xfrm>
            <a:off x="384048" y="3968496"/>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950976" y="3895344"/>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電気・ガス：自由化を活用して切り替えるだけで月1,000〜3,000円の削減も</a:t>
            </a:r>
            <a:endParaRPr lang="en-US" sz="1550" dirty="0"/>
          </a:p>
        </p:txBody>
      </p:sp>
      <p:sp>
        <p:nvSpPr>
          <p:cNvPr id="23" name="Shape 21"/>
          <p:cNvSpPr/>
          <p:nvPr/>
        </p:nvSpPr>
        <p:spPr>
          <a:xfrm>
            <a:off x="384048" y="4846320"/>
            <a:ext cx="11228832" cy="658368"/>
          </a:xfrm>
          <a:prstGeom prst="rect">
            <a:avLst/>
          </a:prstGeom>
          <a:solidFill>
            <a:srgbClr val="FFF8E1"/>
          </a:solidFill>
          <a:ln w="12700">
            <a:solidFill>
              <a:srgbClr val="D4A843"/>
            </a:solidFill>
            <a:prstDash val="solid"/>
          </a:ln>
        </p:spPr>
      </p:sp>
      <p:sp>
        <p:nvSpPr>
          <p:cNvPr id="24" name="Shape 22"/>
          <p:cNvSpPr/>
          <p:nvPr/>
        </p:nvSpPr>
        <p:spPr>
          <a:xfrm>
            <a:off x="384048" y="4846320"/>
            <a:ext cx="1417320" cy="658368"/>
          </a:xfrm>
          <a:prstGeom prst="rect">
            <a:avLst/>
          </a:prstGeom>
          <a:solidFill>
            <a:srgbClr val="D4A843"/>
          </a:solidFill>
          <a:ln/>
        </p:spPr>
      </p:sp>
      <p:sp>
        <p:nvSpPr>
          <p:cNvPr id="25" name="Text 23"/>
          <p:cNvSpPr/>
          <p:nvPr/>
        </p:nvSpPr>
        <p:spPr>
          <a:xfrm>
            <a:off x="384048" y="4956048"/>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6" name="Text 24"/>
          <p:cNvSpPr/>
          <p:nvPr/>
        </p:nvSpPr>
        <p:spPr>
          <a:xfrm>
            <a:off x="1901952" y="4956048"/>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今週中にスマホ料金と保険の月額を確認し、見直しを検討する</a:t>
            </a:r>
            <a:endParaRPr lang="en-US" sz="1400" dirty="0"/>
          </a:p>
        </p:txBody>
      </p:sp>
      <p:sp>
        <p:nvSpPr>
          <p:cNvPr id="27" name="Shape 25"/>
          <p:cNvSpPr/>
          <p:nvPr/>
        </p:nvSpPr>
        <p:spPr>
          <a:xfrm>
            <a:off x="384048" y="5650992"/>
            <a:ext cx="11228832" cy="566928"/>
          </a:xfrm>
          <a:prstGeom prst="rect">
            <a:avLst/>
          </a:prstGeom>
          <a:solidFill>
            <a:srgbClr val="EEF3FB"/>
          </a:solidFill>
          <a:ln w="12700">
            <a:solidFill>
              <a:srgbClr val="1565C0"/>
            </a:solidFill>
            <a:prstDash val="solid"/>
          </a:ln>
        </p:spPr>
      </p:sp>
      <p:sp>
        <p:nvSpPr>
          <p:cNvPr id="28" name="Text 26"/>
          <p:cNvSpPr/>
          <p:nvPr/>
        </p:nvSpPr>
        <p:spPr>
          <a:xfrm>
            <a:off x="530352" y="5705856"/>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「削減＝我慢」ではなく「同等のサービスを安く買う」という発想で取り組む</a:t>
            </a:r>
            <a:endParaRPr lang="en-US" sz="1350" dirty="0"/>
          </a:p>
        </p:txBody>
      </p:sp>
      <p:sp>
        <p:nvSpPr>
          <p:cNvPr id="29" name="Text 27"/>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30" name="Text 28"/>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03</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変動費の最適化</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月 3千〜1.5万円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〜ゼロにしなくていい。まず"漏れ"をふさぐだけ〜</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食費：まとめ買い＋冷凍活用。業務スーパー・コストコの活用で月5,000〜10,000円削減</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外食費：QRコード決済のポイント還元デー（PayPay等）を活用し、実質割引で外食する</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趣味・娯楽：図書館・動画配信の共有プランなどで月2,000〜5,000円の代替</a:t>
            </a:r>
            <a:endParaRPr lang="en-US" sz="1550" dirty="0"/>
          </a:p>
        </p:txBody>
      </p:sp>
      <p:sp>
        <p:nvSpPr>
          <p:cNvPr id="20" name="Shape 18"/>
          <p:cNvSpPr/>
          <p:nvPr/>
        </p:nvSpPr>
        <p:spPr>
          <a:xfrm>
            <a:off x="384048" y="4059936"/>
            <a:ext cx="11228832" cy="658368"/>
          </a:xfrm>
          <a:prstGeom prst="rect">
            <a:avLst/>
          </a:prstGeom>
          <a:solidFill>
            <a:srgbClr val="FFF8E1"/>
          </a:solidFill>
          <a:ln w="12700">
            <a:solidFill>
              <a:srgbClr val="D4A843"/>
            </a:solidFill>
            <a:prstDash val="solid"/>
          </a:ln>
        </p:spPr>
      </p:sp>
      <p:sp>
        <p:nvSpPr>
          <p:cNvPr id="21" name="Shape 19"/>
          <p:cNvSpPr/>
          <p:nvPr/>
        </p:nvSpPr>
        <p:spPr>
          <a:xfrm>
            <a:off x="384048" y="4059936"/>
            <a:ext cx="1417320" cy="658368"/>
          </a:xfrm>
          <a:prstGeom prst="rect">
            <a:avLst/>
          </a:prstGeom>
          <a:solidFill>
            <a:srgbClr val="D4A843"/>
          </a:solidFill>
          <a:ln/>
        </p:spPr>
      </p:sp>
      <p:sp>
        <p:nvSpPr>
          <p:cNvPr id="22" name="Text 20"/>
          <p:cNvSpPr/>
          <p:nvPr/>
        </p:nvSpPr>
        <p:spPr>
          <a:xfrm>
            <a:off x="384048" y="4169664"/>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3" name="Text 21"/>
          <p:cNvSpPr/>
          <p:nvPr/>
        </p:nvSpPr>
        <p:spPr>
          <a:xfrm>
            <a:off x="1901952" y="4169664"/>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今月の食費・外食費・サブスクを1週間分だけ記録し「漏れ」を可視化する</a:t>
            </a:r>
            <a:endParaRPr lang="en-US" sz="1400" dirty="0"/>
          </a:p>
        </p:txBody>
      </p:sp>
      <p:sp>
        <p:nvSpPr>
          <p:cNvPr id="24" name="Shape 22"/>
          <p:cNvSpPr/>
          <p:nvPr/>
        </p:nvSpPr>
        <p:spPr>
          <a:xfrm>
            <a:off x="384048" y="4864608"/>
            <a:ext cx="11228832" cy="566928"/>
          </a:xfrm>
          <a:prstGeom prst="rect">
            <a:avLst/>
          </a:prstGeom>
          <a:solidFill>
            <a:srgbClr val="EEF3FB"/>
          </a:solidFill>
          <a:ln w="12700">
            <a:solidFill>
              <a:srgbClr val="1565C0"/>
            </a:solidFill>
            <a:prstDash val="solid"/>
          </a:ln>
        </p:spPr>
      </p:sp>
      <p:sp>
        <p:nvSpPr>
          <p:cNvPr id="25" name="Text 23"/>
          <p:cNvSpPr/>
          <p:nvPr/>
        </p:nvSpPr>
        <p:spPr>
          <a:xfrm>
            <a:off x="530352" y="4919472"/>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米国発「ノースペンドデー」：週に1日を消費ゼロの日にするだけで意識が大きく変わる</a:t>
            </a:r>
            <a:endParaRPr lang="en-US" sz="1350" dirty="0"/>
          </a:p>
        </p:txBody>
      </p:sp>
      <p:sp>
        <p:nvSpPr>
          <p:cNvPr id="26" name="Text 24"/>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7" name="Text 25"/>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04</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キャッシュレス還元の集約</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月 2千〜1万円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〜すでに使っているお金を"ポイント"に変換〜</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年会費無料×高還元カード1〜2枚に支出を集中（楽天カード最大3%・PayPayカード最大5%）</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公共料金・保険料・通販・ガソリンもすべてカード払いに統一する</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月30万円支出 × 還元率2% ＝ 月6,000円 → 年72,000円の軍資金が自動的に積み上がる</a:t>
            </a:r>
            <a:endParaRPr lang="en-US" sz="1550" dirty="0"/>
          </a:p>
        </p:txBody>
      </p:sp>
      <p:sp>
        <p:nvSpPr>
          <p:cNvPr id="20" name="Shape 18"/>
          <p:cNvSpPr/>
          <p:nvPr/>
        </p:nvSpPr>
        <p:spPr>
          <a:xfrm>
            <a:off x="384048" y="3968496"/>
            <a:ext cx="438912" cy="438912"/>
          </a:xfrm>
          <a:prstGeom prst="rect">
            <a:avLst/>
          </a:prstGeom>
          <a:solidFill>
            <a:srgbClr val="1565C0"/>
          </a:solidFill>
          <a:ln/>
        </p:spPr>
      </p:sp>
      <p:sp>
        <p:nvSpPr>
          <p:cNvPr id="21" name="Text 19"/>
          <p:cNvSpPr/>
          <p:nvPr/>
        </p:nvSpPr>
        <p:spPr>
          <a:xfrm>
            <a:off x="384048" y="3968496"/>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950976" y="3895344"/>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楽天ポイント投資・PayPay資産運用で「ポイントをそのまま投資に回す」設定も活用可能</a:t>
            </a:r>
            <a:endParaRPr lang="en-US" sz="1550" dirty="0"/>
          </a:p>
        </p:txBody>
      </p:sp>
      <p:sp>
        <p:nvSpPr>
          <p:cNvPr id="23" name="Shape 21"/>
          <p:cNvSpPr/>
          <p:nvPr/>
        </p:nvSpPr>
        <p:spPr>
          <a:xfrm>
            <a:off x="384048" y="4846320"/>
            <a:ext cx="11228832" cy="658368"/>
          </a:xfrm>
          <a:prstGeom prst="rect">
            <a:avLst/>
          </a:prstGeom>
          <a:solidFill>
            <a:srgbClr val="FFF8E1"/>
          </a:solidFill>
          <a:ln w="12700">
            <a:solidFill>
              <a:srgbClr val="D4A843"/>
            </a:solidFill>
            <a:prstDash val="solid"/>
          </a:ln>
        </p:spPr>
      </p:sp>
      <p:sp>
        <p:nvSpPr>
          <p:cNvPr id="24" name="Shape 22"/>
          <p:cNvSpPr/>
          <p:nvPr/>
        </p:nvSpPr>
        <p:spPr>
          <a:xfrm>
            <a:off x="384048" y="4846320"/>
            <a:ext cx="1417320" cy="658368"/>
          </a:xfrm>
          <a:prstGeom prst="rect">
            <a:avLst/>
          </a:prstGeom>
          <a:solidFill>
            <a:srgbClr val="D4A843"/>
          </a:solidFill>
          <a:ln/>
        </p:spPr>
      </p:sp>
      <p:sp>
        <p:nvSpPr>
          <p:cNvPr id="25" name="Text 23"/>
          <p:cNvSpPr/>
          <p:nvPr/>
        </p:nvSpPr>
        <p:spPr>
          <a:xfrm>
            <a:off x="384048" y="4956048"/>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6" name="Text 24"/>
          <p:cNvSpPr/>
          <p:nvPr/>
        </p:nvSpPr>
        <p:spPr>
          <a:xfrm>
            <a:off x="1901952" y="4956048"/>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今月中に高還元クレカに支出を集約し、ポイントの投資振替を設定する</a:t>
            </a:r>
            <a:endParaRPr lang="en-US" sz="1400" dirty="0"/>
          </a:p>
        </p:txBody>
      </p:sp>
      <p:sp>
        <p:nvSpPr>
          <p:cNvPr id="27" name="Shape 25"/>
          <p:cNvSpPr/>
          <p:nvPr/>
        </p:nvSpPr>
        <p:spPr>
          <a:xfrm>
            <a:off x="384048" y="5650992"/>
            <a:ext cx="11228832" cy="566928"/>
          </a:xfrm>
          <a:prstGeom prst="rect">
            <a:avLst/>
          </a:prstGeom>
          <a:solidFill>
            <a:srgbClr val="EEF3FB"/>
          </a:solidFill>
          <a:ln w="12700">
            <a:solidFill>
              <a:srgbClr val="1565C0"/>
            </a:solidFill>
            <a:prstDash val="solid"/>
          </a:ln>
        </p:spPr>
      </p:sp>
      <p:sp>
        <p:nvSpPr>
          <p:cNvPr id="28" name="Text 26"/>
          <p:cNvSpPr/>
          <p:nvPr/>
        </p:nvSpPr>
        <p:spPr>
          <a:xfrm>
            <a:off x="530352" y="5705856"/>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ポイントは「貯めるもの」ではなく「現金と同価値の資産」として即活用するのが鉄則</a:t>
            </a:r>
            <a:endParaRPr lang="en-US" sz="1350" dirty="0"/>
          </a:p>
        </p:txBody>
      </p:sp>
      <p:sp>
        <p:nvSpPr>
          <p:cNvPr id="29" name="Text 27"/>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30" name="Text 28"/>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05</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ポイントサイト・アフィリエイト活用</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月 3千〜3万円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〜日常のサービス申し込みを"収入"に変える〜</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A8.net：国内最大のASP。ブログ不要で証券口座・クレカ開設の自己アフィリが可能</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ハピタス・モッピー：クレカ発行・口座開設等で1案件あたり数千〜数万ポイント獲得</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ポイントタウン：アンケート・ゲーム・ショッピングで毎日コツコツと換金可能ポイントを獲得</a:t>
            </a:r>
            <a:endParaRPr lang="en-US" sz="1550" dirty="0"/>
          </a:p>
        </p:txBody>
      </p:sp>
      <p:sp>
        <p:nvSpPr>
          <p:cNvPr id="20" name="Shape 18"/>
          <p:cNvSpPr/>
          <p:nvPr/>
        </p:nvSpPr>
        <p:spPr>
          <a:xfrm>
            <a:off x="384048" y="4059936"/>
            <a:ext cx="11228832" cy="658368"/>
          </a:xfrm>
          <a:prstGeom prst="rect">
            <a:avLst/>
          </a:prstGeom>
          <a:solidFill>
            <a:srgbClr val="FFF8E1"/>
          </a:solidFill>
          <a:ln w="12700">
            <a:solidFill>
              <a:srgbClr val="D4A843"/>
            </a:solidFill>
            <a:prstDash val="solid"/>
          </a:ln>
        </p:spPr>
      </p:sp>
      <p:sp>
        <p:nvSpPr>
          <p:cNvPr id="21" name="Shape 19"/>
          <p:cNvSpPr/>
          <p:nvPr/>
        </p:nvSpPr>
        <p:spPr>
          <a:xfrm>
            <a:off x="384048" y="4059936"/>
            <a:ext cx="1417320" cy="658368"/>
          </a:xfrm>
          <a:prstGeom prst="rect">
            <a:avLst/>
          </a:prstGeom>
          <a:solidFill>
            <a:srgbClr val="D4A843"/>
          </a:solidFill>
          <a:ln/>
        </p:spPr>
      </p:sp>
      <p:sp>
        <p:nvSpPr>
          <p:cNvPr id="22" name="Text 20"/>
          <p:cNvSpPr/>
          <p:nvPr/>
        </p:nvSpPr>
        <p:spPr>
          <a:xfrm>
            <a:off x="384048" y="4169664"/>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3" name="Text 21"/>
          <p:cNvSpPr/>
          <p:nvPr/>
        </p:nvSpPr>
        <p:spPr>
          <a:xfrm>
            <a:off x="1901952" y="4169664"/>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今週中にハピタスまたはモッピーに登録し、証券口座開設の案件を1件経由する</a:t>
            </a:r>
            <a:endParaRPr lang="en-US" sz="1400" dirty="0"/>
          </a:p>
        </p:txBody>
      </p:sp>
      <p:sp>
        <p:nvSpPr>
          <p:cNvPr id="24" name="Shape 22"/>
          <p:cNvSpPr/>
          <p:nvPr/>
        </p:nvSpPr>
        <p:spPr>
          <a:xfrm>
            <a:off x="384048" y="4864608"/>
            <a:ext cx="11228832" cy="566928"/>
          </a:xfrm>
          <a:prstGeom prst="rect">
            <a:avLst/>
          </a:prstGeom>
          <a:solidFill>
            <a:srgbClr val="EEF3FB"/>
          </a:solidFill>
          <a:ln w="12700">
            <a:solidFill>
              <a:srgbClr val="1565C0"/>
            </a:solidFill>
            <a:prstDash val="solid"/>
          </a:ln>
        </p:spPr>
      </p:sp>
      <p:sp>
        <p:nvSpPr>
          <p:cNvPr id="25" name="Text 23"/>
          <p:cNvSpPr/>
          <p:nvPr/>
        </p:nvSpPr>
        <p:spPr>
          <a:xfrm>
            <a:off x="530352" y="4919472"/>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「ポイ活」自体を目的にしない。既定の支出・行動をポイントサイト経由に変えるだけでOK</a:t>
            </a:r>
            <a:endParaRPr lang="en-US" sz="1350" dirty="0"/>
          </a:p>
        </p:txBody>
      </p:sp>
      <p:sp>
        <p:nvSpPr>
          <p:cNvPr id="26" name="Text 24"/>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7" name="Text 25"/>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06</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不用品売却・断捨離収益化</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初回 〜5万円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〜眠っている「資産」を現金化する〜</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メルカリ：衣類・雑貨・本。スマホ1枚で写真を撮って即出品。初回断捨離で数万円も</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ヤフオク：ブランド品・趣味グッズ・レア品。入札形式で高値がつきやすい</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ハードオフ・買取専門店：持ち込み即日現金化。家電・楽器・カメラ類に有効</a:t>
            </a:r>
            <a:endParaRPr lang="en-US" sz="1550" dirty="0"/>
          </a:p>
        </p:txBody>
      </p:sp>
      <p:sp>
        <p:nvSpPr>
          <p:cNvPr id="20" name="Shape 18"/>
          <p:cNvSpPr/>
          <p:nvPr/>
        </p:nvSpPr>
        <p:spPr>
          <a:xfrm>
            <a:off x="384048" y="4059936"/>
            <a:ext cx="11228832" cy="658368"/>
          </a:xfrm>
          <a:prstGeom prst="rect">
            <a:avLst/>
          </a:prstGeom>
          <a:solidFill>
            <a:srgbClr val="FFF8E1"/>
          </a:solidFill>
          <a:ln w="12700">
            <a:solidFill>
              <a:srgbClr val="D4A843"/>
            </a:solidFill>
            <a:prstDash val="solid"/>
          </a:ln>
        </p:spPr>
      </p:sp>
      <p:sp>
        <p:nvSpPr>
          <p:cNvPr id="21" name="Shape 19"/>
          <p:cNvSpPr/>
          <p:nvPr/>
        </p:nvSpPr>
        <p:spPr>
          <a:xfrm>
            <a:off x="384048" y="4059936"/>
            <a:ext cx="1417320" cy="658368"/>
          </a:xfrm>
          <a:prstGeom prst="rect">
            <a:avLst/>
          </a:prstGeom>
          <a:solidFill>
            <a:srgbClr val="D4A843"/>
          </a:solidFill>
          <a:ln/>
        </p:spPr>
      </p:sp>
      <p:sp>
        <p:nvSpPr>
          <p:cNvPr id="22" name="Text 20"/>
          <p:cNvSpPr/>
          <p:nvPr/>
        </p:nvSpPr>
        <p:spPr>
          <a:xfrm>
            <a:off x="384048" y="4169664"/>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3" name="Text 21"/>
          <p:cNvSpPr/>
          <p:nvPr/>
        </p:nvSpPr>
        <p:spPr>
          <a:xfrm>
            <a:off x="1901952" y="4169664"/>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今日：家の中を15分で見回し「半年使っていないもの」をスマホでリストアップする</a:t>
            </a:r>
            <a:endParaRPr lang="en-US" sz="1400" dirty="0"/>
          </a:p>
        </p:txBody>
      </p:sp>
      <p:sp>
        <p:nvSpPr>
          <p:cNvPr id="24" name="Shape 22"/>
          <p:cNvSpPr/>
          <p:nvPr/>
        </p:nvSpPr>
        <p:spPr>
          <a:xfrm>
            <a:off x="384048" y="4864608"/>
            <a:ext cx="11228832" cy="566928"/>
          </a:xfrm>
          <a:prstGeom prst="rect">
            <a:avLst/>
          </a:prstGeom>
          <a:solidFill>
            <a:srgbClr val="EEF3FB"/>
          </a:solidFill>
          <a:ln w="12700">
            <a:solidFill>
              <a:srgbClr val="1565C0"/>
            </a:solidFill>
            <a:prstDash val="solid"/>
          </a:ln>
        </p:spPr>
      </p:sp>
      <p:sp>
        <p:nvSpPr>
          <p:cNvPr id="25" name="Text 23"/>
          <p:cNvSpPr/>
          <p:nvPr/>
        </p:nvSpPr>
        <p:spPr>
          <a:xfrm>
            <a:off x="530352" y="4919472"/>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「一度きり」だからこそ種銭作りに最適。副産物として"衝動買い防止"の意識も生まれる</a:t>
            </a:r>
            <a:endParaRPr lang="en-US" sz="1350" dirty="0"/>
          </a:p>
        </p:txBody>
      </p:sp>
      <p:sp>
        <p:nvSpPr>
          <p:cNvPr id="26" name="Text 24"/>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7" name="Text 25"/>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07</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副業・スキル収益化</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月 1〜10万円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〜本業以外の「第二の収入源」を作る〜</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クラウドワークス・ランサーズ：ライティング・データ入力・翻訳。スキル不要案件も豊富</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ストアカ・ ココナラ：職歴・趣味・専門知識を「教える商品」に変換。月1〜10万円</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せどり・転売：仕入れ→販売のサイクルを回す。月3〜20万円の実績者も多い</a:t>
            </a:r>
            <a:endParaRPr lang="en-US" sz="1550" dirty="0"/>
          </a:p>
        </p:txBody>
      </p:sp>
      <p:sp>
        <p:nvSpPr>
          <p:cNvPr id="20" name="Shape 18"/>
          <p:cNvSpPr/>
          <p:nvPr/>
        </p:nvSpPr>
        <p:spPr>
          <a:xfrm>
            <a:off x="384048" y="3968496"/>
            <a:ext cx="438912" cy="438912"/>
          </a:xfrm>
          <a:prstGeom prst="rect">
            <a:avLst/>
          </a:prstGeom>
          <a:solidFill>
            <a:srgbClr val="1565C0"/>
          </a:solidFill>
          <a:ln/>
        </p:spPr>
      </p:sp>
      <p:sp>
        <p:nvSpPr>
          <p:cNvPr id="21" name="Text 19"/>
          <p:cNvSpPr/>
          <p:nvPr/>
        </p:nvSpPr>
        <p:spPr>
          <a:xfrm>
            <a:off x="384048" y="3968496"/>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950976" y="3895344"/>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まず月1〜2万円の達成を目標に。「全額を投資口座に回す」ルールを最初から決める</a:t>
            </a:r>
            <a:endParaRPr lang="en-US" sz="1550" dirty="0"/>
          </a:p>
        </p:txBody>
      </p:sp>
      <p:sp>
        <p:nvSpPr>
          <p:cNvPr id="23" name="Shape 21"/>
          <p:cNvSpPr/>
          <p:nvPr/>
        </p:nvSpPr>
        <p:spPr>
          <a:xfrm>
            <a:off x="384048" y="4846320"/>
            <a:ext cx="11228832" cy="658368"/>
          </a:xfrm>
          <a:prstGeom prst="rect">
            <a:avLst/>
          </a:prstGeom>
          <a:solidFill>
            <a:srgbClr val="FFF8E1"/>
          </a:solidFill>
          <a:ln w="12700">
            <a:solidFill>
              <a:srgbClr val="D4A843"/>
            </a:solidFill>
            <a:prstDash val="solid"/>
          </a:ln>
        </p:spPr>
      </p:sp>
      <p:sp>
        <p:nvSpPr>
          <p:cNvPr id="24" name="Shape 22"/>
          <p:cNvSpPr/>
          <p:nvPr/>
        </p:nvSpPr>
        <p:spPr>
          <a:xfrm>
            <a:off x="384048" y="4846320"/>
            <a:ext cx="1417320" cy="658368"/>
          </a:xfrm>
          <a:prstGeom prst="rect">
            <a:avLst/>
          </a:prstGeom>
          <a:solidFill>
            <a:srgbClr val="D4A843"/>
          </a:solidFill>
          <a:ln/>
        </p:spPr>
      </p:sp>
      <p:sp>
        <p:nvSpPr>
          <p:cNvPr id="25" name="Text 23"/>
          <p:cNvSpPr/>
          <p:nvPr/>
        </p:nvSpPr>
        <p:spPr>
          <a:xfrm>
            <a:off x="384048" y="4956048"/>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6" name="Text 24"/>
          <p:cNvSpPr/>
          <p:nvPr/>
        </p:nvSpPr>
        <p:spPr>
          <a:xfrm>
            <a:off x="1901952" y="4956048"/>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今月中：自分の職歴・趣味から「売れるスキル」を1つ書き出してみる</a:t>
            </a:r>
            <a:endParaRPr lang="en-US" sz="1400" dirty="0"/>
          </a:p>
        </p:txBody>
      </p:sp>
      <p:sp>
        <p:nvSpPr>
          <p:cNvPr id="27" name="Shape 25"/>
          <p:cNvSpPr/>
          <p:nvPr/>
        </p:nvSpPr>
        <p:spPr>
          <a:xfrm>
            <a:off x="384048" y="5650992"/>
            <a:ext cx="11228832" cy="566928"/>
          </a:xfrm>
          <a:prstGeom prst="rect">
            <a:avLst/>
          </a:prstGeom>
          <a:solidFill>
            <a:srgbClr val="EEF3FB"/>
          </a:solidFill>
          <a:ln w="12700">
            <a:solidFill>
              <a:srgbClr val="1565C0"/>
            </a:solidFill>
            <a:prstDash val="solid"/>
          </a:ln>
        </p:spPr>
      </p:sp>
      <p:sp>
        <p:nvSpPr>
          <p:cNvPr id="28" name="Text 26"/>
          <p:cNvSpPr/>
          <p:nvPr/>
        </p:nvSpPr>
        <p:spPr>
          <a:xfrm>
            <a:off x="530352" y="5705856"/>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長年のキャリア・人脈・専門知識は「副業の武器」。経験があるほど高単価になりやすい</a:t>
            </a:r>
            <a:endParaRPr lang="en-US" sz="1350" dirty="0"/>
          </a:p>
        </p:txBody>
      </p:sp>
      <p:sp>
        <p:nvSpPr>
          <p:cNvPr id="29" name="Text 27"/>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30" name="Text 28"/>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D4A843"/>
          </a:solidFill>
          <a:ln/>
        </p:spPr>
      </p:sp>
      <p:sp>
        <p:nvSpPr>
          <p:cNvPr id="5" name="Shape 3"/>
          <p:cNvSpPr/>
          <p:nvPr/>
        </p:nvSpPr>
        <p:spPr>
          <a:xfrm>
            <a:off x="365760" y="137160"/>
            <a:ext cx="749808" cy="749808"/>
          </a:xfrm>
          <a:prstGeom prst="rect">
            <a:avLst/>
          </a:prstGeom>
          <a:solidFill>
            <a:srgbClr val="D4A843"/>
          </a:solidFill>
          <a:ln/>
        </p:spPr>
      </p:sp>
      <p:sp>
        <p:nvSpPr>
          <p:cNvPr id="6" name="Text 4"/>
          <p:cNvSpPr/>
          <p:nvPr/>
        </p:nvSpPr>
        <p:spPr>
          <a:xfrm>
            <a:off x="365760" y="137160"/>
            <a:ext cx="749808" cy="749808"/>
          </a:xfrm>
          <a:prstGeom prst="rect">
            <a:avLst/>
          </a:prstGeom>
          <a:noFill/>
          <a:ln/>
        </p:spPr>
        <p:txBody>
          <a:bodyPr wrap="square" rtlCol="0" anchor="ctr"/>
          <a:lstStyle/>
          <a:p>
            <a:pPr algn="ctr" indent="0" marL="0">
              <a:buNone/>
            </a:pPr>
            <a:r>
              <a:rPr lang="en-US" sz="3000" b="1" dirty="0">
                <a:solidFill>
                  <a:srgbClr val="1A2744"/>
                </a:solidFill>
                <a:latin typeface="Calibri" pitchFamily="34" charset="0"/>
                <a:ea typeface="Calibri" pitchFamily="34" charset="-122"/>
                <a:cs typeface="Calibri" pitchFamily="34" charset="-120"/>
              </a:rPr>
              <a:t>08</a:t>
            </a:r>
            <a:endParaRPr lang="en-US" sz="3000" dirty="0"/>
          </a:p>
        </p:txBody>
      </p:sp>
      <p:sp>
        <p:nvSpPr>
          <p:cNvPr id="7" name="Text 5"/>
          <p:cNvSpPr/>
          <p:nvPr/>
        </p:nvSpPr>
        <p:spPr>
          <a:xfrm>
            <a:off x="1261872" y="164592"/>
            <a:ext cx="7863840" cy="713232"/>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税制優遇制度の活用</a:t>
            </a:r>
            <a:endParaRPr lang="en-US" sz="2600" dirty="0"/>
          </a:p>
        </p:txBody>
      </p:sp>
      <p:sp>
        <p:nvSpPr>
          <p:cNvPr id="8" name="Shape 6"/>
          <p:cNvSpPr/>
          <p:nvPr/>
        </p:nvSpPr>
        <p:spPr>
          <a:xfrm>
            <a:off x="9281160" y="164592"/>
            <a:ext cx="2331720" cy="658368"/>
          </a:xfrm>
          <a:prstGeom prst="rect">
            <a:avLst/>
          </a:prstGeom>
          <a:solidFill>
            <a:srgbClr val="E8602C"/>
          </a:solidFill>
          <a:ln/>
        </p:spPr>
      </p:sp>
      <p:sp>
        <p:nvSpPr>
          <p:cNvPr id="9" name="Text 7"/>
          <p:cNvSpPr/>
          <p:nvPr/>
        </p:nvSpPr>
        <p:spPr>
          <a:xfrm>
            <a:off x="9281160" y="164592"/>
            <a:ext cx="2331720" cy="658368"/>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年 5〜20万円</a:t>
            </a:r>
            <a:endParaRPr lang="en-US" sz="1600" dirty="0"/>
          </a:p>
        </p:txBody>
      </p:sp>
      <p:sp>
        <p:nvSpPr>
          <p:cNvPr id="10" name="Text 8"/>
          <p:cNvSpPr/>
          <p:nvPr/>
        </p:nvSpPr>
        <p:spPr>
          <a:xfrm>
            <a:off x="457200" y="1060704"/>
            <a:ext cx="11155680" cy="384048"/>
          </a:xfrm>
          <a:prstGeom prst="rect">
            <a:avLst/>
          </a:prstGeom>
          <a:noFill/>
          <a:ln/>
        </p:spPr>
        <p:txBody>
          <a:bodyPr wrap="square" rtlCol="0" anchor="ctr"/>
          <a:lstStyle/>
          <a:p>
            <a:pPr indent="0" marL="0">
              <a:buNone/>
            </a:pPr>
            <a:r>
              <a:rPr lang="en-US" sz="1400" i="1" dirty="0">
                <a:solidFill>
                  <a:srgbClr val="7A8A9A"/>
                </a:solidFill>
                <a:latin typeface="メイリオ" pitchFamily="34" charset="0"/>
                <a:ea typeface="メイリオ" pitchFamily="34" charset="-122"/>
                <a:cs typeface="メイリオ" pitchFamily="34" charset="-120"/>
              </a:rPr>
              <a:t>〜払わなくていい税金を取り戻し、投資に回す〜</a:t>
            </a:r>
            <a:endParaRPr lang="en-US" sz="1400" dirty="0"/>
          </a:p>
        </p:txBody>
      </p:sp>
      <p:sp>
        <p:nvSpPr>
          <p:cNvPr id="11" name="Shape 9"/>
          <p:cNvSpPr/>
          <p:nvPr/>
        </p:nvSpPr>
        <p:spPr>
          <a:xfrm>
            <a:off x="384048" y="1609344"/>
            <a:ext cx="438912" cy="438912"/>
          </a:xfrm>
          <a:prstGeom prst="rect">
            <a:avLst/>
          </a:prstGeom>
          <a:solidFill>
            <a:srgbClr val="1565C0"/>
          </a:solidFill>
          <a:ln/>
        </p:spPr>
      </p:sp>
      <p:sp>
        <p:nvSpPr>
          <p:cNvPr id="12" name="Text 10"/>
          <p:cNvSpPr/>
          <p:nvPr/>
        </p:nvSpPr>
        <p:spPr>
          <a:xfrm>
            <a:off x="384048" y="160934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50976" y="1536192"/>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iDeCo：掛金が全額所得控除。年収600万円で月2万円拠出すれば年間約4〜6万円の節税</a:t>
            </a:r>
            <a:endParaRPr lang="en-US" sz="1550" dirty="0"/>
          </a:p>
        </p:txBody>
      </p:sp>
      <p:sp>
        <p:nvSpPr>
          <p:cNvPr id="14" name="Shape 12"/>
          <p:cNvSpPr/>
          <p:nvPr/>
        </p:nvSpPr>
        <p:spPr>
          <a:xfrm>
            <a:off x="384048" y="2395728"/>
            <a:ext cx="438912" cy="438912"/>
          </a:xfrm>
          <a:prstGeom prst="rect">
            <a:avLst/>
          </a:prstGeom>
          <a:solidFill>
            <a:srgbClr val="1565C0"/>
          </a:solidFill>
          <a:ln/>
        </p:spPr>
      </p:sp>
      <p:sp>
        <p:nvSpPr>
          <p:cNvPr id="15" name="Text 13"/>
          <p:cNvSpPr/>
          <p:nvPr/>
        </p:nvSpPr>
        <p:spPr>
          <a:xfrm>
            <a:off x="384048" y="239572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50976" y="2322576"/>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ふるさと納税：実質2,000円の自己負担で返礼品受取＋住民税控除。食費削減にも直結</a:t>
            </a:r>
            <a:endParaRPr lang="en-US" sz="1550" dirty="0"/>
          </a:p>
        </p:txBody>
      </p:sp>
      <p:sp>
        <p:nvSpPr>
          <p:cNvPr id="17" name="Shape 15"/>
          <p:cNvSpPr/>
          <p:nvPr/>
        </p:nvSpPr>
        <p:spPr>
          <a:xfrm>
            <a:off x="384048" y="3182112"/>
            <a:ext cx="438912" cy="438912"/>
          </a:xfrm>
          <a:prstGeom prst="rect">
            <a:avLst/>
          </a:prstGeom>
          <a:solidFill>
            <a:srgbClr val="1565C0"/>
          </a:solidFill>
          <a:ln/>
        </p:spPr>
      </p:sp>
      <p:sp>
        <p:nvSpPr>
          <p:cNvPr id="18" name="Text 16"/>
          <p:cNvSpPr/>
          <p:nvPr/>
        </p:nvSpPr>
        <p:spPr>
          <a:xfrm>
            <a:off x="384048" y="31821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50976" y="3108960"/>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NISA（新NISA）：運用益・配当が非課税。長期資産形成と組み合わせてフル活用</a:t>
            </a:r>
            <a:endParaRPr lang="en-US" sz="1550" dirty="0"/>
          </a:p>
        </p:txBody>
      </p:sp>
      <p:sp>
        <p:nvSpPr>
          <p:cNvPr id="20" name="Shape 18"/>
          <p:cNvSpPr/>
          <p:nvPr/>
        </p:nvSpPr>
        <p:spPr>
          <a:xfrm>
            <a:off x="384048" y="3968496"/>
            <a:ext cx="438912" cy="438912"/>
          </a:xfrm>
          <a:prstGeom prst="rect">
            <a:avLst/>
          </a:prstGeom>
          <a:solidFill>
            <a:srgbClr val="1565C0"/>
          </a:solidFill>
          <a:ln/>
        </p:spPr>
      </p:sp>
      <p:sp>
        <p:nvSpPr>
          <p:cNvPr id="21" name="Text 19"/>
          <p:cNvSpPr/>
          <p:nvPr/>
        </p:nvSpPr>
        <p:spPr>
          <a:xfrm>
            <a:off x="384048" y="3968496"/>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950976" y="3895344"/>
            <a:ext cx="10652760" cy="603504"/>
          </a:xfrm>
          <a:prstGeom prst="rect">
            <a:avLst/>
          </a:prstGeom>
          <a:noFill/>
          <a:ln/>
        </p:spPr>
        <p:txBody>
          <a:bodyPr wrap="square" rtlCol="0" anchor="ctr"/>
          <a:lstStyle/>
          <a:p>
            <a:pPr indent="0" marL="0">
              <a:buNone/>
            </a:pPr>
            <a:r>
              <a:rPr lang="en-US" sz="1550" dirty="0">
                <a:solidFill>
                  <a:srgbClr val="333333"/>
                </a:solidFill>
                <a:latin typeface="メイリオ" pitchFamily="34" charset="0"/>
                <a:ea typeface="メイリオ" pitchFamily="34" charset="-122"/>
                <a:cs typeface="メイリオ" pitchFamily="34" charset="-120"/>
              </a:rPr>
              <a:t>医療費控除・副業の青色申告：経費計上で課税所得を大幅に圧縮できる</a:t>
            </a:r>
            <a:endParaRPr lang="en-US" sz="1550" dirty="0"/>
          </a:p>
        </p:txBody>
      </p:sp>
      <p:sp>
        <p:nvSpPr>
          <p:cNvPr id="23" name="Shape 21"/>
          <p:cNvSpPr/>
          <p:nvPr/>
        </p:nvSpPr>
        <p:spPr>
          <a:xfrm>
            <a:off x="384048" y="4846320"/>
            <a:ext cx="11228832" cy="658368"/>
          </a:xfrm>
          <a:prstGeom prst="rect">
            <a:avLst/>
          </a:prstGeom>
          <a:solidFill>
            <a:srgbClr val="FFF8E1"/>
          </a:solidFill>
          <a:ln w="12700">
            <a:solidFill>
              <a:srgbClr val="D4A843"/>
            </a:solidFill>
            <a:prstDash val="solid"/>
          </a:ln>
        </p:spPr>
      </p:sp>
      <p:sp>
        <p:nvSpPr>
          <p:cNvPr id="24" name="Shape 22"/>
          <p:cNvSpPr/>
          <p:nvPr/>
        </p:nvSpPr>
        <p:spPr>
          <a:xfrm>
            <a:off x="384048" y="4846320"/>
            <a:ext cx="1417320" cy="658368"/>
          </a:xfrm>
          <a:prstGeom prst="rect">
            <a:avLst/>
          </a:prstGeom>
          <a:solidFill>
            <a:srgbClr val="D4A843"/>
          </a:solidFill>
          <a:ln/>
        </p:spPr>
      </p:sp>
      <p:sp>
        <p:nvSpPr>
          <p:cNvPr id="25" name="Text 23"/>
          <p:cNvSpPr/>
          <p:nvPr/>
        </p:nvSpPr>
        <p:spPr>
          <a:xfrm>
            <a:off x="384048" y="4956048"/>
            <a:ext cx="1417320" cy="438912"/>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今日の一歩</a:t>
            </a:r>
            <a:endParaRPr lang="en-US" sz="1300" dirty="0"/>
          </a:p>
        </p:txBody>
      </p:sp>
      <p:sp>
        <p:nvSpPr>
          <p:cNvPr id="26" name="Text 24"/>
          <p:cNvSpPr/>
          <p:nvPr/>
        </p:nvSpPr>
        <p:spPr>
          <a:xfrm>
            <a:off x="1901952" y="4956048"/>
            <a:ext cx="9601200" cy="438912"/>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今週中：ふるさと納税のシミュレーションサイトで今年の上限額を確認し1件注文する</a:t>
            </a:r>
            <a:endParaRPr lang="en-US" sz="1400" dirty="0"/>
          </a:p>
        </p:txBody>
      </p:sp>
      <p:sp>
        <p:nvSpPr>
          <p:cNvPr id="27" name="Shape 25"/>
          <p:cNvSpPr/>
          <p:nvPr/>
        </p:nvSpPr>
        <p:spPr>
          <a:xfrm>
            <a:off x="384048" y="5650992"/>
            <a:ext cx="11228832" cy="566928"/>
          </a:xfrm>
          <a:prstGeom prst="rect">
            <a:avLst/>
          </a:prstGeom>
          <a:solidFill>
            <a:srgbClr val="EEF3FB"/>
          </a:solidFill>
          <a:ln w="12700">
            <a:solidFill>
              <a:srgbClr val="1565C0"/>
            </a:solidFill>
            <a:prstDash val="solid"/>
          </a:ln>
        </p:spPr>
      </p:sp>
      <p:sp>
        <p:nvSpPr>
          <p:cNvPr id="28" name="Text 26"/>
          <p:cNvSpPr/>
          <p:nvPr/>
        </p:nvSpPr>
        <p:spPr>
          <a:xfrm>
            <a:off x="530352" y="5705856"/>
            <a:ext cx="10972800" cy="457200"/>
          </a:xfrm>
          <a:prstGeom prst="rect">
            <a:avLst/>
          </a:prstGeom>
          <a:noFill/>
          <a:ln/>
        </p:spPr>
        <p:txBody>
          <a:bodyPr wrap="square" rtlCol="0" anchor="ctr"/>
          <a:lstStyle/>
          <a:p>
            <a:pPr indent="0" marL="0">
              <a:buNone/>
            </a:pPr>
            <a:r>
              <a:rPr lang="en-US" sz="1350" b="1" dirty="0">
                <a:solidFill>
                  <a:srgbClr val="1565C0"/>
                </a:solidFill>
                <a:latin typeface="メイリオ" pitchFamily="34" charset="0"/>
                <a:ea typeface="メイリオ" pitchFamily="34" charset="-122"/>
                <a:cs typeface="メイリオ" pitchFamily="34" charset="-120"/>
              </a:rPr>
              <a:t>節税の恩恵は制度で上限が決まっているが、使い切るだけで年5〜20万円の軍資金になる</a:t>
            </a:r>
            <a:endParaRPr lang="en-US" sz="1350" dirty="0"/>
          </a:p>
        </p:txBody>
      </p:sp>
      <p:sp>
        <p:nvSpPr>
          <p:cNvPr id="29" name="Text 27"/>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30" name="Text 28"/>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0"/>
            <a:ext cx="12192000" cy="64008"/>
          </a:xfrm>
          <a:prstGeom prst="rect">
            <a:avLst/>
          </a:prstGeom>
          <a:solidFill>
            <a:srgbClr val="D4A843"/>
          </a:solidFill>
          <a:ln/>
        </p:spPr>
      </p:sp>
      <p:sp>
        <p:nvSpPr>
          <p:cNvPr id="4" name="Text 2"/>
          <p:cNvSpPr/>
          <p:nvPr/>
        </p:nvSpPr>
        <p:spPr>
          <a:xfrm>
            <a:off x="457200" y="164592"/>
            <a:ext cx="11247120" cy="658368"/>
          </a:xfrm>
          <a:prstGeom prst="rect">
            <a:avLst/>
          </a:prstGeom>
          <a:noFill/>
          <a:ln/>
        </p:spPr>
        <p:txBody>
          <a:bodyPr wrap="square" rtlCol="0" anchor="ctr"/>
          <a:lstStyle/>
          <a:p>
            <a:pPr indent="0" marL="0">
              <a:buNone/>
            </a:pPr>
            <a:r>
              <a:rPr lang="en-US" sz="2800" b="1" dirty="0">
                <a:solidFill>
                  <a:srgbClr val="FFFFFF"/>
                </a:solidFill>
                <a:latin typeface="メイリオ" pitchFamily="34" charset="0"/>
                <a:ea typeface="メイリオ" pitchFamily="34" charset="-122"/>
                <a:cs typeface="メイリオ" pitchFamily="34" charset="-120"/>
              </a:rPr>
              <a:t>8手法を組み合わせると…</a:t>
            </a:r>
            <a:endParaRPr lang="en-US" sz="2800" dirty="0"/>
          </a:p>
        </p:txBody>
      </p:sp>
      <p:sp>
        <p:nvSpPr>
          <p:cNvPr id="5" name="Shape 3"/>
          <p:cNvSpPr/>
          <p:nvPr/>
        </p:nvSpPr>
        <p:spPr>
          <a:xfrm>
            <a:off x="384048" y="1005840"/>
            <a:ext cx="11228832" cy="987552"/>
          </a:xfrm>
          <a:prstGeom prst="rect">
            <a:avLst/>
          </a:prstGeom>
          <a:solidFill>
            <a:srgbClr val="243060"/>
          </a:solidFill>
          <a:ln w="12700">
            <a:solidFill>
              <a:srgbClr val="1565C0"/>
            </a:solidFill>
            <a:prstDash val="solid"/>
          </a:ln>
        </p:spPr>
      </p:sp>
      <p:sp>
        <p:nvSpPr>
          <p:cNvPr id="6" name="Shape 4"/>
          <p:cNvSpPr/>
          <p:nvPr/>
        </p:nvSpPr>
        <p:spPr>
          <a:xfrm>
            <a:off x="384048" y="1005840"/>
            <a:ext cx="868680" cy="987552"/>
          </a:xfrm>
          <a:prstGeom prst="rect">
            <a:avLst/>
          </a:prstGeom>
          <a:solidFill>
            <a:srgbClr val="1565C0"/>
          </a:solidFill>
          <a:ln/>
        </p:spPr>
      </p:sp>
      <p:sp>
        <p:nvSpPr>
          <p:cNvPr id="7" name="Text 5"/>
          <p:cNvSpPr/>
          <p:nvPr/>
        </p:nvSpPr>
        <p:spPr>
          <a:xfrm>
            <a:off x="384048" y="1188720"/>
            <a:ext cx="868680" cy="621792"/>
          </a:xfrm>
          <a:prstGeom prst="rect">
            <a:avLst/>
          </a:prstGeom>
          <a:no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手法①〜④</a:t>
            </a:r>
            <a:endParaRPr lang="en-US" sz="1200" dirty="0"/>
          </a:p>
        </p:txBody>
      </p:sp>
      <p:sp>
        <p:nvSpPr>
          <p:cNvPr id="8" name="Text 6"/>
          <p:cNvSpPr/>
          <p:nvPr/>
        </p:nvSpPr>
        <p:spPr>
          <a:xfrm>
            <a:off x="1371600" y="1207008"/>
            <a:ext cx="6858000" cy="585216"/>
          </a:xfrm>
          <a:prstGeom prst="rect">
            <a:avLst/>
          </a:prstGeom>
          <a:noFill/>
          <a:ln/>
        </p:spPr>
        <p:txBody>
          <a:bodyPr wrap="square" rtlCol="0" anchor="ctr"/>
          <a:lstStyle/>
          <a:p>
            <a:pPr indent="0" marL="0">
              <a:buNone/>
            </a:pPr>
            <a:r>
              <a:rPr lang="en-US" sz="1900" dirty="0">
                <a:solidFill>
                  <a:srgbClr val="FFFFFF"/>
                </a:solidFill>
                <a:latin typeface="メイリオ" pitchFamily="34" charset="0"/>
                <a:ea typeface="メイリオ" pitchFamily="34" charset="-122"/>
                <a:cs typeface="メイリオ" pitchFamily="34" charset="-120"/>
              </a:rPr>
              <a:t>支出設計・還元活用（4手法）</a:t>
            </a:r>
            <a:endParaRPr lang="en-US" sz="1900" dirty="0"/>
          </a:p>
        </p:txBody>
      </p:sp>
      <p:sp>
        <p:nvSpPr>
          <p:cNvPr id="9" name="Text 7"/>
          <p:cNvSpPr/>
          <p:nvPr/>
        </p:nvSpPr>
        <p:spPr>
          <a:xfrm>
            <a:off x="8686800" y="1188720"/>
            <a:ext cx="2834640" cy="621792"/>
          </a:xfrm>
          <a:prstGeom prst="rect">
            <a:avLst/>
          </a:prstGeom>
          <a:noFill/>
          <a:ln/>
        </p:spPr>
        <p:txBody>
          <a:bodyPr wrap="square" rtlCol="0" anchor="ctr"/>
          <a:lstStyle/>
          <a:p>
            <a:pPr algn="r" indent="0" marL="0">
              <a:buNone/>
            </a:pPr>
            <a:r>
              <a:rPr lang="en-US" sz="2200" b="1" dirty="0">
                <a:solidFill>
                  <a:srgbClr val="D4A843"/>
                </a:solidFill>
                <a:latin typeface="メイリオ" pitchFamily="34" charset="0"/>
                <a:ea typeface="メイリオ" pitchFamily="34" charset="-122"/>
                <a:cs typeface="メイリオ" pitchFamily="34" charset="-120"/>
              </a:rPr>
              <a:t>月 1.5〜7万円</a:t>
            </a:r>
            <a:endParaRPr lang="en-US" sz="2200" dirty="0"/>
          </a:p>
        </p:txBody>
      </p:sp>
      <p:sp>
        <p:nvSpPr>
          <p:cNvPr id="10" name="Shape 8"/>
          <p:cNvSpPr/>
          <p:nvPr/>
        </p:nvSpPr>
        <p:spPr>
          <a:xfrm>
            <a:off x="384048" y="2176272"/>
            <a:ext cx="11228832" cy="987552"/>
          </a:xfrm>
          <a:prstGeom prst="rect">
            <a:avLst/>
          </a:prstGeom>
          <a:solidFill>
            <a:srgbClr val="243060"/>
          </a:solidFill>
          <a:ln w="12700">
            <a:solidFill>
              <a:srgbClr val="E8602C"/>
            </a:solidFill>
            <a:prstDash val="solid"/>
          </a:ln>
        </p:spPr>
      </p:sp>
      <p:sp>
        <p:nvSpPr>
          <p:cNvPr id="11" name="Shape 9"/>
          <p:cNvSpPr/>
          <p:nvPr/>
        </p:nvSpPr>
        <p:spPr>
          <a:xfrm>
            <a:off x="384048" y="2176272"/>
            <a:ext cx="868680" cy="987552"/>
          </a:xfrm>
          <a:prstGeom prst="rect">
            <a:avLst/>
          </a:prstGeom>
          <a:solidFill>
            <a:srgbClr val="E8602C"/>
          </a:solidFill>
          <a:ln/>
        </p:spPr>
      </p:sp>
      <p:sp>
        <p:nvSpPr>
          <p:cNvPr id="12" name="Text 10"/>
          <p:cNvSpPr/>
          <p:nvPr/>
        </p:nvSpPr>
        <p:spPr>
          <a:xfrm>
            <a:off x="384048" y="2359152"/>
            <a:ext cx="868680" cy="621792"/>
          </a:xfrm>
          <a:prstGeom prst="rect">
            <a:avLst/>
          </a:prstGeom>
          <a:no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手法⑤〜⑦</a:t>
            </a:r>
            <a:endParaRPr lang="en-US" sz="1200" dirty="0"/>
          </a:p>
        </p:txBody>
      </p:sp>
      <p:sp>
        <p:nvSpPr>
          <p:cNvPr id="13" name="Text 11"/>
          <p:cNvSpPr/>
          <p:nvPr/>
        </p:nvSpPr>
        <p:spPr>
          <a:xfrm>
            <a:off x="1371600" y="2377440"/>
            <a:ext cx="6858000" cy="585216"/>
          </a:xfrm>
          <a:prstGeom prst="rect">
            <a:avLst/>
          </a:prstGeom>
          <a:noFill/>
          <a:ln/>
        </p:spPr>
        <p:txBody>
          <a:bodyPr wrap="square" rtlCol="0" anchor="ctr"/>
          <a:lstStyle/>
          <a:p>
            <a:pPr indent="0" marL="0">
              <a:buNone/>
            </a:pPr>
            <a:r>
              <a:rPr lang="en-US" sz="1900" dirty="0">
                <a:solidFill>
                  <a:srgbClr val="FFFFFF"/>
                </a:solidFill>
                <a:latin typeface="メイリオ" pitchFamily="34" charset="0"/>
                <a:ea typeface="メイリオ" pitchFamily="34" charset="-122"/>
                <a:cs typeface="メイリオ" pitchFamily="34" charset="-120"/>
              </a:rPr>
              <a:t>収入獲得（3手法）</a:t>
            </a:r>
            <a:endParaRPr lang="en-US" sz="1900" dirty="0"/>
          </a:p>
        </p:txBody>
      </p:sp>
      <p:sp>
        <p:nvSpPr>
          <p:cNvPr id="14" name="Text 12"/>
          <p:cNvSpPr/>
          <p:nvPr/>
        </p:nvSpPr>
        <p:spPr>
          <a:xfrm>
            <a:off x="8686800" y="2359152"/>
            <a:ext cx="2834640" cy="621792"/>
          </a:xfrm>
          <a:prstGeom prst="rect">
            <a:avLst/>
          </a:prstGeom>
          <a:noFill/>
          <a:ln/>
        </p:spPr>
        <p:txBody>
          <a:bodyPr wrap="square" rtlCol="0" anchor="ctr"/>
          <a:lstStyle/>
          <a:p>
            <a:pPr algn="r" indent="0" marL="0">
              <a:buNone/>
            </a:pPr>
            <a:r>
              <a:rPr lang="en-US" sz="2200" b="1" dirty="0">
                <a:solidFill>
                  <a:srgbClr val="D4A843"/>
                </a:solidFill>
                <a:latin typeface="メイリオ" pitchFamily="34" charset="0"/>
                <a:ea typeface="メイリオ" pitchFamily="34" charset="-122"/>
                <a:cs typeface="メイリオ" pitchFamily="34" charset="-120"/>
              </a:rPr>
              <a:t>月 1.3〜13万円</a:t>
            </a:r>
            <a:endParaRPr lang="en-US" sz="2200" dirty="0"/>
          </a:p>
        </p:txBody>
      </p:sp>
      <p:sp>
        <p:nvSpPr>
          <p:cNvPr id="15" name="Shape 13"/>
          <p:cNvSpPr/>
          <p:nvPr/>
        </p:nvSpPr>
        <p:spPr>
          <a:xfrm>
            <a:off x="384048" y="3346704"/>
            <a:ext cx="11228832" cy="987552"/>
          </a:xfrm>
          <a:prstGeom prst="rect">
            <a:avLst/>
          </a:prstGeom>
          <a:solidFill>
            <a:srgbClr val="243060"/>
          </a:solidFill>
          <a:ln w="12700">
            <a:solidFill>
              <a:srgbClr val="D4A843"/>
            </a:solidFill>
            <a:prstDash val="solid"/>
          </a:ln>
        </p:spPr>
      </p:sp>
      <p:sp>
        <p:nvSpPr>
          <p:cNvPr id="16" name="Shape 14"/>
          <p:cNvSpPr/>
          <p:nvPr/>
        </p:nvSpPr>
        <p:spPr>
          <a:xfrm>
            <a:off x="384048" y="3346704"/>
            <a:ext cx="868680" cy="987552"/>
          </a:xfrm>
          <a:prstGeom prst="rect">
            <a:avLst/>
          </a:prstGeom>
          <a:solidFill>
            <a:srgbClr val="D4A843"/>
          </a:solidFill>
          <a:ln/>
        </p:spPr>
      </p:sp>
      <p:sp>
        <p:nvSpPr>
          <p:cNvPr id="17" name="Text 15"/>
          <p:cNvSpPr/>
          <p:nvPr/>
        </p:nvSpPr>
        <p:spPr>
          <a:xfrm>
            <a:off x="384048" y="3529584"/>
            <a:ext cx="868680" cy="621792"/>
          </a:xfrm>
          <a:prstGeom prst="rect">
            <a:avLst/>
          </a:prstGeom>
          <a:noFill/>
          <a:ln/>
        </p:spPr>
        <p:txBody>
          <a:bodyPr wrap="square"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手法⑧</a:t>
            </a:r>
            <a:endParaRPr lang="en-US" sz="1200" dirty="0"/>
          </a:p>
        </p:txBody>
      </p:sp>
      <p:sp>
        <p:nvSpPr>
          <p:cNvPr id="18" name="Text 16"/>
          <p:cNvSpPr/>
          <p:nvPr/>
        </p:nvSpPr>
        <p:spPr>
          <a:xfrm>
            <a:off x="1371600" y="3547872"/>
            <a:ext cx="6858000" cy="585216"/>
          </a:xfrm>
          <a:prstGeom prst="rect">
            <a:avLst/>
          </a:prstGeom>
          <a:noFill/>
          <a:ln/>
        </p:spPr>
        <p:txBody>
          <a:bodyPr wrap="square" rtlCol="0" anchor="ctr"/>
          <a:lstStyle/>
          <a:p>
            <a:pPr indent="0" marL="0">
              <a:buNone/>
            </a:pPr>
            <a:r>
              <a:rPr lang="en-US" sz="1900" dirty="0">
                <a:solidFill>
                  <a:srgbClr val="FFFFFF"/>
                </a:solidFill>
                <a:latin typeface="メイリオ" pitchFamily="34" charset="0"/>
                <a:ea typeface="メイリオ" pitchFamily="34" charset="-122"/>
                <a:cs typeface="メイリオ" pitchFamily="34" charset="-120"/>
              </a:rPr>
              <a:t>節税</a:t>
            </a:r>
            <a:endParaRPr lang="en-US" sz="1900" dirty="0"/>
          </a:p>
        </p:txBody>
      </p:sp>
      <p:sp>
        <p:nvSpPr>
          <p:cNvPr id="19" name="Text 17"/>
          <p:cNvSpPr/>
          <p:nvPr/>
        </p:nvSpPr>
        <p:spPr>
          <a:xfrm>
            <a:off x="8686800" y="3529584"/>
            <a:ext cx="2834640" cy="621792"/>
          </a:xfrm>
          <a:prstGeom prst="rect">
            <a:avLst/>
          </a:prstGeom>
          <a:noFill/>
          <a:ln/>
        </p:spPr>
        <p:txBody>
          <a:bodyPr wrap="square" rtlCol="0" anchor="ctr"/>
          <a:lstStyle/>
          <a:p>
            <a:pPr algn="r" indent="0" marL="0">
              <a:buNone/>
            </a:pPr>
            <a:r>
              <a:rPr lang="en-US" sz="2200" b="1" dirty="0">
                <a:solidFill>
                  <a:srgbClr val="D4A843"/>
                </a:solidFill>
                <a:latin typeface="メイリオ" pitchFamily="34" charset="0"/>
                <a:ea typeface="メイリオ" pitchFamily="34" charset="-122"/>
                <a:cs typeface="メイリオ" pitchFamily="34" charset="-120"/>
              </a:rPr>
              <a:t>年 5〜20万円</a:t>
            </a:r>
            <a:endParaRPr lang="en-US" sz="2200" dirty="0"/>
          </a:p>
        </p:txBody>
      </p:sp>
      <p:sp>
        <p:nvSpPr>
          <p:cNvPr id="20" name="Shape 18"/>
          <p:cNvSpPr/>
          <p:nvPr/>
        </p:nvSpPr>
        <p:spPr>
          <a:xfrm>
            <a:off x="384048" y="4526280"/>
            <a:ext cx="11228832" cy="1261872"/>
          </a:xfrm>
          <a:prstGeom prst="rect">
            <a:avLst/>
          </a:prstGeom>
          <a:solidFill>
            <a:srgbClr val="D4A843"/>
          </a:solidFill>
          <a:ln/>
        </p:spPr>
      </p:sp>
      <p:sp>
        <p:nvSpPr>
          <p:cNvPr id="21" name="Text 19"/>
          <p:cNvSpPr/>
          <p:nvPr/>
        </p:nvSpPr>
        <p:spPr>
          <a:xfrm>
            <a:off x="566928" y="4590288"/>
            <a:ext cx="4572000" cy="457200"/>
          </a:xfrm>
          <a:prstGeom prst="rect">
            <a:avLst/>
          </a:prstGeom>
          <a:noFill/>
          <a:ln/>
        </p:spPr>
        <p:txBody>
          <a:bodyPr wrap="square" rtlCol="0" anchor="ctr"/>
          <a:lstStyle/>
          <a:p>
            <a:pPr indent="0" marL="0">
              <a:buNone/>
            </a:pPr>
            <a:r>
              <a:rPr lang="en-US" sz="1600" dirty="0">
                <a:solidFill>
                  <a:srgbClr val="1A2744"/>
                </a:solidFill>
                <a:latin typeface="メイリオ" pitchFamily="34" charset="0"/>
                <a:ea typeface="メイリオ" pitchFamily="34" charset="-122"/>
                <a:cs typeface="メイリオ" pitchFamily="34" charset="-120"/>
              </a:rPr>
              <a:t>8手法をすべて取り組めば…</a:t>
            </a:r>
            <a:endParaRPr lang="en-US" sz="1600" dirty="0"/>
          </a:p>
        </p:txBody>
      </p:sp>
      <p:sp>
        <p:nvSpPr>
          <p:cNvPr id="22" name="Text 20"/>
          <p:cNvSpPr/>
          <p:nvPr/>
        </p:nvSpPr>
        <p:spPr>
          <a:xfrm>
            <a:off x="566928" y="4983480"/>
            <a:ext cx="10972800" cy="658368"/>
          </a:xfrm>
          <a:prstGeom prst="rect">
            <a:avLst/>
          </a:prstGeom>
          <a:noFill/>
          <a:ln/>
        </p:spPr>
        <p:txBody>
          <a:bodyPr wrap="square" rtlCol="0" anchor="ctr"/>
          <a:lstStyle/>
          <a:p>
            <a:pPr indent="0" marL="0">
              <a:buNone/>
            </a:pPr>
            <a:r>
              <a:rPr lang="en-US" sz="2800" b="1" dirty="0">
                <a:solidFill>
                  <a:srgbClr val="1A2744"/>
                </a:solidFill>
                <a:latin typeface="メイリオ" pitchFamily="34" charset="0"/>
                <a:ea typeface="メイリオ" pitchFamily="34" charset="-122"/>
                <a:cs typeface="メイリオ" pitchFamily="34" charset="-120"/>
              </a:rPr>
              <a:t>月 3〜20万円 の軍資金を作ることが可能</a:t>
            </a:r>
            <a:endParaRPr lang="en-US" sz="2800" dirty="0"/>
          </a:p>
        </p:txBody>
      </p:sp>
      <p:sp>
        <p:nvSpPr>
          <p:cNvPr id="23" name="Text 21"/>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4" name="Text 22"/>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51560"/>
          </a:xfrm>
          <a:prstGeom prst="rect">
            <a:avLst/>
          </a:prstGeom>
          <a:solidFill>
            <a:srgbClr val="1A2744"/>
          </a:solidFill>
          <a:ln/>
        </p:spPr>
      </p:sp>
      <p:sp>
        <p:nvSpPr>
          <p:cNvPr id="4" name="Shape 2"/>
          <p:cNvSpPr/>
          <p:nvPr/>
        </p:nvSpPr>
        <p:spPr>
          <a:xfrm>
            <a:off x="0" y="1033272"/>
            <a:ext cx="12192000" cy="45720"/>
          </a:xfrm>
          <a:prstGeom prst="rect">
            <a:avLst/>
          </a:prstGeom>
          <a:solidFill>
            <a:srgbClr val="E8602C"/>
          </a:solidFill>
          <a:ln/>
        </p:spPr>
      </p:sp>
      <p:sp>
        <p:nvSpPr>
          <p:cNvPr id="5" name="Text 3"/>
          <p:cNvSpPr/>
          <p:nvPr/>
        </p:nvSpPr>
        <p:spPr>
          <a:xfrm>
            <a:off x="457200" y="73152"/>
            <a:ext cx="11247120" cy="384048"/>
          </a:xfrm>
          <a:prstGeom prst="rect">
            <a:avLst/>
          </a:prstGeom>
          <a:noFill/>
          <a:ln/>
        </p:spPr>
        <p:txBody>
          <a:bodyPr wrap="square" rtlCol="0" anchor="ctr"/>
          <a:lstStyle/>
          <a:p>
            <a:pPr indent="0" marL="0">
              <a:buNone/>
            </a:pPr>
            <a:r>
              <a:rPr lang="en-US" sz="1600" dirty="0">
                <a:solidFill>
                  <a:srgbClr val="B0C4DE"/>
                </a:solidFill>
                <a:latin typeface="メイリオ" pitchFamily="34" charset="0"/>
                <a:ea typeface="メイリオ" pitchFamily="34" charset="-122"/>
                <a:cs typeface="メイリオ" pitchFamily="34" charset="-120"/>
              </a:rPr>
              <a:t>さあ、次の問いです</a:t>
            </a:r>
            <a:endParaRPr lang="en-US" sz="1600" dirty="0"/>
          </a:p>
        </p:txBody>
      </p:sp>
      <p:sp>
        <p:nvSpPr>
          <p:cNvPr id="6" name="Text 4"/>
          <p:cNvSpPr/>
          <p:nvPr/>
        </p:nvSpPr>
        <p:spPr>
          <a:xfrm>
            <a:off x="457200" y="438912"/>
            <a:ext cx="11247120" cy="621792"/>
          </a:xfrm>
          <a:prstGeom prst="rect">
            <a:avLst/>
          </a:prstGeom>
          <a:noFill/>
          <a:ln/>
        </p:spPr>
        <p:txBody>
          <a:bodyPr wrap="square" rtlCol="0" anchor="ctr"/>
          <a:lstStyle/>
          <a:p>
            <a:pPr indent="0" marL="0">
              <a:buNone/>
            </a:pPr>
            <a:r>
              <a:rPr lang="en-US" sz="3000" b="1" dirty="0">
                <a:solidFill>
                  <a:srgbClr val="D4A843"/>
                </a:solidFill>
                <a:latin typeface="メイリオ" pitchFamily="34" charset="0"/>
                <a:ea typeface="メイリオ" pitchFamily="34" charset="-122"/>
                <a:cs typeface="メイリオ" pitchFamily="34" charset="-120"/>
              </a:rPr>
              <a:t>貯めた軍資金を、どこに置きますか？</a:t>
            </a:r>
            <a:endParaRPr lang="en-US" sz="3000" dirty="0"/>
          </a:p>
        </p:txBody>
      </p:sp>
      <p:sp>
        <p:nvSpPr>
          <p:cNvPr id="7" name="Shape 5"/>
          <p:cNvSpPr/>
          <p:nvPr/>
        </p:nvSpPr>
        <p:spPr>
          <a:xfrm>
            <a:off x="384048" y="1261872"/>
            <a:ext cx="3657600" cy="3246120"/>
          </a:xfrm>
          <a:prstGeom prst="rect">
            <a:avLst/>
          </a:prstGeom>
          <a:solidFill>
            <a:srgbClr val="FFFFFF"/>
          </a:solidFill>
          <a:ln w="12700">
            <a:solidFill>
              <a:srgbClr val="D8DEE6"/>
            </a:solidFill>
            <a:prstDash val="solid"/>
          </a:ln>
        </p:spPr>
      </p:sp>
      <p:sp>
        <p:nvSpPr>
          <p:cNvPr id="8" name="Shape 6"/>
          <p:cNvSpPr/>
          <p:nvPr/>
        </p:nvSpPr>
        <p:spPr>
          <a:xfrm>
            <a:off x="384048" y="1261872"/>
            <a:ext cx="3657600" cy="640080"/>
          </a:xfrm>
          <a:prstGeom prst="rect">
            <a:avLst/>
          </a:prstGeom>
          <a:solidFill>
            <a:srgbClr val="1565C0"/>
          </a:solidFill>
          <a:ln/>
        </p:spPr>
      </p:sp>
      <p:sp>
        <p:nvSpPr>
          <p:cNvPr id="9" name="Text 7"/>
          <p:cNvSpPr/>
          <p:nvPr/>
        </p:nvSpPr>
        <p:spPr>
          <a:xfrm>
            <a:off x="384048" y="1280160"/>
            <a:ext cx="3657600" cy="603504"/>
          </a:xfrm>
          <a:prstGeom prst="rect">
            <a:avLst/>
          </a:prstGeom>
          <a:noFill/>
          <a:ln/>
        </p:spPr>
        <p:txBody>
          <a:bodyPr wrap="square"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銀行預金</a:t>
            </a:r>
            <a:endParaRPr lang="en-US" sz="1700" dirty="0"/>
          </a:p>
        </p:txBody>
      </p:sp>
      <p:sp>
        <p:nvSpPr>
          <p:cNvPr id="10" name="Text 8"/>
          <p:cNvSpPr/>
          <p:nvPr/>
        </p:nvSpPr>
        <p:spPr>
          <a:xfrm>
            <a:off x="548640" y="2011680"/>
            <a:ext cx="3328416" cy="1645920"/>
          </a:xfrm>
          <a:prstGeom prst="rect">
            <a:avLst/>
          </a:prstGeom>
          <a:noFill/>
          <a:ln/>
        </p:spPr>
        <p:txBody>
          <a:bodyPr wrap="square" rtlCol="0" anchor="ctr"/>
          <a:lstStyle/>
          <a:p>
            <a:pPr algn="ctr" indent="0" marL="0">
              <a:buNone/>
            </a:pPr>
            <a:r>
              <a:rPr lang="en-US" sz="1450" dirty="0">
                <a:solidFill>
                  <a:srgbClr val="333333"/>
                </a:solidFill>
                <a:latin typeface="メイリオ" pitchFamily="34" charset="0"/>
                <a:ea typeface="メイリオ" pitchFamily="34" charset="-122"/>
                <a:cs typeface="メイリオ" pitchFamily="34" charset="-120"/>
              </a:rPr>
              <a:t>金利0.1%</a:t>
            </a:r>
            <a:endParaRPr lang="en-US" sz="1450" dirty="0"/>
          </a:p>
          <a:p>
            <a:pPr algn="ctr" indent="0" marL="0">
              <a:buNone/>
            </a:pPr>
            <a:r>
              <a:rPr lang="en-US" sz="1450" dirty="0">
                <a:solidFill>
                  <a:srgbClr val="333333"/>
                </a:solidFill>
                <a:latin typeface="メイリオ" pitchFamily="34" charset="0"/>
                <a:ea typeface="メイリオ" pitchFamily="34" charset="-122"/>
                <a:cs typeface="メイリオ" pitchFamily="34" charset="-120"/>
              </a:rPr>
              <a:t>100万円で年1,000円</a:t>
            </a:r>
            <a:endParaRPr lang="en-US" sz="1450" dirty="0"/>
          </a:p>
        </p:txBody>
      </p:sp>
      <p:sp>
        <p:nvSpPr>
          <p:cNvPr id="11" name="Shape 9"/>
          <p:cNvSpPr/>
          <p:nvPr/>
        </p:nvSpPr>
        <p:spPr>
          <a:xfrm>
            <a:off x="658368" y="3840480"/>
            <a:ext cx="3108960" cy="512064"/>
          </a:xfrm>
          <a:prstGeom prst="rect">
            <a:avLst/>
          </a:prstGeom>
          <a:solidFill>
            <a:srgbClr val="C62828"/>
          </a:solidFill>
          <a:ln/>
        </p:spPr>
      </p:sp>
      <p:sp>
        <p:nvSpPr>
          <p:cNvPr id="12" name="Text 10"/>
          <p:cNvSpPr/>
          <p:nvPr/>
        </p:nvSpPr>
        <p:spPr>
          <a:xfrm>
            <a:off x="658368" y="3840480"/>
            <a:ext cx="3108960" cy="512064"/>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論外</a:t>
            </a:r>
            <a:endParaRPr lang="en-US" sz="1400" dirty="0"/>
          </a:p>
        </p:txBody>
      </p:sp>
      <p:sp>
        <p:nvSpPr>
          <p:cNvPr id="13" name="Shape 11"/>
          <p:cNvSpPr/>
          <p:nvPr/>
        </p:nvSpPr>
        <p:spPr>
          <a:xfrm>
            <a:off x="4315968" y="1261872"/>
            <a:ext cx="3657600" cy="3246120"/>
          </a:xfrm>
          <a:prstGeom prst="rect">
            <a:avLst/>
          </a:prstGeom>
          <a:solidFill>
            <a:srgbClr val="FFFFFF"/>
          </a:solidFill>
          <a:ln w="12700">
            <a:solidFill>
              <a:srgbClr val="D8DEE6"/>
            </a:solidFill>
            <a:prstDash val="solid"/>
          </a:ln>
        </p:spPr>
      </p:sp>
      <p:sp>
        <p:nvSpPr>
          <p:cNvPr id="14" name="Shape 12"/>
          <p:cNvSpPr/>
          <p:nvPr/>
        </p:nvSpPr>
        <p:spPr>
          <a:xfrm>
            <a:off x="4315968" y="1261872"/>
            <a:ext cx="3657600" cy="640080"/>
          </a:xfrm>
          <a:prstGeom prst="rect">
            <a:avLst/>
          </a:prstGeom>
          <a:solidFill>
            <a:srgbClr val="1565C0"/>
          </a:solidFill>
          <a:ln/>
        </p:spPr>
      </p:sp>
      <p:sp>
        <p:nvSpPr>
          <p:cNvPr id="15" name="Text 13"/>
          <p:cNvSpPr/>
          <p:nvPr/>
        </p:nvSpPr>
        <p:spPr>
          <a:xfrm>
            <a:off x="4315968" y="1280160"/>
            <a:ext cx="3657600" cy="603504"/>
          </a:xfrm>
          <a:prstGeom prst="rect">
            <a:avLst/>
          </a:prstGeom>
          <a:noFill/>
          <a:ln/>
        </p:spPr>
        <p:txBody>
          <a:bodyPr wrap="square"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長期積立</a:t>
            </a:r>
            <a:endParaRPr lang="en-US" sz="1700" dirty="0"/>
          </a:p>
          <a:p>
            <a:pPr algn="ctr" indent="0" marL="0">
              <a:buNone/>
            </a:pPr>
            <a:r>
              <a:rPr lang="en-US" sz="1700" b="1" dirty="0">
                <a:solidFill>
                  <a:srgbClr val="FFFFFF"/>
                </a:solidFill>
                <a:latin typeface="メイリオ" pitchFamily="34" charset="0"/>
                <a:ea typeface="メイリオ" pitchFamily="34" charset="-122"/>
                <a:cs typeface="メイリオ" pitchFamily="34" charset="-120"/>
              </a:rPr>
              <a:t>インデックス</a:t>
            </a:r>
            <a:endParaRPr lang="en-US" sz="1700" dirty="0"/>
          </a:p>
        </p:txBody>
      </p:sp>
      <p:sp>
        <p:nvSpPr>
          <p:cNvPr id="16" name="Text 14"/>
          <p:cNvSpPr/>
          <p:nvPr/>
        </p:nvSpPr>
        <p:spPr>
          <a:xfrm>
            <a:off x="4480560" y="2011680"/>
            <a:ext cx="3328416" cy="1645920"/>
          </a:xfrm>
          <a:prstGeom prst="rect">
            <a:avLst/>
          </a:prstGeom>
          <a:noFill/>
          <a:ln/>
        </p:spPr>
        <p:txBody>
          <a:bodyPr wrap="square" rtlCol="0" anchor="ctr"/>
          <a:lstStyle/>
          <a:p>
            <a:pPr algn="ctr" indent="0" marL="0">
              <a:buNone/>
            </a:pPr>
            <a:r>
              <a:rPr lang="en-US" sz="1450" dirty="0">
                <a:solidFill>
                  <a:srgbClr val="333333"/>
                </a:solidFill>
                <a:latin typeface="メイリオ" pitchFamily="34" charset="0"/>
                <a:ea typeface="メイリオ" pitchFamily="34" charset="-122"/>
                <a:cs typeface="メイリオ" pitchFamily="34" charset="-120"/>
              </a:rPr>
              <a:t>優良な選択肢</a:t>
            </a:r>
            <a:endParaRPr lang="en-US" sz="1450" dirty="0"/>
          </a:p>
          <a:p>
            <a:pPr algn="ctr" indent="0" marL="0">
              <a:buNone/>
            </a:pPr>
            <a:r>
              <a:rPr lang="en-US" sz="1450" dirty="0">
                <a:solidFill>
                  <a:srgbClr val="333333"/>
                </a:solidFill>
                <a:latin typeface="メイリオ" pitchFamily="34" charset="0"/>
                <a:ea typeface="メイリオ" pitchFamily="34" charset="-122"/>
                <a:cs typeface="メイリオ" pitchFamily="34" charset="-120"/>
              </a:rPr>
              <a:t>ただし成果まで20〜30年かかる</a:t>
            </a:r>
            <a:endParaRPr lang="en-US" sz="1450" dirty="0"/>
          </a:p>
        </p:txBody>
      </p:sp>
      <p:sp>
        <p:nvSpPr>
          <p:cNvPr id="17" name="Shape 15"/>
          <p:cNvSpPr/>
          <p:nvPr/>
        </p:nvSpPr>
        <p:spPr>
          <a:xfrm>
            <a:off x="4590288" y="3840480"/>
            <a:ext cx="3108960" cy="512064"/>
          </a:xfrm>
          <a:prstGeom prst="rect">
            <a:avLst/>
          </a:prstGeom>
          <a:solidFill>
            <a:srgbClr val="E8602C"/>
          </a:solidFill>
          <a:ln/>
        </p:spPr>
      </p:sp>
      <p:sp>
        <p:nvSpPr>
          <p:cNvPr id="18" name="Text 16"/>
          <p:cNvSpPr/>
          <p:nvPr/>
        </p:nvSpPr>
        <p:spPr>
          <a:xfrm>
            <a:off x="4590288" y="3840480"/>
            <a:ext cx="3108960" cy="512064"/>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時間がかかる</a:t>
            </a:r>
            <a:endParaRPr lang="en-US" sz="1400" dirty="0"/>
          </a:p>
        </p:txBody>
      </p:sp>
      <p:sp>
        <p:nvSpPr>
          <p:cNvPr id="19" name="Shape 17"/>
          <p:cNvSpPr/>
          <p:nvPr/>
        </p:nvSpPr>
        <p:spPr>
          <a:xfrm>
            <a:off x="8247888" y="1261872"/>
            <a:ext cx="3657600" cy="3246120"/>
          </a:xfrm>
          <a:prstGeom prst="rect">
            <a:avLst/>
          </a:prstGeom>
          <a:solidFill>
            <a:srgbClr val="FFFFFF"/>
          </a:solidFill>
          <a:ln w="12700">
            <a:solidFill>
              <a:srgbClr val="D8DEE6"/>
            </a:solidFill>
            <a:prstDash val="solid"/>
          </a:ln>
        </p:spPr>
      </p:sp>
      <p:sp>
        <p:nvSpPr>
          <p:cNvPr id="20" name="Shape 18"/>
          <p:cNvSpPr/>
          <p:nvPr/>
        </p:nvSpPr>
        <p:spPr>
          <a:xfrm>
            <a:off x="8247888" y="1261872"/>
            <a:ext cx="3657600" cy="640080"/>
          </a:xfrm>
          <a:prstGeom prst="rect">
            <a:avLst/>
          </a:prstGeom>
          <a:solidFill>
            <a:srgbClr val="1565C0"/>
          </a:solidFill>
          <a:ln/>
        </p:spPr>
      </p:sp>
      <p:sp>
        <p:nvSpPr>
          <p:cNvPr id="21" name="Text 19"/>
          <p:cNvSpPr/>
          <p:nvPr/>
        </p:nvSpPr>
        <p:spPr>
          <a:xfrm>
            <a:off x="8247888" y="1280160"/>
            <a:ext cx="3657600" cy="603504"/>
          </a:xfrm>
          <a:prstGeom prst="rect">
            <a:avLst/>
          </a:prstGeom>
          <a:noFill/>
          <a:ln/>
        </p:spPr>
        <p:txBody>
          <a:bodyPr wrap="square" rtlCol="0" anchor="ctr"/>
          <a:lstStyle/>
          <a:p>
            <a:pPr algn="ctr" indent="0" marL="0">
              <a:buNone/>
            </a:pPr>
            <a:r>
              <a:rPr lang="en-US" sz="1700" b="1" dirty="0">
                <a:solidFill>
                  <a:srgbClr val="FFFFFF"/>
                </a:solidFill>
                <a:latin typeface="メイリオ" pitchFamily="34" charset="0"/>
                <a:ea typeface="メイリオ" pitchFamily="34" charset="-122"/>
                <a:cs typeface="メイリオ" pitchFamily="34" charset="-120"/>
              </a:rPr>
              <a:t>高配当株</a:t>
            </a:r>
            <a:endParaRPr lang="en-US" sz="1700" dirty="0"/>
          </a:p>
          <a:p>
            <a:pPr algn="ctr" indent="0" marL="0">
              <a:buNone/>
            </a:pPr>
            <a:r>
              <a:rPr lang="en-US" sz="1700" b="1" dirty="0">
                <a:solidFill>
                  <a:srgbClr val="FFFFFF"/>
                </a:solidFill>
                <a:latin typeface="メイリオ" pitchFamily="34" charset="0"/>
                <a:ea typeface="メイリオ" pitchFamily="34" charset="-122"/>
                <a:cs typeface="メイリオ" pitchFamily="34" charset="-120"/>
              </a:rPr>
              <a:t>REIT</a:t>
            </a:r>
            <a:endParaRPr lang="en-US" sz="1700" dirty="0"/>
          </a:p>
        </p:txBody>
      </p:sp>
      <p:sp>
        <p:nvSpPr>
          <p:cNvPr id="22" name="Text 20"/>
          <p:cNvSpPr/>
          <p:nvPr/>
        </p:nvSpPr>
        <p:spPr>
          <a:xfrm>
            <a:off x="8412480" y="2011680"/>
            <a:ext cx="3328416" cy="1645920"/>
          </a:xfrm>
          <a:prstGeom prst="rect">
            <a:avLst/>
          </a:prstGeom>
          <a:noFill/>
          <a:ln/>
        </p:spPr>
        <p:txBody>
          <a:bodyPr wrap="square" rtlCol="0" anchor="ctr"/>
          <a:lstStyle/>
          <a:p>
            <a:pPr algn="ctr" indent="0" marL="0">
              <a:buNone/>
            </a:pPr>
            <a:r>
              <a:rPr lang="en-US" sz="1450" dirty="0">
                <a:solidFill>
                  <a:srgbClr val="333333"/>
                </a:solidFill>
                <a:latin typeface="メイリオ" pitchFamily="34" charset="0"/>
                <a:ea typeface="メイリオ" pitchFamily="34" charset="-122"/>
                <a:cs typeface="メイリオ" pitchFamily="34" charset="-120"/>
              </a:rPr>
              <a:t>年4〜5%の配当</a:t>
            </a:r>
            <a:endParaRPr lang="en-US" sz="1450" dirty="0"/>
          </a:p>
          <a:p>
            <a:pPr algn="ctr" indent="0" marL="0">
              <a:buNone/>
            </a:pPr>
            <a:r>
              <a:rPr lang="en-US" sz="1450" dirty="0">
                <a:solidFill>
                  <a:srgbClr val="333333"/>
                </a:solidFill>
                <a:latin typeface="メイリオ" pitchFamily="34" charset="0"/>
                <a:ea typeface="メイリオ" pitchFamily="34" charset="-122"/>
                <a:cs typeface="メイリオ" pitchFamily="34" charset="-120"/>
              </a:rPr>
              <a:t>月15万円には3,000〜4,500万円が必要</a:t>
            </a:r>
            <a:endParaRPr lang="en-US" sz="1450" dirty="0"/>
          </a:p>
        </p:txBody>
      </p:sp>
      <p:sp>
        <p:nvSpPr>
          <p:cNvPr id="23" name="Shape 21"/>
          <p:cNvSpPr/>
          <p:nvPr/>
        </p:nvSpPr>
        <p:spPr>
          <a:xfrm>
            <a:off x="8522208" y="3840480"/>
            <a:ext cx="3108960" cy="512064"/>
          </a:xfrm>
          <a:prstGeom prst="rect">
            <a:avLst/>
          </a:prstGeom>
          <a:solidFill>
            <a:srgbClr val="E8602C"/>
          </a:solidFill>
          <a:ln/>
        </p:spPr>
      </p:sp>
      <p:sp>
        <p:nvSpPr>
          <p:cNvPr id="24" name="Text 22"/>
          <p:cNvSpPr/>
          <p:nvPr/>
        </p:nvSpPr>
        <p:spPr>
          <a:xfrm>
            <a:off x="8522208" y="3840480"/>
            <a:ext cx="3108960" cy="512064"/>
          </a:xfrm>
          <a:prstGeom prst="rect">
            <a:avLst/>
          </a:prstGeom>
          <a:noFill/>
          <a:ln/>
        </p:spPr>
        <p:txBody>
          <a:bodyPr wrap="square"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 元本が足りない</a:t>
            </a:r>
            <a:endParaRPr lang="en-US" sz="1400" dirty="0"/>
          </a:p>
        </p:txBody>
      </p:sp>
      <p:sp>
        <p:nvSpPr>
          <p:cNvPr id="25" name="Shape 23"/>
          <p:cNvSpPr/>
          <p:nvPr/>
        </p:nvSpPr>
        <p:spPr>
          <a:xfrm>
            <a:off x="384048" y="4736592"/>
            <a:ext cx="11228832" cy="749808"/>
          </a:xfrm>
          <a:prstGeom prst="rect">
            <a:avLst/>
          </a:prstGeom>
          <a:solidFill>
            <a:srgbClr val="1A2744"/>
          </a:solidFill>
          <a:ln/>
        </p:spPr>
      </p:sp>
      <p:sp>
        <p:nvSpPr>
          <p:cNvPr id="26" name="Text 24"/>
          <p:cNvSpPr/>
          <p:nvPr/>
        </p:nvSpPr>
        <p:spPr>
          <a:xfrm>
            <a:off x="457200" y="4773168"/>
            <a:ext cx="11064240" cy="676656"/>
          </a:xfrm>
          <a:prstGeom prst="rect">
            <a:avLst/>
          </a:prstGeom>
          <a:noFill/>
          <a:ln/>
        </p:spPr>
        <p:txBody>
          <a:bodyPr wrap="square" rtlCol="0" anchor="ctr"/>
          <a:lstStyle/>
          <a:p>
            <a:pPr algn="ctr" indent="0" marL="0">
              <a:buNone/>
            </a:pPr>
            <a:r>
              <a:rPr lang="en-US" sz="1800" b="1" dirty="0">
                <a:solidFill>
                  <a:srgbClr val="D4A843"/>
                </a:solidFill>
                <a:latin typeface="メイリオ" pitchFamily="34" charset="0"/>
                <a:ea typeface="メイリオ" pitchFamily="34" charset="-122"/>
                <a:cs typeface="メイリオ" pitchFamily="34" charset="-120"/>
              </a:rPr>
              <a:t>「もし、もっと早く・少ない元手で、月数万〜15万円を得られる方法があったとしたら？」</a:t>
            </a:r>
            <a:endParaRPr lang="en-US" sz="1800" dirty="0"/>
          </a:p>
        </p:txBody>
      </p:sp>
      <p:sp>
        <p:nvSpPr>
          <p:cNvPr id="27" name="Text 25"/>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8" name="Text 26"/>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0"/>
            <a:ext cx="12192000" cy="64008"/>
          </a:xfrm>
          <a:prstGeom prst="rect">
            <a:avLst/>
          </a:prstGeom>
          <a:solidFill>
            <a:srgbClr val="D4A843"/>
          </a:solidFill>
          <a:ln/>
        </p:spPr>
      </p:sp>
      <p:sp>
        <p:nvSpPr>
          <p:cNvPr id="4" name="Text 2"/>
          <p:cNvSpPr/>
          <p:nvPr/>
        </p:nvSpPr>
        <p:spPr>
          <a:xfrm>
            <a:off x="457200" y="164592"/>
            <a:ext cx="11247120" cy="658368"/>
          </a:xfrm>
          <a:prstGeom prst="rect">
            <a:avLst/>
          </a:prstGeom>
          <a:noFill/>
          <a:ln/>
        </p:spPr>
        <p:txBody>
          <a:bodyPr wrap="square" rtlCol="0" anchor="ctr"/>
          <a:lstStyle/>
          <a:p>
            <a:pPr indent="0" marL="0">
              <a:buNone/>
            </a:pPr>
            <a:r>
              <a:rPr lang="en-US" sz="2800" b="1" dirty="0">
                <a:solidFill>
                  <a:srgbClr val="FFFFFF"/>
                </a:solidFill>
                <a:latin typeface="メイリオ" pitchFamily="34" charset="0"/>
                <a:ea typeface="メイリオ" pitchFamily="34" charset="-122"/>
                <a:cs typeface="メイリオ" pitchFamily="34" charset="-120"/>
              </a:rPr>
              <a:t>解決策：米国株オプション取引</a:t>
            </a:r>
            <a:endParaRPr lang="en-US" sz="2800" dirty="0"/>
          </a:p>
        </p:txBody>
      </p:sp>
      <p:sp>
        <p:nvSpPr>
          <p:cNvPr id="5" name="Text 3"/>
          <p:cNvSpPr/>
          <p:nvPr/>
        </p:nvSpPr>
        <p:spPr>
          <a:xfrm>
            <a:off x="457200" y="822960"/>
            <a:ext cx="11247120" cy="384048"/>
          </a:xfrm>
          <a:prstGeom prst="rect">
            <a:avLst/>
          </a:prstGeom>
          <a:noFill/>
          <a:ln/>
        </p:spPr>
        <p:txBody>
          <a:bodyPr wrap="square" rtlCol="0" anchor="ctr"/>
          <a:lstStyle/>
          <a:p>
            <a:pPr indent="0" marL="0">
              <a:buNone/>
            </a:pPr>
            <a:r>
              <a:rPr lang="en-US" sz="1500" dirty="0">
                <a:solidFill>
                  <a:srgbClr val="AABBCC"/>
                </a:solidFill>
                <a:latin typeface="メイリオ" pitchFamily="34" charset="0"/>
                <a:ea typeface="メイリオ" pitchFamily="34" charset="-122"/>
                <a:cs typeface="メイリオ" pitchFamily="34" charset="-120"/>
              </a:rPr>
              <a:t>〜「買う・売る」の2択から、「権利を売買する」世界へ〜</a:t>
            </a:r>
            <a:endParaRPr lang="en-US" sz="1500" dirty="0"/>
          </a:p>
        </p:txBody>
      </p:sp>
      <p:sp>
        <p:nvSpPr>
          <p:cNvPr id="6" name="Shape 4"/>
          <p:cNvSpPr/>
          <p:nvPr/>
        </p:nvSpPr>
        <p:spPr>
          <a:xfrm>
            <a:off x="384048" y="1371600"/>
            <a:ext cx="11228832" cy="1261872"/>
          </a:xfrm>
          <a:prstGeom prst="rect">
            <a:avLst/>
          </a:prstGeom>
          <a:solidFill>
            <a:srgbClr val="243060"/>
          </a:solidFill>
          <a:ln w="12700">
            <a:solidFill>
              <a:srgbClr val="D4A843"/>
            </a:solidFill>
            <a:prstDash val="solid"/>
          </a:ln>
        </p:spPr>
      </p:sp>
      <p:sp>
        <p:nvSpPr>
          <p:cNvPr id="7" name="Shape 5"/>
          <p:cNvSpPr/>
          <p:nvPr/>
        </p:nvSpPr>
        <p:spPr>
          <a:xfrm>
            <a:off x="384048" y="1371600"/>
            <a:ext cx="749808" cy="1261872"/>
          </a:xfrm>
          <a:prstGeom prst="rect">
            <a:avLst/>
          </a:prstGeom>
          <a:solidFill>
            <a:srgbClr val="D4A843"/>
          </a:solidFill>
          <a:ln/>
        </p:spPr>
      </p:sp>
      <p:sp>
        <p:nvSpPr>
          <p:cNvPr id="8" name="Text 6"/>
          <p:cNvSpPr/>
          <p:nvPr/>
        </p:nvSpPr>
        <p:spPr>
          <a:xfrm>
            <a:off x="384048" y="1691640"/>
            <a:ext cx="749808" cy="621792"/>
          </a:xfrm>
          <a:prstGeom prst="rect">
            <a:avLst/>
          </a:prstGeom>
          <a:noFill/>
          <a:ln/>
        </p:spPr>
        <p:txBody>
          <a:bodyPr wrap="square" rtlCol="0" anchor="ctr"/>
          <a:lstStyle/>
          <a:p>
            <a:pPr algn="ctr" indent="0" marL="0">
              <a:buNone/>
            </a:pPr>
            <a:r>
              <a:rPr lang="en-US" sz="2400" b="1" dirty="0">
                <a:solidFill>
                  <a:srgbClr val="1A2744"/>
                </a:solidFill>
                <a:latin typeface="Calibri" pitchFamily="34" charset="0"/>
                <a:ea typeface="Calibri" pitchFamily="34" charset="-122"/>
                <a:cs typeface="Calibri" pitchFamily="34" charset="-120"/>
              </a:rPr>
              <a:t>01</a:t>
            </a:r>
            <a:endParaRPr lang="en-US" sz="2400" dirty="0"/>
          </a:p>
        </p:txBody>
      </p:sp>
      <p:sp>
        <p:nvSpPr>
          <p:cNvPr id="9" name="Text 7"/>
          <p:cNvSpPr/>
          <p:nvPr/>
        </p:nvSpPr>
        <p:spPr>
          <a:xfrm>
            <a:off x="1261872" y="1463040"/>
            <a:ext cx="10241280" cy="530352"/>
          </a:xfrm>
          <a:prstGeom prst="rect">
            <a:avLst/>
          </a:prstGeom>
          <a:noFill/>
          <a:ln/>
        </p:spPr>
        <p:txBody>
          <a:bodyPr wrap="square" rtlCol="0" anchor="ctr"/>
          <a:lstStyle/>
          <a:p>
            <a:pPr indent="0" marL="0">
              <a:buNone/>
            </a:pPr>
            <a:r>
              <a:rPr lang="en-US" sz="2000" b="1" dirty="0">
                <a:solidFill>
                  <a:srgbClr val="D4A843"/>
                </a:solidFill>
                <a:latin typeface="メイリオ" pitchFamily="34" charset="0"/>
                <a:ea typeface="メイリオ" pitchFamily="34" charset="-122"/>
                <a:cs typeface="メイリオ" pitchFamily="34" charset="-120"/>
              </a:rPr>
              <a:t>毎月収益が狙える仕組み</a:t>
            </a:r>
            <a:endParaRPr lang="en-US" sz="2000" dirty="0"/>
          </a:p>
        </p:txBody>
      </p:sp>
      <p:sp>
        <p:nvSpPr>
          <p:cNvPr id="10" name="Text 8"/>
          <p:cNvSpPr/>
          <p:nvPr/>
        </p:nvSpPr>
        <p:spPr>
          <a:xfrm>
            <a:off x="1261872" y="2011680"/>
            <a:ext cx="10241280" cy="530352"/>
          </a:xfrm>
          <a:prstGeom prst="rect">
            <a:avLst/>
          </a:prstGeom>
          <a:noFill/>
          <a:ln/>
        </p:spPr>
        <p:txBody>
          <a:bodyPr wrap="square" rtlCol="0" anchor="ctr"/>
          <a:lstStyle/>
          <a:p>
            <a:pPr indent="0" marL="0">
              <a:buNone/>
            </a:pPr>
            <a:r>
              <a:rPr lang="en-US" sz="1400" dirty="0">
                <a:solidFill>
                  <a:srgbClr val="CCDDEE"/>
                </a:solidFill>
                <a:latin typeface="メイリオ" pitchFamily="34" charset="0"/>
                <a:ea typeface="メイリオ" pitchFamily="34" charset="-122"/>
                <a:cs typeface="メイリオ" pitchFamily="34" charset="-120"/>
              </a:rPr>
              <a:t>オプションの時間的価値を「売る」ことで、株価が大きく動かなくても毎月プレミアムを受け取ることができる</a:t>
            </a:r>
            <a:endParaRPr lang="en-US" sz="1400" dirty="0"/>
          </a:p>
        </p:txBody>
      </p:sp>
      <p:sp>
        <p:nvSpPr>
          <p:cNvPr id="11" name="Shape 9"/>
          <p:cNvSpPr/>
          <p:nvPr/>
        </p:nvSpPr>
        <p:spPr>
          <a:xfrm>
            <a:off x="384048" y="2816352"/>
            <a:ext cx="11228832" cy="1261872"/>
          </a:xfrm>
          <a:prstGeom prst="rect">
            <a:avLst/>
          </a:prstGeom>
          <a:solidFill>
            <a:srgbClr val="243060"/>
          </a:solidFill>
          <a:ln w="12700">
            <a:solidFill>
              <a:srgbClr val="D4A843"/>
            </a:solidFill>
            <a:prstDash val="solid"/>
          </a:ln>
        </p:spPr>
      </p:sp>
      <p:sp>
        <p:nvSpPr>
          <p:cNvPr id="12" name="Shape 10"/>
          <p:cNvSpPr/>
          <p:nvPr/>
        </p:nvSpPr>
        <p:spPr>
          <a:xfrm>
            <a:off x="384048" y="2816352"/>
            <a:ext cx="749808" cy="1261872"/>
          </a:xfrm>
          <a:prstGeom prst="rect">
            <a:avLst/>
          </a:prstGeom>
          <a:solidFill>
            <a:srgbClr val="D4A843"/>
          </a:solidFill>
          <a:ln/>
        </p:spPr>
      </p:sp>
      <p:sp>
        <p:nvSpPr>
          <p:cNvPr id="13" name="Text 11"/>
          <p:cNvSpPr/>
          <p:nvPr/>
        </p:nvSpPr>
        <p:spPr>
          <a:xfrm>
            <a:off x="384048" y="3136392"/>
            <a:ext cx="749808" cy="621792"/>
          </a:xfrm>
          <a:prstGeom prst="rect">
            <a:avLst/>
          </a:prstGeom>
          <a:noFill/>
          <a:ln/>
        </p:spPr>
        <p:txBody>
          <a:bodyPr wrap="square" rtlCol="0" anchor="ctr"/>
          <a:lstStyle/>
          <a:p>
            <a:pPr algn="ctr" indent="0" marL="0">
              <a:buNone/>
            </a:pPr>
            <a:r>
              <a:rPr lang="en-US" sz="2400" b="1" dirty="0">
                <a:solidFill>
                  <a:srgbClr val="1A2744"/>
                </a:solidFill>
                <a:latin typeface="Calibri" pitchFamily="34" charset="0"/>
                <a:ea typeface="Calibri" pitchFamily="34" charset="-122"/>
                <a:cs typeface="Calibri" pitchFamily="34" charset="-120"/>
              </a:rPr>
              <a:t>02</a:t>
            </a:r>
            <a:endParaRPr lang="en-US" sz="2400" dirty="0"/>
          </a:p>
        </p:txBody>
      </p:sp>
      <p:sp>
        <p:nvSpPr>
          <p:cNvPr id="14" name="Text 12"/>
          <p:cNvSpPr/>
          <p:nvPr/>
        </p:nvSpPr>
        <p:spPr>
          <a:xfrm>
            <a:off x="1261872" y="2907792"/>
            <a:ext cx="10241280" cy="530352"/>
          </a:xfrm>
          <a:prstGeom prst="rect">
            <a:avLst/>
          </a:prstGeom>
          <a:noFill/>
          <a:ln/>
        </p:spPr>
        <p:txBody>
          <a:bodyPr wrap="square" rtlCol="0" anchor="ctr"/>
          <a:lstStyle/>
          <a:p>
            <a:pPr indent="0" marL="0">
              <a:buNone/>
            </a:pPr>
            <a:r>
              <a:rPr lang="en-US" sz="2000" b="1" dirty="0">
                <a:solidFill>
                  <a:srgbClr val="D4A843"/>
                </a:solidFill>
                <a:latin typeface="メイリオ" pitchFamily="34" charset="0"/>
                <a:ea typeface="メイリオ" pitchFamily="34" charset="-122"/>
                <a:cs typeface="メイリオ" pitchFamily="34" charset="-120"/>
              </a:rPr>
              <a:t>長期投資と並行して活用できる</a:t>
            </a:r>
            <a:endParaRPr lang="en-US" sz="2000" dirty="0"/>
          </a:p>
        </p:txBody>
      </p:sp>
      <p:sp>
        <p:nvSpPr>
          <p:cNvPr id="15" name="Text 13"/>
          <p:cNvSpPr/>
          <p:nvPr/>
        </p:nvSpPr>
        <p:spPr>
          <a:xfrm>
            <a:off x="1261872" y="3456432"/>
            <a:ext cx="10241280" cy="530352"/>
          </a:xfrm>
          <a:prstGeom prst="rect">
            <a:avLst/>
          </a:prstGeom>
          <a:noFill/>
          <a:ln/>
        </p:spPr>
        <p:txBody>
          <a:bodyPr wrap="square" rtlCol="0" anchor="ctr"/>
          <a:lstStyle/>
          <a:p>
            <a:pPr indent="0" marL="0">
              <a:buNone/>
            </a:pPr>
            <a:r>
              <a:rPr lang="en-US" sz="1400" dirty="0">
                <a:solidFill>
                  <a:srgbClr val="CCDDEE"/>
                </a:solidFill>
                <a:latin typeface="メイリオ" pitchFamily="34" charset="0"/>
                <a:ea typeface="メイリオ" pitchFamily="34" charset="-122"/>
                <a:cs typeface="メイリオ" pitchFamily="34" charset="-120"/>
              </a:rPr>
              <a:t>保有株を活用したオプション戦略（カバードコール等）は、既存の資産と組み合わせて効率的に運用できる</a:t>
            </a:r>
            <a:endParaRPr lang="en-US" sz="1400" dirty="0"/>
          </a:p>
        </p:txBody>
      </p:sp>
      <p:sp>
        <p:nvSpPr>
          <p:cNvPr id="16" name="Shape 14"/>
          <p:cNvSpPr/>
          <p:nvPr/>
        </p:nvSpPr>
        <p:spPr>
          <a:xfrm>
            <a:off x="384048" y="4261104"/>
            <a:ext cx="11228832" cy="1261872"/>
          </a:xfrm>
          <a:prstGeom prst="rect">
            <a:avLst/>
          </a:prstGeom>
          <a:solidFill>
            <a:srgbClr val="243060"/>
          </a:solidFill>
          <a:ln w="12700">
            <a:solidFill>
              <a:srgbClr val="D4A843"/>
            </a:solidFill>
            <a:prstDash val="solid"/>
          </a:ln>
        </p:spPr>
      </p:sp>
      <p:sp>
        <p:nvSpPr>
          <p:cNvPr id="17" name="Shape 15"/>
          <p:cNvSpPr/>
          <p:nvPr/>
        </p:nvSpPr>
        <p:spPr>
          <a:xfrm>
            <a:off x="384048" y="4261104"/>
            <a:ext cx="749808" cy="1261872"/>
          </a:xfrm>
          <a:prstGeom prst="rect">
            <a:avLst/>
          </a:prstGeom>
          <a:solidFill>
            <a:srgbClr val="D4A843"/>
          </a:solidFill>
          <a:ln/>
        </p:spPr>
      </p:sp>
      <p:sp>
        <p:nvSpPr>
          <p:cNvPr id="18" name="Text 16"/>
          <p:cNvSpPr/>
          <p:nvPr/>
        </p:nvSpPr>
        <p:spPr>
          <a:xfrm>
            <a:off x="384048" y="4581144"/>
            <a:ext cx="749808" cy="621792"/>
          </a:xfrm>
          <a:prstGeom prst="rect">
            <a:avLst/>
          </a:prstGeom>
          <a:noFill/>
          <a:ln/>
        </p:spPr>
        <p:txBody>
          <a:bodyPr wrap="square" rtlCol="0" anchor="ctr"/>
          <a:lstStyle/>
          <a:p>
            <a:pPr algn="ctr" indent="0" marL="0">
              <a:buNone/>
            </a:pPr>
            <a:r>
              <a:rPr lang="en-US" sz="2400" b="1" dirty="0">
                <a:solidFill>
                  <a:srgbClr val="1A2744"/>
                </a:solidFill>
                <a:latin typeface="Calibri" pitchFamily="34" charset="0"/>
                <a:ea typeface="Calibri" pitchFamily="34" charset="-122"/>
                <a:cs typeface="Calibri" pitchFamily="34" charset="-120"/>
              </a:rPr>
              <a:t>03</a:t>
            </a:r>
            <a:endParaRPr lang="en-US" sz="2400" dirty="0"/>
          </a:p>
        </p:txBody>
      </p:sp>
      <p:sp>
        <p:nvSpPr>
          <p:cNvPr id="19" name="Text 17"/>
          <p:cNvSpPr/>
          <p:nvPr/>
        </p:nvSpPr>
        <p:spPr>
          <a:xfrm>
            <a:off x="1261872" y="4352544"/>
            <a:ext cx="10241280" cy="530352"/>
          </a:xfrm>
          <a:prstGeom prst="rect">
            <a:avLst/>
          </a:prstGeom>
          <a:noFill/>
          <a:ln/>
        </p:spPr>
        <p:txBody>
          <a:bodyPr wrap="square" rtlCol="0" anchor="ctr"/>
          <a:lstStyle/>
          <a:p>
            <a:pPr indent="0" marL="0">
              <a:buNone/>
            </a:pPr>
            <a:r>
              <a:rPr lang="en-US" sz="2000" b="1" dirty="0">
                <a:solidFill>
                  <a:srgbClr val="D4A843"/>
                </a:solidFill>
                <a:latin typeface="メイリオ" pitchFamily="34" charset="0"/>
                <a:ea typeface="メイリオ" pitchFamily="34" charset="-122"/>
                <a:cs typeface="メイリオ" pitchFamily="34" charset="-120"/>
              </a:rPr>
              <a:t>月数万〜15万円の収益実績</a:t>
            </a:r>
            <a:endParaRPr lang="en-US" sz="2000" dirty="0"/>
          </a:p>
        </p:txBody>
      </p:sp>
      <p:sp>
        <p:nvSpPr>
          <p:cNvPr id="20" name="Text 18"/>
          <p:cNvSpPr/>
          <p:nvPr/>
        </p:nvSpPr>
        <p:spPr>
          <a:xfrm>
            <a:off x="1261872" y="4901184"/>
            <a:ext cx="10241280" cy="530352"/>
          </a:xfrm>
          <a:prstGeom prst="rect">
            <a:avLst/>
          </a:prstGeom>
          <a:noFill/>
          <a:ln/>
        </p:spPr>
        <p:txBody>
          <a:bodyPr wrap="square" rtlCol="0" anchor="ctr"/>
          <a:lstStyle/>
          <a:p>
            <a:pPr indent="0" marL="0">
              <a:buNone/>
            </a:pPr>
            <a:r>
              <a:rPr lang="en-US" sz="1400" dirty="0">
                <a:solidFill>
                  <a:srgbClr val="CCDDEE"/>
                </a:solidFill>
                <a:latin typeface="メイリオ" pitchFamily="34" charset="0"/>
                <a:ea typeface="メイリオ" pitchFamily="34" charset="-122"/>
                <a:cs typeface="メイリオ" pitchFamily="34" charset="-120"/>
              </a:rPr>
              <a:t>元本100〜300万円から始め、月5〜15万円の収益を上げているメンバーが多数。実際の事例はセミナーでご紹介</a:t>
            </a:r>
            <a:endParaRPr lang="en-US" sz="1400" dirty="0"/>
          </a:p>
        </p:txBody>
      </p:sp>
      <p:sp>
        <p:nvSpPr>
          <p:cNvPr id="21" name="Text 19"/>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22" name="Text 20"/>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5715000"/>
            <a:ext cx="12192000" cy="64008"/>
          </a:xfrm>
          <a:prstGeom prst="rect">
            <a:avLst/>
          </a:prstGeom>
          <a:solidFill>
            <a:srgbClr val="D4A843"/>
          </a:solidFill>
          <a:ln/>
        </p:spPr>
      </p:sp>
      <p:sp>
        <p:nvSpPr>
          <p:cNvPr id="4" name="Shape 2"/>
          <p:cNvSpPr/>
          <p:nvPr/>
        </p:nvSpPr>
        <p:spPr>
          <a:xfrm>
            <a:off x="0" y="5779008"/>
            <a:ext cx="12192000" cy="36576"/>
          </a:xfrm>
          <a:prstGeom prst="rect">
            <a:avLst/>
          </a:prstGeom>
          <a:solidFill>
            <a:srgbClr val="E8602C"/>
          </a:solidFill>
          <a:ln/>
        </p:spPr>
      </p:sp>
      <p:sp>
        <p:nvSpPr>
          <p:cNvPr id="5" name="Text 3"/>
          <p:cNvSpPr/>
          <p:nvPr/>
        </p:nvSpPr>
        <p:spPr>
          <a:xfrm>
            <a:off x="457200" y="164592"/>
            <a:ext cx="11247120" cy="475488"/>
          </a:xfrm>
          <a:prstGeom prst="rect">
            <a:avLst/>
          </a:prstGeom>
          <a:noFill/>
          <a:ln/>
        </p:spPr>
        <p:txBody>
          <a:bodyPr wrap="square" rtlCol="0" anchor="ctr"/>
          <a:lstStyle/>
          <a:p>
            <a:pPr algn="ctr" indent="0" marL="0">
              <a:buNone/>
            </a:pPr>
            <a:r>
              <a:rPr lang="en-US" sz="2000" dirty="0">
                <a:solidFill>
                  <a:srgbClr val="B0C4DE"/>
                </a:solidFill>
                <a:latin typeface="メイリオ" pitchFamily="34" charset="0"/>
                <a:ea typeface="メイリオ" pitchFamily="34" charset="-122"/>
                <a:cs typeface="メイリオ" pitchFamily="34" charset="-120"/>
              </a:rPr>
              <a:t>次のステップ</a:t>
            </a:r>
            <a:endParaRPr lang="en-US" sz="2000" dirty="0"/>
          </a:p>
        </p:txBody>
      </p:sp>
      <p:sp>
        <p:nvSpPr>
          <p:cNvPr id="6" name="Shape 4"/>
          <p:cNvSpPr/>
          <p:nvPr/>
        </p:nvSpPr>
        <p:spPr>
          <a:xfrm>
            <a:off x="1188720" y="685800"/>
            <a:ext cx="9784080" cy="1097280"/>
          </a:xfrm>
          <a:prstGeom prst="rect">
            <a:avLst/>
          </a:prstGeom>
          <a:solidFill>
            <a:srgbClr val="D4A843"/>
          </a:solidFill>
          <a:ln/>
        </p:spPr>
      </p:sp>
      <p:sp>
        <p:nvSpPr>
          <p:cNvPr id="7" name="Text 5"/>
          <p:cNvSpPr/>
          <p:nvPr/>
        </p:nvSpPr>
        <p:spPr>
          <a:xfrm>
            <a:off x="1188720" y="685800"/>
            <a:ext cx="9784080" cy="1097280"/>
          </a:xfrm>
          <a:prstGeom prst="rect">
            <a:avLst/>
          </a:prstGeom>
          <a:noFill/>
          <a:ln/>
        </p:spPr>
        <p:txBody>
          <a:bodyPr wrap="square" rtlCol="0" anchor="ctr"/>
          <a:lstStyle/>
          <a:p>
            <a:pPr algn="ctr" indent="0" marL="0">
              <a:buNone/>
            </a:pPr>
            <a:r>
              <a:rPr lang="en-US" sz="4000" b="1" dirty="0">
                <a:solidFill>
                  <a:srgbClr val="1A2744"/>
                </a:solidFill>
                <a:latin typeface="メイリオ" pitchFamily="34" charset="0"/>
                <a:ea typeface="メイリオ" pitchFamily="34" charset="-122"/>
                <a:cs typeface="メイリオ" pitchFamily="34" charset="-120"/>
              </a:rPr>
              <a:t>高速資産形成セミナー</a:t>
            </a:r>
            <a:endParaRPr lang="en-US" sz="4000" dirty="0"/>
          </a:p>
        </p:txBody>
      </p:sp>
      <p:sp>
        <p:nvSpPr>
          <p:cNvPr id="8" name="Text 6"/>
          <p:cNvSpPr/>
          <p:nvPr/>
        </p:nvSpPr>
        <p:spPr>
          <a:xfrm>
            <a:off x="457200" y="1874520"/>
            <a:ext cx="11247120" cy="548640"/>
          </a:xfrm>
          <a:prstGeom prst="rect">
            <a:avLst/>
          </a:prstGeom>
          <a:noFill/>
          <a:ln/>
        </p:spPr>
        <p:txBody>
          <a:bodyPr wrap="square" rtlCol="0" anchor="ctr"/>
          <a:lstStyle/>
          <a:p>
            <a:pPr algn="ctr" indent="0" marL="0">
              <a:buNone/>
            </a:pPr>
            <a:r>
              <a:rPr lang="en-US" sz="2000" dirty="0">
                <a:solidFill>
                  <a:srgbClr val="FFFFFF"/>
                </a:solidFill>
                <a:latin typeface="メイリオ" pitchFamily="34" charset="0"/>
                <a:ea typeface="メイリオ" pitchFamily="34" charset="-122"/>
                <a:cs typeface="メイリオ" pitchFamily="34" charset="-120"/>
              </a:rPr>
              <a:t>米国株オプション取引の詳細を無料でお伝えします</a:t>
            </a:r>
            <a:endParaRPr lang="en-US" sz="2000" dirty="0"/>
          </a:p>
        </p:txBody>
      </p:sp>
      <p:sp>
        <p:nvSpPr>
          <p:cNvPr id="9" name="Text 7"/>
          <p:cNvSpPr/>
          <p:nvPr/>
        </p:nvSpPr>
        <p:spPr>
          <a:xfrm>
            <a:off x="1645920" y="2578608"/>
            <a:ext cx="8869680" cy="475488"/>
          </a:xfrm>
          <a:prstGeom prst="rect">
            <a:avLst/>
          </a:prstGeom>
          <a:noFill/>
          <a:ln/>
        </p:spPr>
        <p:txBody>
          <a:bodyPr wrap="square" rtlCol="0" anchor="ctr"/>
          <a:lstStyle/>
          <a:p>
            <a:pPr indent="0" marL="0">
              <a:buNone/>
            </a:pPr>
            <a:r>
              <a:rPr lang="en-US" sz="1650" dirty="0">
                <a:solidFill>
                  <a:srgbClr val="FFFFFF"/>
                </a:solidFill>
                <a:latin typeface="メイリオ" pitchFamily="34" charset="0"/>
                <a:ea typeface="メイリオ" pitchFamily="34" charset="-122"/>
                <a:cs typeface="メイリオ" pitchFamily="34" charset="-120"/>
              </a:rPr>
              <a:t>✅  軍資金を作りながら「同時に増やす仕組み」の全体像を解説</a:t>
            </a:r>
            <a:endParaRPr lang="en-US" sz="1650" dirty="0"/>
          </a:p>
        </p:txBody>
      </p:sp>
      <p:sp>
        <p:nvSpPr>
          <p:cNvPr id="10" name="Text 8"/>
          <p:cNvSpPr/>
          <p:nvPr/>
        </p:nvSpPr>
        <p:spPr>
          <a:xfrm>
            <a:off x="1645920" y="3108960"/>
            <a:ext cx="8869680" cy="475488"/>
          </a:xfrm>
          <a:prstGeom prst="rect">
            <a:avLst/>
          </a:prstGeom>
          <a:noFill/>
          <a:ln/>
        </p:spPr>
        <p:txBody>
          <a:bodyPr wrap="square" rtlCol="0" anchor="ctr"/>
          <a:lstStyle/>
          <a:p>
            <a:pPr indent="0" marL="0">
              <a:buNone/>
            </a:pPr>
            <a:r>
              <a:rPr lang="en-US" sz="1650" dirty="0">
                <a:solidFill>
                  <a:srgbClr val="FFFFFF"/>
                </a:solidFill>
                <a:latin typeface="メイリオ" pitchFamily="34" charset="0"/>
                <a:ea typeface="メイリオ" pitchFamily="34" charset="-122"/>
                <a:cs typeface="メイリオ" pitchFamily="34" charset="-120"/>
              </a:rPr>
              <a:t>✅  月5〜15万円を実現しているメンバーの実例を紹介</a:t>
            </a:r>
            <a:endParaRPr lang="en-US" sz="1650" dirty="0"/>
          </a:p>
        </p:txBody>
      </p:sp>
      <p:sp>
        <p:nvSpPr>
          <p:cNvPr id="11" name="Text 9"/>
          <p:cNvSpPr/>
          <p:nvPr/>
        </p:nvSpPr>
        <p:spPr>
          <a:xfrm>
            <a:off x="1645920" y="3639312"/>
            <a:ext cx="8869680" cy="475488"/>
          </a:xfrm>
          <a:prstGeom prst="rect">
            <a:avLst/>
          </a:prstGeom>
          <a:noFill/>
          <a:ln/>
        </p:spPr>
        <p:txBody>
          <a:bodyPr wrap="square" rtlCol="0" anchor="ctr"/>
          <a:lstStyle/>
          <a:p>
            <a:pPr indent="0" marL="0">
              <a:buNone/>
            </a:pPr>
            <a:r>
              <a:rPr lang="en-US" sz="1650" dirty="0">
                <a:solidFill>
                  <a:srgbClr val="FFFFFF"/>
                </a:solidFill>
                <a:latin typeface="メイリオ" pitchFamily="34" charset="0"/>
                <a:ea typeface="メイリオ" pitchFamily="34" charset="-122"/>
                <a:cs typeface="メイリオ" pitchFamily="34" charset="-120"/>
              </a:rPr>
              <a:t>✅  オプション取引の基礎〜実践戦略まで丁寧にお伝え</a:t>
            </a:r>
            <a:endParaRPr lang="en-US" sz="1650" dirty="0"/>
          </a:p>
        </p:txBody>
      </p:sp>
      <p:sp>
        <p:nvSpPr>
          <p:cNvPr id="12" name="Text 10"/>
          <p:cNvSpPr/>
          <p:nvPr/>
        </p:nvSpPr>
        <p:spPr>
          <a:xfrm>
            <a:off x="1645920" y="4169664"/>
            <a:ext cx="8869680" cy="475488"/>
          </a:xfrm>
          <a:prstGeom prst="rect">
            <a:avLst/>
          </a:prstGeom>
          <a:noFill/>
          <a:ln/>
        </p:spPr>
        <p:txBody>
          <a:bodyPr wrap="square" rtlCol="0" anchor="ctr"/>
          <a:lstStyle/>
          <a:p>
            <a:pPr indent="0" marL="0">
              <a:buNone/>
            </a:pPr>
            <a:r>
              <a:rPr lang="en-US" sz="1650" dirty="0">
                <a:solidFill>
                  <a:srgbClr val="FFFFFF"/>
                </a:solidFill>
                <a:latin typeface="メイリオ" pitchFamily="34" charset="0"/>
                <a:ea typeface="メイリオ" pitchFamily="34" charset="-122"/>
                <a:cs typeface="メイリオ" pitchFamily="34" charset="-120"/>
              </a:rPr>
              <a:t>✅  個別相談・質疑応答あり（先着順）</a:t>
            </a:r>
            <a:endParaRPr lang="en-US" sz="1650" dirty="0"/>
          </a:p>
        </p:txBody>
      </p:sp>
      <p:sp>
        <p:nvSpPr>
          <p:cNvPr id="13" name="Shape 11"/>
          <p:cNvSpPr/>
          <p:nvPr/>
        </p:nvSpPr>
        <p:spPr>
          <a:xfrm>
            <a:off x="2011680" y="4800600"/>
            <a:ext cx="8138160" cy="749808"/>
          </a:xfrm>
          <a:prstGeom prst="rect">
            <a:avLst/>
          </a:prstGeom>
          <a:solidFill>
            <a:srgbClr val="E8602C"/>
          </a:solidFill>
          <a:ln/>
        </p:spPr>
      </p:sp>
      <p:sp>
        <p:nvSpPr>
          <p:cNvPr id="14" name="Text 12"/>
          <p:cNvSpPr/>
          <p:nvPr/>
        </p:nvSpPr>
        <p:spPr>
          <a:xfrm>
            <a:off x="2011680" y="4800600"/>
            <a:ext cx="8138160" cy="749808"/>
          </a:xfrm>
          <a:prstGeom prst="rect">
            <a:avLst/>
          </a:prstGeom>
          <a:noFill/>
          <a:ln/>
        </p:spPr>
        <p:txBody>
          <a:bodyPr wrap="square" rtlCol="0" anchor="ctr"/>
          <a:lstStyle/>
          <a:p>
            <a:pPr algn="ctr" indent="0" marL="0">
              <a:buNone/>
            </a:pPr>
            <a:r>
              <a:rPr lang="en-US" sz="2100" b="1" dirty="0">
                <a:solidFill>
                  <a:srgbClr val="FFFFFF"/>
                </a:solidFill>
                <a:latin typeface="メイリオ" pitchFamily="34" charset="0"/>
                <a:ea typeface="メイリオ" pitchFamily="34" charset="-122"/>
                <a:cs typeface="メイリオ" pitchFamily="34" charset="-120"/>
              </a:rPr>
              <a:t>▶  まずは無料セミナーにご参加ください</a:t>
            </a:r>
            <a:endParaRPr lang="en-US" sz="2100" dirty="0"/>
          </a:p>
        </p:txBody>
      </p:sp>
      <p:sp>
        <p:nvSpPr>
          <p:cNvPr id="15" name="Text 13"/>
          <p:cNvSpPr/>
          <p:nvPr/>
        </p:nvSpPr>
        <p:spPr>
          <a:xfrm>
            <a:off x="457200" y="5577840"/>
            <a:ext cx="11247120" cy="274320"/>
          </a:xfrm>
          <a:prstGeom prst="rect">
            <a:avLst/>
          </a:prstGeom>
          <a:noFill/>
          <a:ln/>
        </p:spPr>
        <p:txBody>
          <a:bodyPr wrap="square" rtlCol="0" anchor="ctr"/>
          <a:lstStyle/>
          <a:p>
            <a:pPr algn="ctr" indent="0" marL="0">
              <a:buNone/>
            </a:pPr>
            <a:r>
              <a:rPr lang="en-US" sz="1100" i="1" dirty="0">
                <a:solidFill>
                  <a:srgbClr val="AABBCC"/>
                </a:solidFill>
                <a:latin typeface="メイリオ" pitchFamily="34" charset="0"/>
                <a:ea typeface="メイリオ" pitchFamily="34" charset="-122"/>
                <a:cs typeface="メイリオ" pitchFamily="34" charset="-120"/>
              </a:rPr>
              <a:t>株式会社 Vision Creator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365760" y="411480"/>
            <a:ext cx="82296" cy="658368"/>
          </a:xfrm>
          <a:prstGeom prst="rect">
            <a:avLst/>
          </a:prstGeom>
          <a:solidFill>
            <a:srgbClr val="D4A843"/>
          </a:solidFill>
          <a:ln/>
        </p:spPr>
      </p:sp>
      <p:sp>
        <p:nvSpPr>
          <p:cNvPr id="4" name="Text 2"/>
          <p:cNvSpPr/>
          <p:nvPr/>
        </p:nvSpPr>
        <p:spPr>
          <a:xfrm>
            <a:off x="594360" y="411480"/>
            <a:ext cx="10972800" cy="658368"/>
          </a:xfrm>
          <a:prstGeom prst="rect">
            <a:avLst/>
          </a:prstGeom>
          <a:noFill/>
          <a:ln/>
        </p:spPr>
        <p:txBody>
          <a:bodyPr wrap="square" rtlCol="0" anchor="ctr"/>
          <a:lstStyle/>
          <a:p>
            <a:pPr indent="0" marL="0">
              <a:buNone/>
            </a:pPr>
            <a:r>
              <a:rPr lang="en-US" sz="2800" b="1" dirty="0">
                <a:solidFill>
                  <a:srgbClr val="1A2744"/>
                </a:solidFill>
                <a:latin typeface="メイリオ" pitchFamily="34" charset="0"/>
                <a:ea typeface="メイリオ" pitchFamily="34" charset="-122"/>
                <a:cs typeface="メイリオ" pitchFamily="34" charset="-120"/>
              </a:rPr>
              <a:t>まとめ：今日から始める3ステップ</a:t>
            </a:r>
            <a:endParaRPr lang="en-US" sz="2800" dirty="0"/>
          </a:p>
        </p:txBody>
      </p:sp>
      <p:sp>
        <p:nvSpPr>
          <p:cNvPr id="5" name="Shape 3"/>
          <p:cNvSpPr/>
          <p:nvPr/>
        </p:nvSpPr>
        <p:spPr>
          <a:xfrm>
            <a:off x="347472" y="1234440"/>
            <a:ext cx="3657600" cy="4709160"/>
          </a:xfrm>
          <a:prstGeom prst="rect">
            <a:avLst/>
          </a:prstGeom>
          <a:solidFill>
            <a:srgbClr val="FFFFFF"/>
          </a:solidFill>
          <a:ln w="12700">
            <a:solidFill>
              <a:srgbClr val="D8DEE6"/>
            </a:solidFill>
            <a:prstDash val="solid"/>
          </a:ln>
        </p:spPr>
      </p:sp>
      <p:sp>
        <p:nvSpPr>
          <p:cNvPr id="6" name="Shape 4"/>
          <p:cNvSpPr/>
          <p:nvPr/>
        </p:nvSpPr>
        <p:spPr>
          <a:xfrm>
            <a:off x="347472" y="1234440"/>
            <a:ext cx="3657600" cy="960120"/>
          </a:xfrm>
          <a:prstGeom prst="rect">
            <a:avLst/>
          </a:prstGeom>
          <a:solidFill>
            <a:srgbClr val="1565C0"/>
          </a:solidFill>
          <a:ln/>
        </p:spPr>
      </p:sp>
      <p:sp>
        <p:nvSpPr>
          <p:cNvPr id="7" name="Text 5"/>
          <p:cNvSpPr/>
          <p:nvPr/>
        </p:nvSpPr>
        <p:spPr>
          <a:xfrm>
            <a:off x="347472" y="1261872"/>
            <a:ext cx="3657600" cy="530352"/>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STEP 1</a:t>
            </a:r>
            <a:endParaRPr lang="en-US" sz="2100" dirty="0"/>
          </a:p>
        </p:txBody>
      </p:sp>
      <p:sp>
        <p:nvSpPr>
          <p:cNvPr id="8" name="Text 6"/>
          <p:cNvSpPr/>
          <p:nvPr/>
        </p:nvSpPr>
        <p:spPr>
          <a:xfrm>
            <a:off x="347472" y="1737360"/>
            <a:ext cx="3657600" cy="384048"/>
          </a:xfrm>
          <a:prstGeom prst="rect">
            <a:avLst/>
          </a:prstGeom>
          <a:noFill/>
          <a:ln/>
        </p:spPr>
        <p:txBody>
          <a:bodyPr wrap="square" rtlCol="0" anchor="ctr"/>
          <a:lstStyle/>
          <a:p>
            <a:pPr algn="ctr" indent="0" marL="0">
              <a:buNone/>
            </a:pPr>
            <a:r>
              <a:rPr lang="en-US" sz="1100" dirty="0">
                <a:solidFill>
                  <a:srgbClr val="FFFFFF"/>
                </a:solidFill>
                <a:latin typeface="メイリオ" pitchFamily="34" charset="0"/>
                <a:ea typeface="メイリオ" pitchFamily="34" charset="-122"/>
                <a:cs typeface="メイリオ" pitchFamily="34" charset="-120"/>
              </a:rPr>
              <a:t>今すぐ（〜1ヶ月）</a:t>
            </a:r>
            <a:endParaRPr lang="en-US" sz="1100" dirty="0"/>
          </a:p>
        </p:txBody>
      </p:sp>
      <p:sp>
        <p:nvSpPr>
          <p:cNvPr id="9" name="Shape 7"/>
          <p:cNvSpPr/>
          <p:nvPr/>
        </p:nvSpPr>
        <p:spPr>
          <a:xfrm>
            <a:off x="530352" y="2377440"/>
            <a:ext cx="438912" cy="438912"/>
          </a:xfrm>
          <a:prstGeom prst="rect">
            <a:avLst/>
          </a:prstGeom>
          <a:solidFill>
            <a:srgbClr val="1565C0"/>
          </a:solidFill>
          <a:ln/>
        </p:spPr>
      </p:sp>
      <p:sp>
        <p:nvSpPr>
          <p:cNvPr id="10" name="Text 8"/>
          <p:cNvSpPr/>
          <p:nvPr/>
        </p:nvSpPr>
        <p:spPr>
          <a:xfrm>
            <a:off x="530352" y="2377440"/>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1060704" y="2377440"/>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先取り貯蓄の自動化を設定</a:t>
            </a:r>
            <a:endParaRPr lang="en-US" sz="1300" dirty="0"/>
          </a:p>
        </p:txBody>
      </p:sp>
      <p:sp>
        <p:nvSpPr>
          <p:cNvPr id="12" name="Shape 10"/>
          <p:cNvSpPr/>
          <p:nvPr/>
        </p:nvSpPr>
        <p:spPr>
          <a:xfrm>
            <a:off x="530352" y="3255264"/>
            <a:ext cx="438912" cy="438912"/>
          </a:xfrm>
          <a:prstGeom prst="rect">
            <a:avLst/>
          </a:prstGeom>
          <a:solidFill>
            <a:srgbClr val="1565C0"/>
          </a:solidFill>
          <a:ln/>
        </p:spPr>
      </p:sp>
      <p:sp>
        <p:nvSpPr>
          <p:cNvPr id="13" name="Text 11"/>
          <p:cNvSpPr/>
          <p:nvPr/>
        </p:nvSpPr>
        <p:spPr>
          <a:xfrm>
            <a:off x="530352" y="3255264"/>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1060704" y="3255264"/>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固定費の見直し（スマホ・保険）</a:t>
            </a:r>
            <a:endParaRPr lang="en-US" sz="1300" dirty="0"/>
          </a:p>
        </p:txBody>
      </p:sp>
      <p:sp>
        <p:nvSpPr>
          <p:cNvPr id="15" name="Shape 13"/>
          <p:cNvSpPr/>
          <p:nvPr/>
        </p:nvSpPr>
        <p:spPr>
          <a:xfrm>
            <a:off x="530352" y="4133088"/>
            <a:ext cx="438912" cy="438912"/>
          </a:xfrm>
          <a:prstGeom prst="rect">
            <a:avLst/>
          </a:prstGeom>
          <a:solidFill>
            <a:srgbClr val="1565C0"/>
          </a:solidFill>
          <a:ln/>
        </p:spPr>
      </p:sp>
      <p:sp>
        <p:nvSpPr>
          <p:cNvPr id="16" name="Text 14"/>
          <p:cNvSpPr/>
          <p:nvPr/>
        </p:nvSpPr>
        <p:spPr>
          <a:xfrm>
            <a:off x="530352" y="4133088"/>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060704" y="4133088"/>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キャッシュレスを1〜2枚に集約</a:t>
            </a:r>
            <a:endParaRPr lang="en-US" sz="1300" dirty="0"/>
          </a:p>
        </p:txBody>
      </p:sp>
      <p:sp>
        <p:nvSpPr>
          <p:cNvPr id="18" name="Shape 16"/>
          <p:cNvSpPr/>
          <p:nvPr/>
        </p:nvSpPr>
        <p:spPr>
          <a:xfrm>
            <a:off x="4279392" y="1234440"/>
            <a:ext cx="3657600" cy="4709160"/>
          </a:xfrm>
          <a:prstGeom prst="rect">
            <a:avLst/>
          </a:prstGeom>
          <a:solidFill>
            <a:srgbClr val="FFFFFF"/>
          </a:solidFill>
          <a:ln w="12700">
            <a:solidFill>
              <a:srgbClr val="D8DEE6"/>
            </a:solidFill>
            <a:prstDash val="solid"/>
          </a:ln>
        </p:spPr>
      </p:sp>
      <p:sp>
        <p:nvSpPr>
          <p:cNvPr id="19" name="Shape 17"/>
          <p:cNvSpPr/>
          <p:nvPr/>
        </p:nvSpPr>
        <p:spPr>
          <a:xfrm>
            <a:off x="4279392" y="1234440"/>
            <a:ext cx="3657600" cy="960120"/>
          </a:xfrm>
          <a:prstGeom prst="rect">
            <a:avLst/>
          </a:prstGeom>
          <a:solidFill>
            <a:srgbClr val="2E7D32"/>
          </a:solidFill>
          <a:ln/>
        </p:spPr>
      </p:sp>
      <p:sp>
        <p:nvSpPr>
          <p:cNvPr id="20" name="Text 18"/>
          <p:cNvSpPr/>
          <p:nvPr/>
        </p:nvSpPr>
        <p:spPr>
          <a:xfrm>
            <a:off x="4279392" y="1261872"/>
            <a:ext cx="3657600" cy="530352"/>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STEP 2</a:t>
            </a:r>
            <a:endParaRPr lang="en-US" sz="2100" dirty="0"/>
          </a:p>
        </p:txBody>
      </p:sp>
      <p:sp>
        <p:nvSpPr>
          <p:cNvPr id="21" name="Text 19"/>
          <p:cNvSpPr/>
          <p:nvPr/>
        </p:nvSpPr>
        <p:spPr>
          <a:xfrm>
            <a:off x="4279392" y="1737360"/>
            <a:ext cx="3657600" cy="384048"/>
          </a:xfrm>
          <a:prstGeom prst="rect">
            <a:avLst/>
          </a:prstGeom>
          <a:noFill/>
          <a:ln/>
        </p:spPr>
        <p:txBody>
          <a:bodyPr wrap="square" rtlCol="0" anchor="ctr"/>
          <a:lstStyle/>
          <a:p>
            <a:pPr algn="ctr" indent="0" marL="0">
              <a:buNone/>
            </a:pPr>
            <a:r>
              <a:rPr lang="en-US" sz="1100" dirty="0">
                <a:solidFill>
                  <a:srgbClr val="FFFFFF"/>
                </a:solidFill>
                <a:latin typeface="メイリオ" pitchFamily="34" charset="0"/>
                <a:ea typeface="メイリオ" pitchFamily="34" charset="-122"/>
                <a:cs typeface="メイリオ" pitchFamily="34" charset="-120"/>
              </a:rPr>
              <a:t>仕組みを整える（1〜3ヶ月）</a:t>
            </a:r>
            <a:endParaRPr lang="en-US" sz="1100" dirty="0"/>
          </a:p>
        </p:txBody>
      </p:sp>
      <p:sp>
        <p:nvSpPr>
          <p:cNvPr id="22" name="Shape 20"/>
          <p:cNvSpPr/>
          <p:nvPr/>
        </p:nvSpPr>
        <p:spPr>
          <a:xfrm>
            <a:off x="4462272" y="2377440"/>
            <a:ext cx="438912" cy="438912"/>
          </a:xfrm>
          <a:prstGeom prst="rect">
            <a:avLst/>
          </a:prstGeom>
          <a:solidFill>
            <a:srgbClr val="2E7D32"/>
          </a:solidFill>
          <a:ln/>
        </p:spPr>
      </p:sp>
      <p:sp>
        <p:nvSpPr>
          <p:cNvPr id="23" name="Text 21"/>
          <p:cNvSpPr/>
          <p:nvPr/>
        </p:nvSpPr>
        <p:spPr>
          <a:xfrm>
            <a:off x="4462272" y="2377440"/>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4992624" y="2377440"/>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ふるさと納税 / iDeCo を申込む</a:t>
            </a:r>
            <a:endParaRPr lang="en-US" sz="1300" dirty="0"/>
          </a:p>
        </p:txBody>
      </p:sp>
      <p:sp>
        <p:nvSpPr>
          <p:cNvPr id="25" name="Shape 23"/>
          <p:cNvSpPr/>
          <p:nvPr/>
        </p:nvSpPr>
        <p:spPr>
          <a:xfrm>
            <a:off x="4462272" y="3255264"/>
            <a:ext cx="438912" cy="438912"/>
          </a:xfrm>
          <a:prstGeom prst="rect">
            <a:avLst/>
          </a:prstGeom>
          <a:solidFill>
            <a:srgbClr val="2E7D32"/>
          </a:solidFill>
          <a:ln/>
        </p:spPr>
      </p:sp>
      <p:sp>
        <p:nvSpPr>
          <p:cNvPr id="26" name="Text 24"/>
          <p:cNvSpPr/>
          <p:nvPr/>
        </p:nvSpPr>
        <p:spPr>
          <a:xfrm>
            <a:off x="4462272" y="3255264"/>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4992624" y="3255264"/>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ポイントサイト登録・自己アフィ活用</a:t>
            </a:r>
            <a:endParaRPr lang="en-US" sz="1300" dirty="0"/>
          </a:p>
        </p:txBody>
      </p:sp>
      <p:sp>
        <p:nvSpPr>
          <p:cNvPr id="28" name="Shape 26"/>
          <p:cNvSpPr/>
          <p:nvPr/>
        </p:nvSpPr>
        <p:spPr>
          <a:xfrm>
            <a:off x="4462272" y="4133088"/>
            <a:ext cx="438912" cy="438912"/>
          </a:xfrm>
          <a:prstGeom prst="rect">
            <a:avLst/>
          </a:prstGeom>
          <a:solidFill>
            <a:srgbClr val="2E7D32"/>
          </a:solidFill>
          <a:ln/>
        </p:spPr>
      </p:sp>
      <p:sp>
        <p:nvSpPr>
          <p:cNvPr id="29" name="Text 27"/>
          <p:cNvSpPr/>
          <p:nvPr/>
        </p:nvSpPr>
        <p:spPr>
          <a:xfrm>
            <a:off x="4462272" y="4133088"/>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8"/>
          <p:cNvSpPr/>
          <p:nvPr/>
        </p:nvSpPr>
        <p:spPr>
          <a:xfrm>
            <a:off x="4992624" y="4133088"/>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断捨離・不用品を売却し種銭を作る</a:t>
            </a:r>
            <a:endParaRPr lang="en-US" sz="1300" dirty="0"/>
          </a:p>
        </p:txBody>
      </p:sp>
      <p:sp>
        <p:nvSpPr>
          <p:cNvPr id="31" name="Shape 29"/>
          <p:cNvSpPr/>
          <p:nvPr/>
        </p:nvSpPr>
        <p:spPr>
          <a:xfrm>
            <a:off x="8211312" y="1234440"/>
            <a:ext cx="3657600" cy="4709160"/>
          </a:xfrm>
          <a:prstGeom prst="rect">
            <a:avLst/>
          </a:prstGeom>
          <a:solidFill>
            <a:srgbClr val="FFFFFF"/>
          </a:solidFill>
          <a:ln w="12700">
            <a:solidFill>
              <a:srgbClr val="D8DEE6"/>
            </a:solidFill>
            <a:prstDash val="solid"/>
          </a:ln>
        </p:spPr>
      </p:sp>
      <p:sp>
        <p:nvSpPr>
          <p:cNvPr id="32" name="Shape 30"/>
          <p:cNvSpPr/>
          <p:nvPr/>
        </p:nvSpPr>
        <p:spPr>
          <a:xfrm>
            <a:off x="8211312" y="1234440"/>
            <a:ext cx="3657600" cy="960120"/>
          </a:xfrm>
          <a:prstGeom prst="rect">
            <a:avLst/>
          </a:prstGeom>
          <a:solidFill>
            <a:srgbClr val="E8602C"/>
          </a:solidFill>
          <a:ln/>
        </p:spPr>
      </p:sp>
      <p:sp>
        <p:nvSpPr>
          <p:cNvPr id="33" name="Text 31"/>
          <p:cNvSpPr/>
          <p:nvPr/>
        </p:nvSpPr>
        <p:spPr>
          <a:xfrm>
            <a:off x="8211312" y="1261872"/>
            <a:ext cx="3657600" cy="530352"/>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STEP 3</a:t>
            </a:r>
            <a:endParaRPr lang="en-US" sz="2100" dirty="0"/>
          </a:p>
        </p:txBody>
      </p:sp>
      <p:sp>
        <p:nvSpPr>
          <p:cNvPr id="34" name="Text 32"/>
          <p:cNvSpPr/>
          <p:nvPr/>
        </p:nvSpPr>
        <p:spPr>
          <a:xfrm>
            <a:off x="8211312" y="1737360"/>
            <a:ext cx="3657600" cy="384048"/>
          </a:xfrm>
          <a:prstGeom prst="rect">
            <a:avLst/>
          </a:prstGeom>
          <a:noFill/>
          <a:ln/>
        </p:spPr>
        <p:txBody>
          <a:bodyPr wrap="square" rtlCol="0" anchor="ctr"/>
          <a:lstStyle/>
          <a:p>
            <a:pPr algn="ctr" indent="0" marL="0">
              <a:buNone/>
            </a:pPr>
            <a:r>
              <a:rPr lang="en-US" sz="1100" dirty="0">
                <a:solidFill>
                  <a:srgbClr val="FFFFFF"/>
                </a:solidFill>
                <a:latin typeface="メイリオ" pitchFamily="34" charset="0"/>
                <a:ea typeface="メイリオ" pitchFamily="34" charset="-122"/>
                <a:cs typeface="メイリオ" pitchFamily="34" charset="-120"/>
              </a:rPr>
              <a:t>加速させる（3ヶ月〜）</a:t>
            </a:r>
            <a:endParaRPr lang="en-US" sz="1100" dirty="0"/>
          </a:p>
        </p:txBody>
      </p:sp>
      <p:sp>
        <p:nvSpPr>
          <p:cNvPr id="35" name="Shape 33"/>
          <p:cNvSpPr/>
          <p:nvPr/>
        </p:nvSpPr>
        <p:spPr>
          <a:xfrm>
            <a:off x="8394192" y="2377440"/>
            <a:ext cx="438912" cy="438912"/>
          </a:xfrm>
          <a:prstGeom prst="rect">
            <a:avLst/>
          </a:prstGeom>
          <a:solidFill>
            <a:srgbClr val="E8602C"/>
          </a:solidFill>
          <a:ln/>
        </p:spPr>
      </p:sp>
      <p:sp>
        <p:nvSpPr>
          <p:cNvPr id="36" name="Text 34"/>
          <p:cNvSpPr/>
          <p:nvPr/>
        </p:nvSpPr>
        <p:spPr>
          <a:xfrm>
            <a:off x="8394192" y="2377440"/>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7" name="Text 35"/>
          <p:cNvSpPr/>
          <p:nvPr/>
        </p:nvSpPr>
        <p:spPr>
          <a:xfrm>
            <a:off x="8924544" y="2377440"/>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副業をスタート（小さく始める）</a:t>
            </a:r>
            <a:endParaRPr lang="en-US" sz="1300" dirty="0"/>
          </a:p>
        </p:txBody>
      </p:sp>
      <p:sp>
        <p:nvSpPr>
          <p:cNvPr id="38" name="Shape 36"/>
          <p:cNvSpPr/>
          <p:nvPr/>
        </p:nvSpPr>
        <p:spPr>
          <a:xfrm>
            <a:off x="8394192" y="3255264"/>
            <a:ext cx="438912" cy="438912"/>
          </a:xfrm>
          <a:prstGeom prst="rect">
            <a:avLst/>
          </a:prstGeom>
          <a:solidFill>
            <a:srgbClr val="E8602C"/>
          </a:solidFill>
          <a:ln/>
        </p:spPr>
      </p:sp>
      <p:sp>
        <p:nvSpPr>
          <p:cNvPr id="39" name="Text 37"/>
          <p:cNvSpPr/>
          <p:nvPr/>
        </p:nvSpPr>
        <p:spPr>
          <a:xfrm>
            <a:off x="8394192" y="3255264"/>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0" name="Text 38"/>
          <p:cNvSpPr/>
          <p:nvPr/>
        </p:nvSpPr>
        <p:spPr>
          <a:xfrm>
            <a:off x="8924544" y="3255264"/>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全手法の収益を投資口座に自動移動</a:t>
            </a:r>
            <a:endParaRPr lang="en-US" sz="1300" dirty="0"/>
          </a:p>
        </p:txBody>
      </p:sp>
      <p:sp>
        <p:nvSpPr>
          <p:cNvPr id="41" name="Shape 39"/>
          <p:cNvSpPr/>
          <p:nvPr/>
        </p:nvSpPr>
        <p:spPr>
          <a:xfrm>
            <a:off x="8394192" y="4133088"/>
            <a:ext cx="438912" cy="438912"/>
          </a:xfrm>
          <a:prstGeom prst="rect">
            <a:avLst/>
          </a:prstGeom>
          <a:solidFill>
            <a:srgbClr val="E8602C"/>
          </a:solidFill>
          <a:ln/>
        </p:spPr>
      </p:sp>
      <p:sp>
        <p:nvSpPr>
          <p:cNvPr id="42" name="Text 40"/>
          <p:cNvSpPr/>
          <p:nvPr/>
        </p:nvSpPr>
        <p:spPr>
          <a:xfrm>
            <a:off x="8394192" y="4133088"/>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3" name="Text 41"/>
          <p:cNvSpPr/>
          <p:nvPr/>
        </p:nvSpPr>
        <p:spPr>
          <a:xfrm>
            <a:off x="8924544" y="4133088"/>
            <a:ext cx="2834640" cy="749808"/>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「増やす仕組み」を手に入れる</a:t>
            </a:r>
            <a:endParaRPr lang="en-US" sz="1300" dirty="0"/>
          </a:p>
        </p:txBody>
      </p:sp>
      <p:sp>
        <p:nvSpPr>
          <p:cNvPr id="44" name="Shape 42"/>
          <p:cNvSpPr/>
          <p:nvPr/>
        </p:nvSpPr>
        <p:spPr>
          <a:xfrm>
            <a:off x="347472" y="6053328"/>
            <a:ext cx="11448288" cy="530352"/>
          </a:xfrm>
          <a:prstGeom prst="rect">
            <a:avLst/>
          </a:prstGeom>
          <a:solidFill>
            <a:srgbClr val="1A2744"/>
          </a:solidFill>
          <a:ln/>
        </p:spPr>
      </p:sp>
      <p:sp>
        <p:nvSpPr>
          <p:cNvPr id="45" name="Text 43"/>
          <p:cNvSpPr/>
          <p:nvPr/>
        </p:nvSpPr>
        <p:spPr>
          <a:xfrm>
            <a:off x="347472" y="6053328"/>
            <a:ext cx="11448288" cy="530352"/>
          </a:xfrm>
          <a:prstGeom prst="rect">
            <a:avLst/>
          </a:prstGeom>
          <a:noFill/>
          <a:ln/>
        </p:spPr>
        <p:txBody>
          <a:bodyPr wrap="square" rtlCol="0" anchor="ctr"/>
          <a:lstStyle/>
          <a:p>
            <a:pPr algn="ctr" indent="0" marL="0">
              <a:buNone/>
            </a:pPr>
            <a:r>
              <a:rPr lang="en-US" sz="1300" b="1" dirty="0">
                <a:solidFill>
                  <a:srgbClr val="D4A843"/>
                </a:solidFill>
                <a:latin typeface="メイリオ" pitchFamily="34" charset="0"/>
                <a:ea typeface="メイリオ" pitchFamily="34" charset="-122"/>
                <a:cs typeface="メイリオ" pitchFamily="34" charset="-120"/>
              </a:rPr>
              <a:t>軍資金を作りながら、同時に増やす仕組みを手に入れる。それが「高速資産形成」です。  ─  株式会社 Vision Creator</a:t>
            </a:r>
            <a:endParaRPr lang="en-US" sz="1300" dirty="0"/>
          </a:p>
        </p:txBody>
      </p:sp>
      <p:sp>
        <p:nvSpPr>
          <p:cNvPr id="46" name="Text 44"/>
          <p:cNvSpPr/>
          <p:nvPr/>
        </p:nvSpPr>
        <p:spPr>
          <a:xfrm>
            <a:off x="274320" y="6291072"/>
            <a:ext cx="5486400" cy="256032"/>
          </a:xfrm>
          <a:prstGeom prst="rect">
            <a:avLst/>
          </a:prstGeom>
          <a:noFill/>
          <a:ln/>
        </p:spPr>
        <p:txBody>
          <a:bodyPr wrap="square" rtlCol="0" anchor="ctr"/>
          <a:lstStyle/>
          <a:p>
            <a:pPr algn="l" indent="0" marL="0">
              <a:buNone/>
            </a:pPr>
            <a:r>
              <a:rPr lang="en-US" sz="900" i="1" dirty="0">
                <a:solidFill>
                  <a:srgbClr val="7A8A9A"/>
                </a:solidFill>
                <a:latin typeface="メイリオ" pitchFamily="34" charset="0"/>
                <a:ea typeface="メイリオ" pitchFamily="34" charset="-122"/>
                <a:cs typeface="メイリオ" pitchFamily="34" charset="-120"/>
              </a:rPr>
              <a:t>株式会社 Vision Creator</a:t>
            </a:r>
            <a:endParaRPr lang="en-US" sz="900" dirty="0"/>
          </a:p>
        </p:txBody>
      </p:sp>
      <p:sp>
        <p:nvSpPr>
          <p:cNvPr id="47" name="Text 45"/>
          <p:cNvSpPr/>
          <p:nvPr/>
        </p:nvSpPr>
        <p:spPr>
          <a:xfrm>
            <a:off x="5943600" y="6291072"/>
            <a:ext cx="6217920" cy="256032"/>
          </a:xfrm>
          <a:prstGeom prst="rect">
            <a:avLst/>
          </a:prstGeom>
          <a:noFill/>
          <a:ln/>
        </p:spPr>
        <p:txBody>
          <a:bodyPr wrap="square" rtlCol="0" anchor="ctr"/>
          <a:lstStyle/>
          <a:p>
            <a:pPr algn="r" indent="0" marL="0">
              <a:buNone/>
            </a:pPr>
            <a:r>
              <a:rPr lang="en-US" sz="900" dirty="0">
                <a:solidFill>
                  <a:srgbClr val="7A8A9A"/>
                </a:solidFill>
                <a:latin typeface="メイリオ" pitchFamily="34" charset="0"/>
                <a:ea typeface="メイリオ" pitchFamily="34" charset="-122"/>
                <a:cs typeface="メイリオ" pitchFamily="34" charset="-120"/>
              </a:rPr>
              <a:t>投資の軍資金を作る8つの方法</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2026-03-03T14:54:37Z</dcterms:created>
  <dcterms:modified xsi:type="dcterms:W3CDTF">2026-03-03T14:54:37Z</dcterms:modified>
</cp:coreProperties>
</file>