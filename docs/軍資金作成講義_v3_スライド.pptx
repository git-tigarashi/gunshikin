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6072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833872"/>
            <a:ext cx="12192000" cy="36576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347472"/>
            <a:ext cx="8686800" cy="292608"/>
          </a:xfrm>
          <a:prstGeom prst="rect">
            <a:avLst/>
          </a:prstGeom>
          <a:solidFill>
            <a:srgbClr val="0D1830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3840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40代からでも間に合う資産形成の始め方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731520"/>
            <a:ext cx="8686800" cy="292608"/>
          </a:xfrm>
          <a:prstGeom prst="rect">
            <a:avLst/>
          </a:prstGeom>
          <a:solidFill>
            <a:srgbClr val="0D1830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76809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資産形成の9割は「投資前」で決まる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1115568"/>
            <a:ext cx="8686800" cy="292608"/>
          </a:xfrm>
          <a:prstGeom prst="rect">
            <a:avLst/>
          </a:prstGeom>
          <a:solidFill>
            <a:srgbClr val="0D1830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15214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なぜ多くの人は投資で結果が出ないのか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5727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48640" y="235915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最初にやっている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1371600" y="3182112"/>
            <a:ext cx="9418320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182112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「軍資金」の作り方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3474720" y="4553712"/>
            <a:ext cx="5212080" cy="713232"/>
          </a:xfrm>
          <a:prstGeom prst="rect">
            <a:avLst/>
          </a:prstGeom>
          <a:solidFill>
            <a:srgbClr val="2430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4553712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0" y="59893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84048"/>
            <a:ext cx="82296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本日お伝えすること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投資を始める前に知っておくべき話 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298448"/>
            <a:ext cx="5029200" cy="11155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408176"/>
            <a:ext cx="4846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なぜ多くの人は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投資で結果が出ないのか？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84048" y="2633472"/>
            <a:ext cx="5029200" cy="11155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2743200"/>
            <a:ext cx="4846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資産形成は銘柄ではなく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「ここ」で決まる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84048" y="3968496"/>
            <a:ext cx="5029200" cy="11155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4078224"/>
            <a:ext cx="4846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40代からの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資産形成の正しい順番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0" y="1298448"/>
            <a:ext cx="5943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1298448"/>
            <a:ext cx="5943600" cy="5669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298448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本日の講義内容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197510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Part 1  投資で失敗する人・成功する人の違い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Part 2  「軍資金」という発想の転換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259689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Part 3  軍資金を作る12の方法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90779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①〜④  支出設計・還元活用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321868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⑤〜⑧  収入獲得・節税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52958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⑨  自給思考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38404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⑩  高時給への転職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415137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⑪  低金利の借金を積極的に活用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446227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⑫  家族でお金を共有する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477316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Part 4  40代からの資産形成ロードマップ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なぜ多くの人は投資で結果が出ないのか？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11228832" cy="1389888"/>
          </a:xfrm>
          <a:prstGeom prst="rect">
            <a:avLst/>
          </a:prstGeom>
          <a:solidFill>
            <a:srgbClr val="24306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78992"/>
            <a:ext cx="749808" cy="138988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46304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61872" y="1170432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「銘柄選び」に集中しすぎる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61872" y="1700784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「どの株を買えば儲かるか」ばかり考える。しかし利益の大半は銘柄ではなく元本の大きさで決まる。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84048" y="2651760"/>
            <a:ext cx="11228832" cy="1389888"/>
          </a:xfrm>
          <a:prstGeom prst="rect">
            <a:avLst/>
          </a:prstGeom>
          <a:solidFill>
            <a:srgbClr val="24306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651760"/>
            <a:ext cx="749808" cy="138988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3035808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61872" y="2743200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元本（軍資金）が少なすぎる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61872" y="3273552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10万円を運用して年5%の利益 ＝ 5,000円。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100万円なら50,000円。同じ努力でも10倍の差になる。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84048" y="4224528"/>
            <a:ext cx="11228832" cy="1389888"/>
          </a:xfrm>
          <a:prstGeom prst="rect">
            <a:avLst/>
          </a:prstGeom>
          <a:solidFill>
            <a:srgbClr val="24306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4224528"/>
            <a:ext cx="749808" cy="138988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4608576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61872" y="4315968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正しい「順番」を知らずに始める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61872" y="4846320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軍資金を作る準備なしに投資をスタートする。この順番を間違えると、知識があっても動けない。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84048" y="5760720"/>
            <a:ext cx="1122883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" y="5833872"/>
            <a:ext cx="54864" cy="67665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5852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資産形成は銘柄ではなく「ここ」で決まる ── それが今日の本題です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84048"/>
            <a:ext cx="82296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資産形成の9割は「投資前」で決まる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11228832" cy="5669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16736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同じ利回りでも「元本」の大きさで結果がまったく変わる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4048" y="2029968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2029968"/>
            <a:ext cx="2697480" cy="566928"/>
          </a:xfrm>
          <a:prstGeom prst="rect">
            <a:avLst/>
          </a:prstGeom>
          <a:solidFill>
            <a:srgbClr val="7A8A9A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20482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元本 10万円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270662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年利5%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3127248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5,000円/年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" y="393192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コーヒー代にもならない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18688" y="2029968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2029968"/>
            <a:ext cx="2697480" cy="5669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218688" y="20482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元本 100万円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18688" y="270662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年利5%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18688" y="3127248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50,000円/年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28416" y="393192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月4,000円超の収入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53328" y="2029968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53328" y="2029968"/>
            <a:ext cx="269748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053328" y="20482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元本 300万円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53328" y="270662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年利5%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53328" y="3127248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150,000円/年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63056" y="393192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月12,500円の収益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87968" y="2029968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87968" y="2029968"/>
            <a:ext cx="2697480" cy="56692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27" name="Text 25"/>
          <p:cNvSpPr/>
          <p:nvPr/>
        </p:nvSpPr>
        <p:spPr>
          <a:xfrm>
            <a:off x="8887968" y="20482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元本 500万円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87968" y="270662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年利5%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87968" y="3127248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250,000円/年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997696" y="393192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月2万円超のキャッシュ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84048" y="5029200"/>
            <a:ext cx="11228832" cy="74980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5047488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投資の「結果」は技術よりも「元本の大きさ」で8〜9割が決まる。だから最初に軍資金を作る。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84048"/>
            <a:ext cx="82296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「軍資金」という発想の転換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資産形成が早い人は最初にこれをやる 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298448"/>
            <a:ext cx="5440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98448"/>
            <a:ext cx="5440680" cy="621792"/>
          </a:xfrm>
          <a:prstGeom prst="rect">
            <a:avLst/>
          </a:prstGeom>
          <a:solidFill>
            <a:srgbClr val="7A8A9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316736"/>
            <a:ext cx="5440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Before（ほとんどの人）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2011680"/>
            <a:ext cx="5074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給料 → 生活費をすべて使う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残ったら（ほぼ残らず）投資へ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52160" y="2084832"/>
            <a:ext cx="384048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2084832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44768" y="1298448"/>
            <a:ext cx="5440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4768" y="1298448"/>
            <a:ext cx="5440680" cy="6217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6144768" y="1316736"/>
            <a:ext cx="5440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After（軍資金思考）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7648" y="2011680"/>
            <a:ext cx="5074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給料 → 先に軍資金を確保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残りで生活 → 軍資金を投資へ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384048" y="3657600"/>
            <a:ext cx="11228832" cy="475488"/>
          </a:xfrm>
          <a:prstGeom prst="rect">
            <a:avLst/>
          </a:prstGeom>
          <a:solidFill>
            <a:srgbClr val="24306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67588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軍資金思考の3つのポイント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4048" y="4224528"/>
            <a:ext cx="438912" cy="3840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4261104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4224528"/>
            <a:ext cx="10680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「残ったら貯める」ではなく「先に確保して、残りで生活する」という順序に変える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84048" y="4754880"/>
            <a:ext cx="438912" cy="3840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79145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" y="4754880"/>
            <a:ext cx="10680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軍資金＝投資専用口座を別に持ち、生活費と完全に分離する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84048" y="5285232"/>
            <a:ext cx="438912" cy="3840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532180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2688" y="5285232"/>
            <a:ext cx="10680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40代からでも間に合う。月3〜5万円の積み上げが数年後の大きな元本になる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軍資金を作る12の方法　全体マップ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969264"/>
            <a:ext cx="3675888" cy="117043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502920" cy="1170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2801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0976" y="1060704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先取り貯蓄の自動化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50976" y="1664208"/>
            <a:ext cx="896112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166420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支出設計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27248" y="1316736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1〜3万円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969264"/>
            <a:ext cx="3675888" cy="117043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969264"/>
            <a:ext cx="502920" cy="1170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2801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64608" y="1060704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固定費の徹底見直し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64608" y="1664208"/>
            <a:ext cx="896112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166420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支出設計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1316736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5千〜3万円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11312" y="969264"/>
            <a:ext cx="3675888" cy="117043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1312" y="969264"/>
            <a:ext cx="502920" cy="1170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8211312" y="12801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78240" y="1060704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変動費の最適化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8240" y="1664208"/>
            <a:ext cx="896112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0" y="166420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支出設計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54512" y="1316736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3千〜1.5万円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2286000"/>
            <a:ext cx="3675888" cy="117043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2286000"/>
            <a:ext cx="502920" cy="1170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259689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0976" y="237744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キャッシュレス還元の集約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50976" y="2980944"/>
            <a:ext cx="896112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950976" y="2980944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還元活用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27248" y="2633472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2千〜1万円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97680" y="2286000"/>
            <a:ext cx="3675888" cy="117043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2286000"/>
            <a:ext cx="502920" cy="1170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0" y="259689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64608" y="237744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ポイントサイト活用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64608" y="2980944"/>
            <a:ext cx="896112" cy="27432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2980944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収入獲得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40880" y="2633472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3千〜3万円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11312" y="2286000"/>
            <a:ext cx="3675888" cy="117043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11312" y="2286000"/>
            <a:ext cx="502920" cy="1170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2" name="Text 40"/>
          <p:cNvSpPr/>
          <p:nvPr/>
        </p:nvSpPr>
        <p:spPr>
          <a:xfrm>
            <a:off x="8211312" y="259689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778240" y="237744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不用品売却・断捨離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778240" y="2980944"/>
            <a:ext cx="896112" cy="27432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45" name="Text 43"/>
          <p:cNvSpPr/>
          <p:nvPr/>
        </p:nvSpPr>
        <p:spPr>
          <a:xfrm>
            <a:off x="8778240" y="2980944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収入獲得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954512" y="2633472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初回〜5万円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84048" y="3602736"/>
            <a:ext cx="3675888" cy="117043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048" y="3602736"/>
            <a:ext cx="502920" cy="1170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9" name="Text 47"/>
          <p:cNvSpPr/>
          <p:nvPr/>
        </p:nvSpPr>
        <p:spPr>
          <a:xfrm>
            <a:off x="384048" y="39136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50976" y="3694176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副業・スキル収益化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50976" y="4297680"/>
            <a:ext cx="896112" cy="27432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52" name="Text 50"/>
          <p:cNvSpPr/>
          <p:nvPr/>
        </p:nvSpPr>
        <p:spPr>
          <a:xfrm>
            <a:off x="950976" y="4297680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収入獲得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127248" y="3950208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1〜10万円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97680" y="3602736"/>
            <a:ext cx="3675888" cy="117043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97680" y="3602736"/>
            <a:ext cx="502920" cy="1170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6" name="Text 54"/>
          <p:cNvSpPr/>
          <p:nvPr/>
        </p:nvSpPr>
        <p:spPr>
          <a:xfrm>
            <a:off x="4297680" y="39136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864608" y="3694176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税制優遇制度の活用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864608" y="4297680"/>
            <a:ext cx="896112" cy="274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9" name="Text 57"/>
          <p:cNvSpPr/>
          <p:nvPr/>
        </p:nvSpPr>
        <p:spPr>
          <a:xfrm>
            <a:off x="4864608" y="4297680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節税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040880" y="3950208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 5〜20万円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211312" y="3602736"/>
            <a:ext cx="3675888" cy="117043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11312" y="3602736"/>
            <a:ext cx="502920" cy="1170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3" name="Text 61"/>
          <p:cNvSpPr/>
          <p:nvPr/>
        </p:nvSpPr>
        <p:spPr>
          <a:xfrm>
            <a:off x="8211312" y="39136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778240" y="3694176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自給思考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778240" y="4297680"/>
            <a:ext cx="896112" cy="2743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66" name="Text 64"/>
          <p:cNvSpPr/>
          <p:nvPr/>
        </p:nvSpPr>
        <p:spPr>
          <a:xfrm>
            <a:off x="8778240" y="4297680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生活設計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954512" y="3950208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1〜3万円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84048" y="4919472"/>
            <a:ext cx="3675888" cy="117043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84048" y="4919472"/>
            <a:ext cx="502920" cy="1170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0" name="Text 68"/>
          <p:cNvSpPr/>
          <p:nvPr/>
        </p:nvSpPr>
        <p:spPr>
          <a:xfrm>
            <a:off x="384048" y="523036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50976" y="5010912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高時給への転職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950976" y="5614416"/>
            <a:ext cx="896112" cy="2743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3" name="Text 71"/>
          <p:cNvSpPr/>
          <p:nvPr/>
        </p:nvSpPr>
        <p:spPr>
          <a:xfrm>
            <a:off x="950976" y="5614416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収入増加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127248" y="5266944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3〜30万円↑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297680" y="4919472"/>
            <a:ext cx="3675888" cy="117043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97680" y="4919472"/>
            <a:ext cx="502920" cy="1170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7" name="Text 75"/>
          <p:cNvSpPr/>
          <p:nvPr/>
        </p:nvSpPr>
        <p:spPr>
          <a:xfrm>
            <a:off x="4297680" y="523036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4864608" y="5010912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低金利の借金を積極活用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864608" y="5614416"/>
            <a:ext cx="896112" cy="2743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80" name="Text 78"/>
          <p:cNvSpPr/>
          <p:nvPr/>
        </p:nvSpPr>
        <p:spPr>
          <a:xfrm>
            <a:off x="4864608" y="5614416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資産活用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7040880" y="5266944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レバレッジ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211312" y="4919472"/>
            <a:ext cx="3675888" cy="117043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211312" y="4919472"/>
            <a:ext cx="502920" cy="1170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4" name="Text 82"/>
          <p:cNvSpPr/>
          <p:nvPr/>
        </p:nvSpPr>
        <p:spPr>
          <a:xfrm>
            <a:off x="8211312" y="523036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778240" y="5010912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家族でお金を共有する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8778240" y="5614416"/>
            <a:ext cx="896112" cy="2743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87" name="Text 85"/>
          <p:cNvSpPr/>
          <p:nvPr/>
        </p:nvSpPr>
        <p:spPr>
          <a:xfrm>
            <a:off x="8778240" y="5614416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家族戦略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10954512" y="5266944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家族一体で増加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先取り貯蓄の自動化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1〜3万円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〜「残ったら貯める」から「先に確保する」への転換〜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給与振込日の翌日に証券口座・投資専用口座へ「自動転送」を設定する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手取りの10%を目標に。月収25万円なら2.5万円を"存在しないお金"として管理する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住信SBIネット銀行「目的別口座」・楽天銀行「自動振替」が実用的で設定も簡単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4059936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4059936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16966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01952" y="4169664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今月中に投資専用口座への自動積立を設定する（10分でできる）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" y="4864608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93776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米国発「Pay Yourself First」── 資産家に共通する収入管理の世界的鉄則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固定費の徹底見直し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5千〜3万円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〜一度やれば毎月ずっと効く"最高コスパ"の節約〜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スマートフォン：大手（〜8,000円）→ 格安SIM（〜1,500円）で月6,500円を永続削減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生命保険：40代以降は保障過大になりやすい。FP無料相談で月5,000〜15,000円の削減余地を確認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サブスク棚卸し：使っていないサービスを洗い出して解約。月2,000〜5,000円の削減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" y="3895344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電気・ガス：切り替えるだけで月1,000〜3,000円。一度やれば永続効果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384048" y="4846320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4846320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495604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01952" y="495604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今週中にスマホ料金・保険の月額を確認し、見直しの優先順位を決める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4048" y="5650992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724144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「削減＝我慢」ではなく「同等のサービスを安く買う」という発想で取り組む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変動費の最適化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3千〜1.5万円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〜ゼロにしなくていい。まず"漏れ"をふさぐだけ〜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食費：まとめ買い＋冷凍活用。業務スーパー・コストコの活用で月5,000〜10,000円削減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外食費：QRコード決済のポイント還元デーを活用し、実質割引で外食する習慣をつくる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趣味・娯楽：図書館・動画配信の共有プランなどで月2,000〜5,000円の代替を検討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4059936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4059936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16966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01952" y="4169664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今月の食費・外食費を1週間分だけ記録し「気づかない漏れ」を可視化する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" y="4864608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93776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米国発「ノースペンドデー」：週1日を消費ゼロの日にするだけで支出意識が変わる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キャッシュレス還元の集約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2千〜1万円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〜すでに使っているお金を"ポイント"に変換〜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年会費無料×高還元カード1〜2枚に支出を集中（楽天カード最大3%・PayPayカード最大5%）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公共料金・保険料・通販・ガソリンもすべてカード払いに統一してポイントを積み上げる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月30万円の支出 × 還元率2% ＝ 月6,000円 → 年72,000円の軍資金が自動的に積み上がる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" y="3895344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楽天ポイント投資・PayPay資産運用で「ポイントをそのまま投資に回す」設定も活用可能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384048" y="4846320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4846320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495604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01952" y="495604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今月中に高還元クレカへ支出を集約し、ポイントを即換金・投資振替する設定を行う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4048" y="5650992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724144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ポイントは「貯めるもの」ではなく「現金と同価値の資産」として即活用するのが鉄則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ポイントサイト・アフィリエイト活用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3千〜3万円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〜日常のサービス申し込みを"収入"に変える〜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A8.net：国内最大のASP。ブログ不要で証券口座・クレカ開設の自己アフィリエイトが可能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ハピタス・モッピー：クレカ発行・口座開設等の高額案件で1件あたり数千〜数万ポイント獲得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ポイントタウン：日常のショッピング・アンケート・ゲームでコツコツと換金可能ポイントを獲得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4059936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4059936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16966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01952" y="4169664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今週中にハピタスまたはモッピーに無料登録し、証券口座開設の案件を1件経由する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" y="4864608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93776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「ポイ活」を目的にするのではなく、必要な行動・申し込みをポイントサイト経由にするだけ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不用品売却・断捨離収益化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初回〜5万円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〜眠っている「資産」を現金化し、最初の種銭を作る〜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メルカリ：衣類・雑貨・本。スマホ1台で写真を撮って即出品。初回断捨離で数万円になることも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ヤフオク：ブランド品・趣味グッズ・レア品。入札形式で市場価格に近い高値がつきやすい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ハードオフ・買取専門店：家電・楽器・カメラは持ち込み即日現金化。査定は無料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4059936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4059936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16966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01952" y="4169664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今日：家の中を15分で見回し「半年使っていないもの」をスマホでリストアップする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" y="4864608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93776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「一度きり」だからこそ最初の種銭作りに最適。副産物として"衝動買い防止"の意識も生まれる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副業・スキル収益化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1〜10万円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〜本業以外の「第二の収入源」を軍資金に変える〜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クラウドワークス・ランサーズ：ライティング・データ入力・翻訳。スキル不要の案件も多数あり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ストアカ・ ココナラ：職歴・趣味・専門知識を「教える商品」に変換。高単価になりやすい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せどり・転売：仕入れ→販売のサイクル。月3〜20万円の実績者が多い初期コスト低の副業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" y="3895344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大原則：副業収益は生活費に使わず「全額を投資口座に入金する」ルールを最初に決める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384048" y="4846320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4846320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495604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01952" y="495604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今月中：自分の職歴・趣味から「売れるスキル・経験」を1つ書き出してみる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4048" y="5650992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724144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キャリア・人脈・専門知識は「副業の武器」。40代以降ほど高単価になりやすい傾向がある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税制優遇制度の活用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 5〜20万円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〜払わなくていい税金を取り戻し、投資原資に回す〜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iDeCo：掛金が全額所得控除。年収600万円で月2万円拠出なら年間約4〜6万円の節税効果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ふるさと納税：実質2,000円の自己負担で返礼品受取＋住民税控除。食費削減にも直結する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新NISA：運用益・配当が非課税。長期資産形成の土台として併用するのが基本形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" y="3895344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副業がある場合は青色申告：最大65万円の特別控除。経費計上で課税所得を大幅に圧縮できる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384048" y="4846320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4846320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495604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01952" y="495604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今週中：ふるさと納税のシミュレーションで今年の上限額を確認し1件注文する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4048" y="5650992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724144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節税の上限は制度で決まっているが、使い切るだけで年5〜20万円の軍資金が生まれる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自給思考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1〜3万円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〜「買う」から「作る・育てる」への発想転換。消費を生産に変える〜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572768"/>
            <a:ext cx="259232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572768"/>
            <a:ext cx="2592324" cy="4754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591056"/>
            <a:ext cx="25923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家庭菜園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" y="2121408"/>
            <a:ext cx="2409444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ベランダや庭でトマト・葉野菜・ハーブを育てる。月2,000〜5,000円分の食材を自給。土・プランターの初期費用は数千円から。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77540" y="1572768"/>
            <a:ext cx="259232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7540" y="1572768"/>
            <a:ext cx="2592324" cy="47548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7" name="Text 15"/>
          <p:cNvSpPr/>
          <p:nvPr/>
        </p:nvSpPr>
        <p:spPr>
          <a:xfrm>
            <a:off x="3177540" y="1591056"/>
            <a:ext cx="25923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料理・弁当持参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68980" y="2121408"/>
            <a:ext cx="2409444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外食・コンビニをやめて自炊に切り替え。弁当1個で節約500〜800円×20日＝月1〜1.6万円。料理スキル自体が資産になる。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71032" y="1572768"/>
            <a:ext cx="259232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1032" y="1572768"/>
            <a:ext cx="2592324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5971032" y="1591056"/>
            <a:ext cx="25923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DIY・修繕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62472" y="2121408"/>
            <a:ext cx="2409444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業者に頼まず自分で修理・修繕する。ペンキ塗り、棚の修理、自転車整備など。YouTubeで多くが学べる。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64524" y="1572768"/>
            <a:ext cx="259232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64524" y="1572768"/>
            <a:ext cx="2592324" cy="47548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25" name="Text 23"/>
          <p:cNvSpPr/>
          <p:nvPr/>
        </p:nvSpPr>
        <p:spPr>
          <a:xfrm>
            <a:off x="8764524" y="1591056"/>
            <a:ext cx="25923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スキルシェア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55964" y="2121408"/>
            <a:ext cx="2409444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近隣との物々交換や助け合い。野菜を分け合う、得意な作業を交換する。お金を使わず豊かになる仕組み。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4048" y="3913632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913632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40233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01952" y="4023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今週末：家で「作れそうなもの」を1つ決め、材料リストを作る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84048" y="4718304"/>
            <a:ext cx="11228832" cy="694944"/>
          </a:xfrm>
          <a:prstGeom prst="rect">
            <a:avLst/>
          </a:prstGeom>
          <a:solidFill>
            <a:srgbClr val="FFF3E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4718304"/>
            <a:ext cx="749808" cy="694944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486460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234440" y="4892040"/>
            <a:ext cx="10287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51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あなたが今「お金を払って買っている」ものの中で、自分で作れそうなものは何ですか？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高時給への転職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収入増 = 最強の軍資金加速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収入を増やす効果は、節約の限界をはるかに超える 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572768"/>
            <a:ext cx="11228832" cy="475488"/>
          </a:xfrm>
          <a:prstGeom prst="rect">
            <a:avLst/>
          </a:prstGeom>
          <a:solidFill>
            <a:srgbClr val="2430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91056"/>
            <a:ext cx="11064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まず「自分の今の時給」を計算してみる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" y="2157984"/>
            <a:ext cx="6858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49424"/>
            <a:ext cx="66202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95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時給 ＝ 月収 ÷ （1日の実働時間 × 月間労働日数）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2798064"/>
            <a:ext cx="6620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※通勤時間・残業を含めて計算するとより正確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79792" y="2157984"/>
            <a:ext cx="1207008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7479792" y="2157984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月収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59952" y="2157984"/>
            <a:ext cx="1298448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8759952" y="215798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勤務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131552" y="2157984"/>
            <a:ext cx="1664208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10131552" y="215798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時給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79792" y="2505456"/>
            <a:ext cx="12070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16368" y="2560320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月収25万円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759952" y="2505456"/>
            <a:ext cx="12984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96528" y="2560320"/>
            <a:ext cx="1225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9時間労働×20日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131552" y="2505456"/>
            <a:ext cx="16642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68128" y="2560320"/>
            <a:ext cx="1591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約1,389円/時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79792" y="2907792"/>
            <a:ext cx="1207008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6368" y="2962656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月収35万円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759952" y="2907792"/>
            <a:ext cx="1298448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96528" y="2962656"/>
            <a:ext cx="1225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9時間労働×20日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131552" y="2907792"/>
            <a:ext cx="1664208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68128" y="2962656"/>
            <a:ext cx="1591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約1,944円/時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79792" y="3310128"/>
            <a:ext cx="12070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16368" y="3364992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月収50万円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759952" y="3310128"/>
            <a:ext cx="12984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96528" y="3364992"/>
            <a:ext cx="1225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9時間労働×20日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131552" y="3310128"/>
            <a:ext cx="16642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68128" y="3364992"/>
            <a:ext cx="1591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約2,778円/時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84048" y="3364992"/>
            <a:ext cx="11228832" cy="530352"/>
          </a:xfrm>
          <a:prstGeom prst="rect">
            <a:avLst/>
          </a:prstGeom>
          <a:solidFill>
            <a:srgbClr val="243060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" y="3383280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固定費を月1万円削減するより、時給を500円上げる方が生涯収入への影響は圧倒的に大きい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384048" y="4023360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4023360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4" name="Text 42"/>
          <p:cNvSpPr/>
          <p:nvPr/>
        </p:nvSpPr>
        <p:spPr>
          <a:xfrm>
            <a:off x="384048" y="413308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901952" y="413308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今日：月収 ÷（実働時間×労働日数）で「自分の時給」を計算してみる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4048" y="4828032"/>
            <a:ext cx="11228832" cy="694944"/>
          </a:xfrm>
          <a:prstGeom prst="rect">
            <a:avLst/>
          </a:prstGeom>
          <a:solidFill>
            <a:srgbClr val="FFF3E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" y="4828032"/>
            <a:ext cx="749808" cy="694944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48" name="Text 46"/>
          <p:cNvSpPr/>
          <p:nvPr/>
        </p:nvSpPr>
        <p:spPr>
          <a:xfrm>
            <a:off x="384048" y="4974336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1234440" y="5001768"/>
            <a:ext cx="10287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51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今の職場の時給は「納得できる金額」ですか？同じ時間を使うなら、より高く評価される場所はないか？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1872" y="10972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高時給への転職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61872" y="5669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転職・キャリアアップの3つの戦略 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続き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188720"/>
            <a:ext cx="1122883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188720"/>
            <a:ext cx="566928" cy="138988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572768"/>
            <a:ext cx="566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78992" y="128016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95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業界・職種を変える転職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78992" y="1847088"/>
            <a:ext cx="201168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18105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同じスキルでも業界が変わると年収が大きく変わる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78992" y="2075688"/>
            <a:ext cx="201168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20482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IT・金融・医療系は他業界より平均年収が高い傾向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78992" y="2304288"/>
            <a:ext cx="201168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2286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転職エージェントの無料活用で市場価値を把握する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" y="2761488"/>
            <a:ext cx="1122883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761488"/>
            <a:ext cx="566928" cy="13898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145536"/>
            <a:ext cx="566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078992" y="285292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社内での昇給・昇進戦略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078992" y="3419856"/>
            <a:ext cx="201168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3383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資格取得・スキルアップで評価の見える化をする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78992" y="3648456"/>
            <a:ext cx="201168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36210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副業で副収入を得ながら、本業での交渉材料を増やす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78992" y="3877056"/>
            <a:ext cx="201168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38587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マネジメントポジションへの移行で年収ジャンプを狙う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4048" y="4334256"/>
            <a:ext cx="1122883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4334256"/>
            <a:ext cx="566928" cy="138988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4718304"/>
            <a:ext cx="566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078992" y="442569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スキル投資で時給を上げる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078992" y="4992624"/>
            <a:ext cx="201168" cy="2011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6" name="Text 34"/>
          <p:cNvSpPr/>
          <p:nvPr/>
        </p:nvSpPr>
        <p:spPr>
          <a:xfrm>
            <a:off x="1371600" y="4956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プログラミング・英語・資格など、市場価値の高いスキルを取得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78992" y="5221224"/>
            <a:ext cx="201168" cy="2011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51937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資格取得・セミナー費用は「未来の軍資金を生む投資」として考える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78992" y="5449824"/>
            <a:ext cx="201168" cy="2011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40" name="Text 38"/>
          <p:cNvSpPr/>
          <p:nvPr/>
        </p:nvSpPr>
        <p:spPr>
          <a:xfrm>
            <a:off x="1371600" y="54315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副業でスキルを磨きながら本業に活かす相乗効果を狙う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84048" y="5961888"/>
            <a:ext cx="11228832" cy="530352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60350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収入増加の天井は節約よりはるかに高い。軍資金作りの中で最も大きなレバレッジが効く手法。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低金利の借金を積極的に活用する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レバレッジ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〜「良い借金」と「悪い借金」を区別する。お金にお金を稼いでもらう発想〜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84048" y="1572768"/>
            <a:ext cx="11228832" cy="438912"/>
          </a:xfrm>
          <a:prstGeom prst="rect">
            <a:avLst/>
          </a:prstGeom>
          <a:solidFill>
            <a:srgbClr val="24306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59105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良い借金 vs 悪い借金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" y="2121408"/>
            <a:ext cx="5394960" cy="2944368"/>
          </a:xfrm>
          <a:prstGeom prst="rect">
            <a:avLst/>
          </a:prstGeom>
          <a:solidFill>
            <a:srgbClr val="FFF8F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121408"/>
            <a:ext cx="5394960" cy="47548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139696"/>
            <a:ext cx="5157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❌  悪い借金（消費のための借金）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270662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消費者金融・キャッシング　金利15〜18%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16382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クレジットカードのリボ払い　金利15%前後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62102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ブランド品・高級車ローン（価値が下がるもの）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407822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生活費のための借入（食費・娯楽等）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9632" y="2121408"/>
            <a:ext cx="5413248" cy="2944368"/>
          </a:xfrm>
          <a:prstGeom prst="rect">
            <a:avLst/>
          </a:prstGeom>
          <a:solidFill>
            <a:srgbClr val="F1F8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2121408"/>
            <a:ext cx="5413248" cy="4754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2139696"/>
            <a:ext cx="51755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  良い借金（資産を生む借金）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27648" y="2706624"/>
            <a:ext cx="5193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住宅ローン　金利0.5〜2%（固定・変動）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27648" y="3163824"/>
            <a:ext cx="5193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事業資金・設備ローン　金利1〜3%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27648" y="3621024"/>
            <a:ext cx="5193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不動産投資ローン（利回りが金利を上回る場合）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27648" y="4078224"/>
            <a:ext cx="5193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教育ローン（収入増につながるスキル投資）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52160" y="3218688"/>
            <a:ext cx="384048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321868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84048" y="5193792"/>
            <a:ext cx="11228832" cy="566928"/>
          </a:xfrm>
          <a:prstGeom prst="rect">
            <a:avLst/>
          </a:prstGeom>
          <a:solidFill>
            <a:srgbClr val="FFF8F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266944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  大原則：借金の金利 ＜ 投資の期待利回り　であることを必ず確認してから活用する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384048" y="5870448"/>
            <a:ext cx="11228832" cy="694944"/>
          </a:xfrm>
          <a:prstGeom prst="rect">
            <a:avLst/>
          </a:prstGeom>
          <a:solidFill>
            <a:srgbClr val="FFF3E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5870448"/>
            <a:ext cx="749808" cy="694944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6016752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234440" y="6044184"/>
            <a:ext cx="10287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51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今の「借金」の金利は何%ですか？その金利は低金利ですか、高金利ですか？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1872" y="10972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低金利の借金を積極的に活用する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61872" y="5669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実践事例と注意点 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続き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188720"/>
            <a:ext cx="1122883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188720"/>
            <a:ext cx="2926080" cy="124358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49961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住宅ローン × 家賃収入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38144" y="1298448"/>
            <a:ext cx="806500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変動金利0.5〜1%で自宅購入。それまで払っていた家賃が消え、余剰資金を投資に回せる。区分マンション等では家賃収入で返済を賄うことも可能。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84048" y="2615184"/>
            <a:ext cx="1122883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615184"/>
            <a:ext cx="2926080" cy="124358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92608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事業資金ローン × 副業加速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38144" y="2724912"/>
            <a:ext cx="806500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副業の設備・ツール・広告費に低金利の事業ローンを活用。月10万円の副業収入に対して返済が月1〜2万円なら手元に残る利益は大きい。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84048" y="4041648"/>
            <a:ext cx="1122883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4041648"/>
            <a:ext cx="2926080" cy="12435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435254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低金利カードローン × 投資元本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38144" y="4151376"/>
            <a:ext cx="806500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一部の銀行カードローン（金利1〜4%）や証券会社の信用取引・FXレバレッジ。活用できる場合は投資元本を拡大できる。ただし高リスク。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84048" y="5486400"/>
            <a:ext cx="11228832" cy="640080"/>
          </a:xfrm>
          <a:prstGeom prst="rect">
            <a:avLst/>
          </a:prstGeom>
          <a:solidFill>
            <a:srgbClr val="FFF8F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559552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  投機・ギャンブルのための借金、返済計画のない借金は絶対に避ける。「低金利」でも返せない借金は悪い借金。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84048" y="6236208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6236208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6345936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01952" y="6345936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今月中：住宅ローンや銀行ローンの現在金利を確認し、繰上げ返済 or 借り換えの可否を検討する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家族でお金を共有する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家族一体で増加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家族の財布を「見える化」するだけで、無駄が消えて軍資金が増える 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84048" y="1554480"/>
            <a:ext cx="11228832" cy="43891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572768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「知らない」「話さない」が一番の損失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2103120"/>
            <a:ext cx="539496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103120"/>
            <a:ext cx="5394960" cy="438912"/>
          </a:xfrm>
          <a:prstGeom prst="rect">
            <a:avLst/>
          </a:prstGeom>
          <a:solidFill>
            <a:srgbClr val="7A8A9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121408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よくある「家族の財布問題」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26334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夫婦で同じサブスクに加入していた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0540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片方が知らずに高い保険に入っていた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474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子どもの教育費を誰も把握していない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8953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老後資金の認識が夫婦でずれていた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9632" y="2103120"/>
            <a:ext cx="5413248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2103120"/>
            <a:ext cx="5413248" cy="43891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2121408"/>
            <a:ext cx="5230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月次・家族財務会議の進め方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7648" y="2633472"/>
            <a:ext cx="5193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①  今月の収支を全員で確認する（15分）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27648" y="3054096"/>
            <a:ext cx="5193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②  無駄な支出・ダブりを洗い出す（10分）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27648" y="3474720"/>
            <a:ext cx="5193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③  来月の目標軍資金額を設定する（5分）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27648" y="3895344"/>
            <a:ext cx="5193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④  子どもも参加させる（お金の教育にも）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4048" y="4535424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4535424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464515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01952" y="4645152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今月中：家族（または夫婦）でお金について話す時間を30分作る。まず「全サブスクの洗い出し」から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84048" y="5340096"/>
            <a:ext cx="11228832" cy="694944"/>
          </a:xfrm>
          <a:prstGeom prst="rect">
            <a:avLst/>
          </a:prstGeom>
          <a:solidFill>
            <a:srgbClr val="FFF3E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5340096"/>
            <a:ext cx="749808" cy="694944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5486400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234440" y="5513832"/>
            <a:ext cx="10287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51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家族全員が「今の資産残高」「毎月の収支」を把握していますか？お金の話を家族でできていますか？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1872" y="10972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家族でお金を共有する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61872" y="5669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相続・生前贈与は「今から話す」テーマ 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0" name="Text 8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続き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188720"/>
            <a:ext cx="11228832" cy="475488"/>
          </a:xfrm>
          <a:prstGeom prst="rect">
            <a:avLst/>
          </a:prstGeom>
          <a:solidFill>
            <a:srgbClr val="24306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20700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「相続の話は縁起が悪い」は過去の話。今すぐ話すことが資産を守る。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1792224"/>
            <a:ext cx="11228832" cy="40233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18105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主な生前贈与の非課税制度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" y="2304288"/>
            <a:ext cx="3523488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304288"/>
            <a:ext cx="3523488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322576"/>
            <a:ext cx="3523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暦年贈与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" y="2834640"/>
            <a:ext cx="3340608" cy="347472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852928"/>
            <a:ext cx="3340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年間 110万円まで非課税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3273552"/>
            <a:ext cx="3340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毎年110万円以内であれば贈与税がかからない。親から子・孫へ毎年贈与することで、数年かけて大きな金額を移転できる。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08704" y="2304288"/>
            <a:ext cx="3523488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08704" y="2304288"/>
            <a:ext cx="3523488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4108704" y="2322576"/>
            <a:ext cx="3523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教育資金の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一括贈与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00144" y="2834640"/>
            <a:ext cx="3340608" cy="347472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25" name="Text 23"/>
          <p:cNvSpPr/>
          <p:nvPr/>
        </p:nvSpPr>
        <p:spPr>
          <a:xfrm>
            <a:off x="4200144" y="2852928"/>
            <a:ext cx="3340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最大 1,500万円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00144" y="3273552"/>
            <a:ext cx="3340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30歳未満の子・孫の教育費として一括贈与する場合、1,500万円（習い事は500万円）まで非課税。金融機関でプランを作る。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33360" y="2304288"/>
            <a:ext cx="3523488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33360" y="2304288"/>
            <a:ext cx="3523488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9" name="Text 27"/>
          <p:cNvSpPr/>
          <p:nvPr/>
        </p:nvSpPr>
        <p:spPr>
          <a:xfrm>
            <a:off x="7833360" y="2322576"/>
            <a:ext cx="3523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住宅取得等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資金の贈与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24800" y="2834640"/>
            <a:ext cx="3340608" cy="347472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31" name="Text 29"/>
          <p:cNvSpPr/>
          <p:nvPr/>
        </p:nvSpPr>
        <p:spPr>
          <a:xfrm>
            <a:off x="7924800" y="2852928"/>
            <a:ext cx="3340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最大 1,000万円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924800" y="3273552"/>
            <a:ext cx="3340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子・孫が住宅を取得する際の資金として贈与する場合、一定額まで非課税。省エネ住宅なら非課税枠が拡大。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4048" y="4791456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48646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相続税の基礎控除：3,000万円 ＋（600万円 × 法定相続人数）。これを超える場合は税理士への相談を検討する。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384048" y="5468112"/>
            <a:ext cx="11228832" cy="694944"/>
          </a:xfrm>
          <a:prstGeom prst="rect">
            <a:avLst/>
          </a:prstGeom>
          <a:solidFill>
            <a:srgbClr val="FFF3E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5468112"/>
            <a:ext cx="749808" cy="694944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5614416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1234440" y="5641848"/>
            <a:ext cx="10287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51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親に資産がある方：「生前贈与の話」を今日から家族でできるよう、まず自分が学ぶところから始めよう。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12手法を組み合わせると…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11228832" cy="694944"/>
          </a:xfrm>
          <a:prstGeom prst="rect">
            <a:avLst/>
          </a:prstGeom>
          <a:solidFill>
            <a:srgbClr val="24306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749808" cy="69494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69848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①〜④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1106424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支出設計・還元活用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0" y="106984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1.5〜7万円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84048" y="1764792"/>
            <a:ext cx="11228832" cy="694944"/>
          </a:xfrm>
          <a:prstGeom prst="rect">
            <a:avLst/>
          </a:prstGeom>
          <a:solidFill>
            <a:srgbClr val="24306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764792"/>
            <a:ext cx="749808" cy="694944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874520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⑤〜⑧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1911096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収入獲得・節税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3920" y="187452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1.3〜13万円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84048" y="2569464"/>
            <a:ext cx="11228832" cy="694944"/>
          </a:xfrm>
          <a:prstGeom prst="rect">
            <a:avLst/>
          </a:prstGeom>
          <a:solidFill>
            <a:srgbClr val="243060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569464"/>
            <a:ext cx="749808" cy="69494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67919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1872" y="2715768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自給思考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267919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1〜3万円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84048" y="3374136"/>
            <a:ext cx="11228832" cy="694944"/>
          </a:xfrm>
          <a:prstGeom prst="rect">
            <a:avLst/>
          </a:prstGeom>
          <a:solidFill>
            <a:srgbClr val="243060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374136"/>
            <a:ext cx="749808" cy="69494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483864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61872" y="3520440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高時給への転職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0" y="3483864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3〜30万円↑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84048" y="4178808"/>
            <a:ext cx="11228832" cy="694944"/>
          </a:xfrm>
          <a:prstGeom prst="rect">
            <a:avLst/>
          </a:prstGeom>
          <a:solidFill>
            <a:srgbClr val="243060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4178808"/>
            <a:ext cx="749808" cy="69494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4288536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⑪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61872" y="4325112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低金利の借金を積極活用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03920" y="428853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資産拡大効果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384048" y="4983480"/>
            <a:ext cx="11228832" cy="694944"/>
          </a:xfrm>
          <a:prstGeom prst="rect">
            <a:avLst/>
          </a:prstGeom>
          <a:solidFill>
            <a:srgbClr val="243060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4983480"/>
            <a:ext cx="749808" cy="69494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5093208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⑫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61872" y="5129784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家族でお金を共有する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3920" y="509320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家族全体で最適化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384048" y="5870448"/>
            <a:ext cx="11228832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5907024"/>
            <a:ext cx="10972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12手法の組み合わせで、軍資金の最大化を実現できる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84048"/>
            <a:ext cx="82296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40代からの資産形成の正しい順番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40代からでも間に合う。ただし「順番」を間違えないことが重要 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3703320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61872"/>
            <a:ext cx="3703320" cy="9692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89304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47472" y="17647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まず土台を作る（〜3ヶ月）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2432304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432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0704" y="2395728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先取り貯蓄の自動化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" y="33192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319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60704" y="3282696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固定費の見直し（スマホ・保険）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4206240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4206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0704" y="4169664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税制優遇（ふるさと納税・iDeCo）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0352" y="509320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5093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60704" y="5056632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家族でお金の共有を始める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79392" y="1261872"/>
            <a:ext cx="3703320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1261872"/>
            <a:ext cx="3703320" cy="969264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24" name="Text 22"/>
          <p:cNvSpPr/>
          <p:nvPr/>
        </p:nvSpPr>
        <p:spPr>
          <a:xfrm>
            <a:off x="4279392" y="1289304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279392" y="17647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軍資金を加速させる（3〜6ヶ月）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62272" y="2432304"/>
            <a:ext cx="438912" cy="438912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27" name="Text 25"/>
          <p:cNvSpPr/>
          <p:nvPr/>
        </p:nvSpPr>
        <p:spPr>
          <a:xfrm>
            <a:off x="4462272" y="2432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92624" y="2395728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断捨離・不用品売却で種銭を作る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62272" y="3319272"/>
            <a:ext cx="438912" cy="438912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0" name="Text 28"/>
          <p:cNvSpPr/>
          <p:nvPr/>
        </p:nvSpPr>
        <p:spPr>
          <a:xfrm>
            <a:off x="4462272" y="3319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92624" y="3282696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ポイントサイトで収益化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62272" y="4206240"/>
            <a:ext cx="438912" cy="438912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3" name="Text 31"/>
          <p:cNvSpPr/>
          <p:nvPr/>
        </p:nvSpPr>
        <p:spPr>
          <a:xfrm>
            <a:off x="4462272" y="4206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992624" y="4169664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副業スタート＋自給思考の実践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462272" y="5093208"/>
            <a:ext cx="438912" cy="438912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6" name="Text 34"/>
          <p:cNvSpPr/>
          <p:nvPr/>
        </p:nvSpPr>
        <p:spPr>
          <a:xfrm>
            <a:off x="4462272" y="5093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992624" y="5056632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転職・昇給の可能性を検討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211312" y="1261872"/>
            <a:ext cx="3703320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11312" y="1261872"/>
            <a:ext cx="3703320" cy="9692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0" name="Text 38"/>
          <p:cNvSpPr/>
          <p:nvPr/>
        </p:nvSpPr>
        <p:spPr>
          <a:xfrm>
            <a:off x="8211312" y="1289304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8211312" y="17647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さらに加速（6ヶ月〜）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394192" y="2432304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3" name="Text 41"/>
          <p:cNvSpPr/>
          <p:nvPr/>
        </p:nvSpPr>
        <p:spPr>
          <a:xfrm>
            <a:off x="8394192" y="2432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924544" y="2395728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低金利借金の戦略的活用を検討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394192" y="3319272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6" name="Text 44"/>
          <p:cNvSpPr/>
          <p:nvPr/>
        </p:nvSpPr>
        <p:spPr>
          <a:xfrm>
            <a:off x="8394192" y="3319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924544" y="3282696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相続・生前贈与の家族会議を開く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394192" y="4206240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9" name="Text 47"/>
          <p:cNvSpPr/>
          <p:nvPr/>
        </p:nvSpPr>
        <p:spPr>
          <a:xfrm>
            <a:off x="8394192" y="4206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924544" y="4169664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元本100万円を目安に運用スタート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394192" y="5093208"/>
            <a:ext cx="438912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2" name="Text 50"/>
          <p:cNvSpPr/>
          <p:nvPr/>
        </p:nvSpPr>
        <p:spPr>
          <a:xfrm>
            <a:off x="8394192" y="5093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924544" y="5056632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収益を再投資するサイクルを作る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6072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833872"/>
            <a:ext cx="12192000" cy="36576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本日のまとめ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84048" y="1005840"/>
            <a:ext cx="11228832" cy="969264"/>
          </a:xfrm>
          <a:prstGeom prst="rect">
            <a:avLst/>
          </a:prstGeom>
          <a:solidFill>
            <a:srgbClr val="24306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05840"/>
            <a:ext cx="749808" cy="969264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188720"/>
            <a:ext cx="7498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61872" y="1170432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投資の結果は「銘柄」より「元本（軍資金）の大きさ」で8〜9割が決まる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84048" y="2139696"/>
            <a:ext cx="11228832" cy="969264"/>
          </a:xfrm>
          <a:prstGeom prst="rect">
            <a:avLst/>
          </a:prstGeom>
          <a:solidFill>
            <a:srgbClr val="24306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139696"/>
            <a:ext cx="749808" cy="9692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322576"/>
            <a:ext cx="7498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61872" y="230428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資産形成の9割は「投資前」の準備で決まる。軍資金作りが最初の仕事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84048" y="3273552"/>
            <a:ext cx="11228832" cy="969264"/>
          </a:xfrm>
          <a:prstGeom prst="rect">
            <a:avLst/>
          </a:prstGeom>
          <a:solidFill>
            <a:srgbClr val="243060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273552"/>
            <a:ext cx="749808" cy="9692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456432"/>
            <a:ext cx="7498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61872" y="3438144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12の手法で軍資金を最大化できる。支出削減・収入増・レバレッジ・家族連携が4本柱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84048" y="4407408"/>
            <a:ext cx="11228832" cy="969264"/>
          </a:xfrm>
          <a:prstGeom prst="rect">
            <a:avLst/>
          </a:prstGeom>
          <a:solidFill>
            <a:srgbClr val="24306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4407408"/>
            <a:ext cx="749808" cy="9692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4590288"/>
            <a:ext cx="7498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261872" y="457200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40代からでも間に合う。大切なのは「正しい順番」で・今日から動き始めること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84048" y="5650992"/>
            <a:ext cx="11228832" cy="43891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5669280"/>
            <a:ext cx="11228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軍資金を作ることが、資産形成の第一歩であり最も重要なステップです。  ─  株式会社 Vision Creator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0" y="5989320"/>
            <a:ext cx="1219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2026-03-10T15:33:05Z</dcterms:created>
  <dcterms:modified xsi:type="dcterms:W3CDTF">2026-03-10T15:33:05Z</dcterms:modified>
</cp:coreProperties>
</file>