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6072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833872"/>
            <a:ext cx="12192000" cy="36576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347472"/>
            <a:ext cx="8686800" cy="292608"/>
          </a:xfrm>
          <a:prstGeom prst="rect">
            <a:avLst/>
          </a:prstGeom>
          <a:solidFill>
            <a:srgbClr val="0D1830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3840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40代からでも間に合う資産形成の始め方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731520"/>
            <a:ext cx="8686800" cy="292608"/>
          </a:xfrm>
          <a:prstGeom prst="rect">
            <a:avLst/>
          </a:prstGeom>
          <a:solidFill>
            <a:srgbClr val="0D1830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76809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資産形成の9割は「投資前」で決まる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1115568"/>
            <a:ext cx="8686800" cy="292608"/>
          </a:xfrm>
          <a:prstGeom prst="rect">
            <a:avLst/>
          </a:prstGeom>
          <a:solidFill>
            <a:srgbClr val="0D1830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115214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なぜ多くの人は投資で結果が出ないのか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5727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48640" y="235915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最初にやっている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1371600" y="3182112"/>
            <a:ext cx="9418320" cy="1188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3182112"/>
            <a:ext cx="9418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「軍資金」の作り方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3474720" y="4553712"/>
            <a:ext cx="5212080" cy="713232"/>
          </a:xfrm>
          <a:prstGeom prst="rect">
            <a:avLst/>
          </a:prstGeom>
          <a:solidFill>
            <a:srgbClr val="24306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4553712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0" y="59893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84048"/>
            <a:ext cx="82296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本日お伝えすること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投資を始める前に知っておくべき話 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298448"/>
            <a:ext cx="5029200" cy="11155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08176"/>
            <a:ext cx="4846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なぜ多くの人は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投資で結果が出ないのか？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84048" y="2633472"/>
            <a:ext cx="5029200" cy="1115568"/>
          </a:xfrm>
          <a:prstGeom prst="rect">
            <a:avLst/>
          </a:prstGeom>
          <a:solidFill>
            <a:srgbClr val="E8602C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743200"/>
            <a:ext cx="4846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資産形成は銘柄ではなく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「ここ」で決まる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84048" y="3968496"/>
            <a:ext cx="5029200" cy="11155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4078224"/>
            <a:ext cx="48463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40代からの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資産形成の正しい順番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0" y="1298448"/>
            <a:ext cx="59436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1298448"/>
            <a:ext cx="5943600" cy="5669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298448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本日の講義内容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197510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Part 1  投資で失敗する人・成功する人の違い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228600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Part 2  「軍資金」という発想の転換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259689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Part 3  軍資金を作る8つの方法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290779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① 先取り貯蓄の自動化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52160" y="321868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② 固定費の徹底見直し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52958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③ 変動費の最適化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0" y="38404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④ キャッシュレス還元の集約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415137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⑤ ポイントサイト活用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446227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⑥ 不用品売却・断捨離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477316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⑦ 副業・スキル収益化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5084064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  ⑧ 税制優遇制度の活用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539496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Part 4  40代からの資産形成ロードマップ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なぜ多くの人は投資で結果が出ないのか？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078992"/>
            <a:ext cx="11228832" cy="1389888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78992"/>
            <a:ext cx="749808" cy="138988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463040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61872" y="1170432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「銘柄選び」に集中しすぎる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61872" y="1700784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「どの株を買えば儲かるか」ばかり考える。しかし利益の大半は銘柄ではなく元本の大きさで決まる。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84048" y="2651760"/>
            <a:ext cx="11228832" cy="1389888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651760"/>
            <a:ext cx="749808" cy="138988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3035808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61872" y="2743200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元本（軍資金）が少なすぎる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61872" y="3273552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10万円を運用して年5%の利益 ＝ 5,000円。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100万円なら50,000円。同じ努力でも10倍の差になる。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84048" y="4224528"/>
            <a:ext cx="11228832" cy="1389888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4224528"/>
            <a:ext cx="749808" cy="138988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4608576"/>
            <a:ext cx="7498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61872" y="4315968"/>
            <a:ext cx="10149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正しい「順番」を知らずに始める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61872" y="4846320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CDDE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投資の知識を得る前に、軍資金を作る準備をする。この順番を間違えると、知識があっても動けない。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84048" y="5760720"/>
            <a:ext cx="1122883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" y="5833872"/>
            <a:ext cx="54864" cy="67665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852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資産形成は銘柄ではなく「ここ」で決まる ── それが今日の本題です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84048"/>
            <a:ext cx="82296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資産形成の9割は「投資前」で決まる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298448"/>
            <a:ext cx="11228832" cy="5669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16736"/>
            <a:ext cx="11064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同じ利回りでも「元本」の大きさで結果がまったく変わる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84048" y="2029968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2029968"/>
            <a:ext cx="2697480" cy="566928"/>
          </a:xfrm>
          <a:prstGeom prst="rect">
            <a:avLst/>
          </a:prstGeom>
          <a:solidFill>
            <a:srgbClr val="7A8A9A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20482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 10万円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270662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年利5%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3127248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5,000円/年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" y="393192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毎月コーヒー代にもならない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18688" y="2029968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2029968"/>
            <a:ext cx="2697480" cy="56692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218688" y="20482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 100万円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18688" y="270662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年利5%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18688" y="3127248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50,000円/年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28416" y="393192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月4,000円超の追加収入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53328" y="2029968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3328" y="2029968"/>
            <a:ext cx="269748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053328" y="20482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 300万円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53328" y="270662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年利5%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53328" y="3127248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150,000円/年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63056" y="393192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月12,500円の安定収益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87968" y="2029968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87968" y="2029968"/>
            <a:ext cx="2697480" cy="56692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27" name="Text 25"/>
          <p:cNvSpPr/>
          <p:nvPr/>
        </p:nvSpPr>
        <p:spPr>
          <a:xfrm>
            <a:off x="8887968" y="2048256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 500万円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87968" y="270662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年利5%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87968" y="3127248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250,000円/年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997696" y="393192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月2万円超のキャッシュフロー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84048" y="5029200"/>
            <a:ext cx="11228832" cy="74980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5047488"/>
            <a:ext cx="10972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投資の「結果」は技術よりも「元本の大きさ」で8〜9割が決まる。だから最初に軍資金を作る。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84048"/>
            <a:ext cx="82296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「軍資金」という発想の転換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資産形成が早い人は最初にこれをやる 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298448"/>
            <a:ext cx="544068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98448"/>
            <a:ext cx="5440680" cy="621792"/>
          </a:xfrm>
          <a:prstGeom prst="rect">
            <a:avLst/>
          </a:prstGeom>
          <a:solidFill>
            <a:srgbClr val="7A8A9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316736"/>
            <a:ext cx="5440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Before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（ほとんどの人）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2011680"/>
            <a:ext cx="507492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給料 → 生活費をすべて使う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残ったら（ほぼ残らず）投資へ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52160" y="2084832"/>
            <a:ext cx="384048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084832"/>
            <a:ext cx="384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44768" y="1298448"/>
            <a:ext cx="544068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1298448"/>
            <a:ext cx="5440680" cy="6217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6144768" y="1316736"/>
            <a:ext cx="54406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After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（軍資金思考）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27648" y="2011680"/>
            <a:ext cx="507492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給料 → 先に軍資金を確保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 残りで生活 → 軍資金を投資へ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384048" y="3657600"/>
            <a:ext cx="11228832" cy="475488"/>
          </a:xfrm>
          <a:prstGeom prst="rect">
            <a:avLst/>
          </a:prstGeom>
          <a:solidFill>
            <a:srgbClr val="24306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67588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軍資金思考の3つのポイント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84048" y="4224528"/>
            <a:ext cx="438912" cy="3840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426110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688" y="4224528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「残ったら貯める」ではなく「先に確保して、残りで生活する」という順序に変える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384048" y="4754880"/>
            <a:ext cx="438912" cy="3840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791456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4754880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軍資金＝投資専用口座を別に持ち、生活費と完全に分離する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84048" y="5285232"/>
            <a:ext cx="438912" cy="38404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5321808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32688" y="5285232"/>
            <a:ext cx="106801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40代からでも間に合う。月3〜5万円の積み上げが、数年後の大きな元本になる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軍資金を作る8つの方法　全体マップ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まずは全体を俯瞰してから、順番に詳しく見ていきます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207008"/>
            <a:ext cx="5440680" cy="107899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07008"/>
            <a:ext cx="530352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47218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129844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先取り貯蓄の自動化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87552" y="1883664"/>
            <a:ext cx="91440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1883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支出設計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0" y="1499616"/>
            <a:ext cx="15361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1〜3万円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44768" y="1207008"/>
            <a:ext cx="5440680" cy="107899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4768" y="1207008"/>
            <a:ext cx="530352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6144768" y="147218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48272" y="129844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固定費の徹底見直し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48272" y="1883664"/>
            <a:ext cx="91440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748272" y="1883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支出設計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966960" y="1499616"/>
            <a:ext cx="15361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5千〜3万円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" y="2441448"/>
            <a:ext cx="5440680" cy="107899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441448"/>
            <a:ext cx="530352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270662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253288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変動費の最適化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87552" y="3118104"/>
            <a:ext cx="91440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3118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支出設計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06240" y="2734056"/>
            <a:ext cx="15361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3千〜1.5万円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44768" y="2441448"/>
            <a:ext cx="5440680" cy="107899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44768" y="2441448"/>
            <a:ext cx="530352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Text 27"/>
          <p:cNvSpPr/>
          <p:nvPr/>
        </p:nvSpPr>
        <p:spPr>
          <a:xfrm>
            <a:off x="6144768" y="270662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48272" y="253288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キャッシュレス還元の集約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748272" y="3118104"/>
            <a:ext cx="914400" cy="274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6748272" y="3118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還元活用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966960" y="2734056"/>
            <a:ext cx="15361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2千〜1万円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84048" y="3675888"/>
            <a:ext cx="5440680" cy="107899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3675888"/>
            <a:ext cx="530352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384048" y="394106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87552" y="37673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ポイントサイト活用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87552" y="4352544"/>
            <a:ext cx="914400" cy="27432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9" name="Text 37"/>
          <p:cNvSpPr/>
          <p:nvPr/>
        </p:nvSpPr>
        <p:spPr>
          <a:xfrm>
            <a:off x="987552" y="43525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収入獲得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06240" y="3968496"/>
            <a:ext cx="15361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3千〜3万円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144768" y="3675888"/>
            <a:ext cx="5440680" cy="107899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44768" y="3675888"/>
            <a:ext cx="530352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3" name="Text 41"/>
          <p:cNvSpPr/>
          <p:nvPr/>
        </p:nvSpPr>
        <p:spPr>
          <a:xfrm>
            <a:off x="6144768" y="394106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748272" y="376732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不用品売却・断捨離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748272" y="4352544"/>
            <a:ext cx="914400" cy="27432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46" name="Text 44"/>
          <p:cNvSpPr/>
          <p:nvPr/>
        </p:nvSpPr>
        <p:spPr>
          <a:xfrm>
            <a:off x="6748272" y="43525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収入獲得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966960" y="3968496"/>
            <a:ext cx="15361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初回 〜5万円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84048" y="4910328"/>
            <a:ext cx="5440680" cy="107899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" y="4910328"/>
            <a:ext cx="530352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0" name="Text 48"/>
          <p:cNvSpPr/>
          <p:nvPr/>
        </p:nvSpPr>
        <p:spPr>
          <a:xfrm>
            <a:off x="384048" y="517550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87552" y="500176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副業・スキル収益化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987552" y="5586984"/>
            <a:ext cx="914400" cy="274320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53" name="Text 51"/>
          <p:cNvSpPr/>
          <p:nvPr/>
        </p:nvSpPr>
        <p:spPr>
          <a:xfrm>
            <a:off x="987552" y="5586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収入獲得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206240" y="5202936"/>
            <a:ext cx="15361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1〜10万円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144768" y="4910328"/>
            <a:ext cx="5440680" cy="1078992"/>
          </a:xfrm>
          <a:prstGeom prst="rect">
            <a:avLst/>
          </a:prstGeom>
          <a:solidFill>
            <a:srgbClr val="243060"/>
          </a:solidFill>
          <a:ln w="12700">
            <a:solidFill>
              <a:srgbClr val="3A4A8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44768" y="4910328"/>
            <a:ext cx="530352" cy="107899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7" name="Text 55"/>
          <p:cNvSpPr/>
          <p:nvPr/>
        </p:nvSpPr>
        <p:spPr>
          <a:xfrm>
            <a:off x="6144768" y="5175504"/>
            <a:ext cx="530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6748272" y="500176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税制優遇制度の活用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748272" y="5586984"/>
            <a:ext cx="914400" cy="2743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0" name="Text 58"/>
          <p:cNvSpPr/>
          <p:nvPr/>
        </p:nvSpPr>
        <p:spPr>
          <a:xfrm>
            <a:off x="6748272" y="5586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節税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9966960" y="5202936"/>
            <a:ext cx="15361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 5〜20万円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先取り貯蓄の自動化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1〜3万円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〜「残ったら貯める」から「先に確保する」への転換〜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給与振込日の翌日に証券口座・投資専用口座へ「自動転送」を設定する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手取りの10%を目標に。月収25万円なら2.5万円を"存在しないお金"として管理する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住信SBIネット銀行「目的別口座」・楽天銀行「自動振替」が実用的で設定も簡単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4059936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4059936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16966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01952" y="4169664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今月中に投資専用口座への自動積立を設定する（10分でできる）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" y="4864608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93776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米国発「Pay Yourself First」── 資産家に共通する収入管理の世界的鉄則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固定費の徹底見直し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5千〜3万円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〜一度やれば毎月ずっと効く"最高コスパ"の節約〜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スマートフォン：大手（〜8,000円）→ 格安SIM（〜1,500円）で月6,500円を永続削減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生命保険：40代以降は保障過大になりやすい。FP無料相談で月5,000〜15,000円の削減余地を確認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サブスク棚卸し：使っていないサービスを洗い出して解約。月2,000〜5,000円の削減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" y="3895344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電気・ガス：切り替えるだけで月1,000〜3,000円。一度やれば永続効果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384048" y="4846320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4846320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95604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01952" y="495604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今週中にスマホ料金・保険の月額を確認し、見直しの優先順位を決める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4048" y="5650992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724144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「削減＝我慢」ではなく「同等のサービスを安く買う」という発想で取り組む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変動費の最適化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3千〜1.5万円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〜ゼロにしなくていい。まず"漏れ"をふさぐだけ〜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食費：まとめ買い＋冷凍活用。業務スーパー・コストコの活用で月5,000〜10,000円削減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外食費：QRコード決済のポイント還元デーを活用し、実質割引で外食する習慣をつくる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趣味・娯楽：図書館・動画配信の共有プランなどで月2,000〜5,000円の代替を検討する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4059936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4059936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16966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01952" y="4169664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今月の食費・外食費を1週間分だけ記録し「気づかない漏れ」を可視化する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" y="4864608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93776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米国発「ノースペンドデー」：週1日を消費ゼロの日にするだけで支出意識が変わる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キャッシュレス還元の集約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2千〜1万円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〜すでに使っているお金を"ポイント"に変換〜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年会費無料×高還元カード1〜2枚に支出を集中（楽天カード最大3%・PayPayカード最大5%）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公共料金・保険料・通販・ガソリンもすべてカード払いに統一してポイントを積み上げる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月30万円の支出 × 還元率2% ＝ 月6,000円 → 年72,000円の軍資金が自動的に積み上がる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" y="3895344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楽天ポイント投資・PayPay資産運用で「ポイントをそのまま投資に回す」設定も活用可能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384048" y="4846320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4846320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95604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01952" y="495604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今月中に高還元クレカへ支出を集約し、ポイントを即換金・投資振替する設定を行う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4048" y="5650992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724144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ポイントは「貯めるもの」ではなく「現金と同価値の資産」として即活用するのが鉄則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ポイントサイト・アフィリエイト活用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3千〜3万円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〜日常のサービス申し込みを"収入"に変える〜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A8.net：国内最大のASP。ブログ不要で証券口座・クレカ開設の自己アフィリエイトが可能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ハピタス・モッピー：クレカ発行・口座開設等の高額案件で1件あたり数千〜数万ポイント獲得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ポイントタウン：日常のショッピング・アンケート・ゲームでコツコツと換金可能ポイントを獲得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4059936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4059936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16966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01952" y="4169664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今週中にハピタスまたはモッピーに無料登録し、証券口座開設の案件を1件経由する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" y="4864608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93776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「ポイ活」を目的にするのではなく、必要な行動・申し込みをポイントサイト経由にするだけ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不用品売却・断捨離収益化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初回 〜5万円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〜眠っている「資産」を現金化し、最初の種銭を作る〜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メルカリ：衣類・雑貨・本。スマホ1台で写真を撮って即出品。初回断捨離で数万円になることも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ヤフオク：ブランド品・趣味グッズ・レア品。入札形式で市場価格に近い高値がつきやすい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ハードオフ・買取専門店：家電・楽器・カメラは持ち込み即日現金化。査定は無料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4059936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4059936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416966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901952" y="4169664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今日：家の中を15分で見回し「半年使っていないもの」をスマホでリストアップする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" y="4864608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93776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「一度きり」だからこそ最初の種銭作りに最適。副産物として"衝動買い防止"の意識も生まれる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副業・スキル収益化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1〜10万円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〜本業以外の「第二の収入源」を軍資金に変える〜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クラウドワークス・ランサーズ：ライティング・データ入力・翻訳。スキル不要の案件も多数あり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ストアカ・ ココナラ：職歴・趣味・専門知識を「教える商品」に変換。高単価になりやすい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せどり・転売：仕入れ→販売のサイクル。月3〜20万円の実績者が多い初期コスト低の副業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" y="3895344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大原則：副業収益は生活費に使わず「全額を投資口座に入金する」ルールを最初に決める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384048" y="4846320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4846320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95604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01952" y="495604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今月中：自分の職歴・趣味から「売れるスキル・経験」を1つ書き出してみる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4048" y="5650992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724144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キャリア・人脈・専門知識は「副業の武器」。40代以降ほど高単価になりやすい傾向がある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87552"/>
            <a:ext cx="12192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"/>
            <a:ext cx="7498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税制優遇制度の活用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9281160" y="164592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 5〜20万円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11155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〜払わなくていい税金を取り戻し、投資原資に回す〜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18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1536192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iDeCo：掛金が全額所得控除。年収600万円で月2万円拠出なら年間約4〜6万円の節税効果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404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" y="2322576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ふるさと納税：実質2,000円の自己負担で返礼品受取＋住民税控除。食費削減にも直結する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1912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0976" y="3108960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新NISA：運用益・配当が非課税。長期資産形成の土台として併用するのが基本形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9776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0976" y="3895344"/>
            <a:ext cx="10652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副業がある場合は青色申告：最大65万円の特別控除。経費計上で課税所得を大幅に圧縮できる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384048" y="4846320"/>
            <a:ext cx="11228832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4846320"/>
            <a:ext cx="1417320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495604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01952" y="4956048"/>
            <a:ext cx="9601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今週中：ふるさと納税のシミュレーションで今年の上限額を確認し、1件注文する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4048" y="5650992"/>
            <a:ext cx="11228832" cy="566928"/>
          </a:xfrm>
          <a:prstGeom prst="rect">
            <a:avLst/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5724144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節税の上限は制度で決まっているが、使い切るだけで年5〜20万円の軍資金が生まれる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8手法を組み合わせると…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024128"/>
            <a:ext cx="11228832" cy="987552"/>
          </a:xfrm>
          <a:prstGeom prst="rect">
            <a:avLst/>
          </a:prstGeom>
          <a:solidFill>
            <a:srgbClr val="24306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24128"/>
            <a:ext cx="868680" cy="9875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207008"/>
            <a:ext cx="868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手法①〜④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225296"/>
            <a:ext cx="6858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支出設計・還元活用（4手法）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0" y="120700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1.5〜7万円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84048" y="2194560"/>
            <a:ext cx="11228832" cy="987552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194560"/>
            <a:ext cx="868680" cy="987552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377440"/>
            <a:ext cx="868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手法⑤〜⑦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2395728"/>
            <a:ext cx="6858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収入獲得（3手法）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86800" y="2377440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1.3〜13万円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84048" y="3364992"/>
            <a:ext cx="11228832" cy="987552"/>
          </a:xfrm>
          <a:prstGeom prst="rect">
            <a:avLst/>
          </a:prstGeom>
          <a:solidFill>
            <a:srgbClr val="24306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364992"/>
            <a:ext cx="868680" cy="9875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547872"/>
            <a:ext cx="868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手法⑧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6858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節税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686800" y="3547872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年 5〜20万円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84048" y="4572000"/>
            <a:ext cx="11228832" cy="1234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62686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8手法すべてに取り組むと…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" y="5010912"/>
            <a:ext cx="109728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月 3〜20万円 の軍資金を継続的に作ることが可能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84048"/>
            <a:ext cx="82296" cy="65836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384048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40代からの資産形成の正しい順番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07899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40代からでも間に合う。ただし「順番」を間違えないことが重要 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37033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61872"/>
            <a:ext cx="3703320" cy="9692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289304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47472" y="17647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まず土台を作る（〜3ヶ月）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2432304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0704" y="2395728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先取り貯蓄の自動化を設定する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" y="3310128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310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60704" y="3273552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固定費の見直し（スマホ・保険）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0352" y="4187952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" y="41879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0704" y="4151376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キャッシュレス・ポイント還元を整備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0352" y="5065776"/>
            <a:ext cx="438912" cy="43891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5065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60704" y="5029200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税制優遇（ふるさと納税・iDeCo）を申込む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79392" y="1261872"/>
            <a:ext cx="37033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79392" y="1261872"/>
            <a:ext cx="3703320" cy="969264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24" name="Text 22"/>
          <p:cNvSpPr/>
          <p:nvPr/>
        </p:nvSpPr>
        <p:spPr>
          <a:xfrm>
            <a:off x="4279392" y="1289304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279392" y="17647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軍資金を加速させる（3〜6ヶ月）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62272" y="2432304"/>
            <a:ext cx="438912" cy="438912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27" name="Text 25"/>
          <p:cNvSpPr/>
          <p:nvPr/>
        </p:nvSpPr>
        <p:spPr>
          <a:xfrm>
            <a:off x="4462272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92624" y="2395728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断捨離・不用品売却で種銭を作る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62272" y="3310128"/>
            <a:ext cx="438912" cy="438912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0" name="Text 28"/>
          <p:cNvSpPr/>
          <p:nvPr/>
        </p:nvSpPr>
        <p:spPr>
          <a:xfrm>
            <a:off x="4462272" y="3310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992624" y="3273552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ポイントサイトで日常行動を収益化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462272" y="4187952"/>
            <a:ext cx="438912" cy="438912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3" name="Text 31"/>
          <p:cNvSpPr/>
          <p:nvPr/>
        </p:nvSpPr>
        <p:spPr>
          <a:xfrm>
            <a:off x="4462272" y="41879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92624" y="4151376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副業をスタート（小さく・得意なことから）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462272" y="5065776"/>
            <a:ext cx="438912" cy="438912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36" name="Text 34"/>
          <p:cNvSpPr/>
          <p:nvPr/>
        </p:nvSpPr>
        <p:spPr>
          <a:xfrm>
            <a:off x="4462272" y="5065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992624" y="5029200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毎月の軍資金を投資専用口座に蓄積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211312" y="1261872"/>
            <a:ext cx="370332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11312" y="1261872"/>
            <a:ext cx="3703320" cy="9692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0" name="Text 38"/>
          <p:cNvSpPr/>
          <p:nvPr/>
        </p:nvSpPr>
        <p:spPr>
          <a:xfrm>
            <a:off x="8211312" y="1289304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8211312" y="1764792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軍資金を「増やす仕組み」へ（6ヶ月〜）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394192" y="2432304"/>
            <a:ext cx="43891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3" name="Text 41"/>
          <p:cNvSpPr/>
          <p:nvPr/>
        </p:nvSpPr>
        <p:spPr>
          <a:xfrm>
            <a:off x="8394192" y="2432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924544" y="2395728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元本100万円を目安に運用スタート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394192" y="3310128"/>
            <a:ext cx="43891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6" name="Text 44"/>
          <p:cNvSpPr/>
          <p:nvPr/>
        </p:nvSpPr>
        <p:spPr>
          <a:xfrm>
            <a:off x="8394192" y="3310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924544" y="3273552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長期積立（新NISA）で時間を味方につける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394192" y="4187952"/>
            <a:ext cx="43891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9" name="Text 47"/>
          <p:cNvSpPr/>
          <p:nvPr/>
        </p:nvSpPr>
        <p:spPr>
          <a:xfrm>
            <a:off x="8394192" y="41879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8924544" y="4151376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さらなる加速の方法を学び続ける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394192" y="5065776"/>
            <a:ext cx="438912" cy="4389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2" name="Text 50"/>
          <p:cNvSpPr/>
          <p:nvPr/>
        </p:nvSpPr>
        <p:spPr>
          <a:xfrm>
            <a:off x="8394192" y="50657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924544" y="5029200"/>
            <a:ext cx="285292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収益の一部を再投資に回すサイクルを作る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20040" y="629107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760720" y="62910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A9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投資で成功する人が最初にやっている「軍資金の作り方」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60720"/>
            <a:ext cx="12192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833872"/>
            <a:ext cx="12192000" cy="36576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本日のまとめ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84048" y="1024128"/>
            <a:ext cx="11228832" cy="987552"/>
          </a:xfrm>
          <a:prstGeom prst="rect">
            <a:avLst/>
          </a:prstGeom>
          <a:solidFill>
            <a:srgbClr val="243060"/>
          </a:solidFill>
          <a:ln w="12700">
            <a:solidFill>
              <a:srgbClr val="E860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024128"/>
            <a:ext cx="749808" cy="987552"/>
          </a:xfrm>
          <a:prstGeom prst="rect">
            <a:avLst/>
          </a:prstGeom>
          <a:solidFill>
            <a:srgbClr val="E8602C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225296"/>
            <a:ext cx="749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61872" y="118872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投資の結果は「銘柄」より「元本（軍資金）の大きさ」で8〜9割が決まる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84048" y="2176272"/>
            <a:ext cx="11228832" cy="987552"/>
          </a:xfrm>
          <a:prstGeom prst="rect">
            <a:avLst/>
          </a:prstGeom>
          <a:solidFill>
            <a:srgbClr val="24306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176272"/>
            <a:ext cx="749808" cy="9875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377440"/>
            <a:ext cx="749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61872" y="2340864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資産形成の9割は「投資前」の準備で決まる。軍資金作りが最初の仕事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84048" y="3328416"/>
            <a:ext cx="11228832" cy="987552"/>
          </a:xfrm>
          <a:prstGeom prst="rect">
            <a:avLst/>
          </a:prstGeom>
          <a:solidFill>
            <a:srgbClr val="243060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328416"/>
            <a:ext cx="749808" cy="9875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529584"/>
            <a:ext cx="749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61872" y="3493008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8つの手法で月3〜20万円の軍資金を作り続けることは、今日から実行できる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84048" y="4480560"/>
            <a:ext cx="11228832" cy="987552"/>
          </a:xfrm>
          <a:prstGeom prst="rect">
            <a:avLst/>
          </a:prstGeom>
          <a:solidFill>
            <a:srgbClr val="24306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4480560"/>
            <a:ext cx="749808" cy="9875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4681728"/>
            <a:ext cx="7498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61872" y="4645152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40代からでも間に合う。ただし「正しい順番」で取り組むことが重要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84048" y="5650992"/>
            <a:ext cx="11228832" cy="43891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5669280"/>
            <a:ext cx="112288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軍資金を作ることが、資産形成の第一歩であり最も重要なステップです。  ─  株式会社 Vision Creator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0" y="5989320"/>
            <a:ext cx="1219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株式会社 Vision Creator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2026-03-04T14:20:24Z</dcterms:created>
  <dcterms:modified xsi:type="dcterms:W3CDTF">2026-03-04T14:20:24Z</dcterms:modified>
</cp:coreProperties>
</file>