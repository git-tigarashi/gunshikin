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5303520"/>
            <a:ext cx="12192000" cy="54864"/>
          </a:xfrm>
          <a:prstGeom prst="rect">
            <a:avLst/>
          </a:prstGeom>
          <a:solidFill>
            <a:srgbClr val="00695C"/>
          </a:solidFill>
          <a:ln/>
        </p:spPr>
      </p:sp>
      <p:sp>
        <p:nvSpPr>
          <p:cNvPr id="4" name="Shape 2"/>
          <p:cNvSpPr/>
          <p:nvPr/>
        </p:nvSpPr>
        <p:spPr>
          <a:xfrm>
            <a:off x="0" y="5358384"/>
            <a:ext cx="12192000" cy="36576"/>
          </a:xfrm>
          <a:prstGeom prst="rect">
            <a:avLst/>
          </a:prstGeom>
          <a:solidFill>
            <a:srgbClr val="D4A843"/>
          </a:solidFill>
          <a:ln/>
        </p:spPr>
      </p:sp>
      <p:sp>
        <p:nvSpPr>
          <p:cNvPr id="5" name="Shape 3"/>
          <p:cNvSpPr/>
          <p:nvPr/>
        </p:nvSpPr>
        <p:spPr>
          <a:xfrm>
            <a:off x="1371600" y="365760"/>
            <a:ext cx="9418320" cy="502920"/>
          </a:xfrm>
          <a:prstGeom prst="rect">
            <a:avLst/>
          </a:prstGeom>
          <a:solidFill>
            <a:srgbClr val="00695C"/>
          </a:solidFill>
          <a:ln/>
        </p:spPr>
      </p:sp>
      <p:sp>
        <p:nvSpPr>
          <p:cNvPr id="6" name="Text 4"/>
          <p:cNvSpPr/>
          <p:nvPr/>
        </p:nvSpPr>
        <p:spPr>
          <a:xfrm>
            <a:off x="1371600" y="365760"/>
            <a:ext cx="9418320" cy="502920"/>
          </a:xfrm>
          <a:prstGeom prst="rect">
            <a:avLst/>
          </a:prstGeom>
          <a:noFill/>
          <a:ln/>
        </p:spPr>
        <p:txBody>
          <a:bodyPr wrap="square" rtlCol="0" anchor="ctr"/>
          <a:lstStyle/>
          <a:p>
            <a:pPr algn="ctr" indent="0" marL="0">
              <a:buNone/>
            </a:pPr>
            <a:r>
              <a:rPr lang="en-US" sz="1800" b="1" dirty="0">
                <a:solidFill>
                  <a:srgbClr val="FFFFFF"/>
                </a:solidFill>
                <a:latin typeface="メイリオ" pitchFamily="34" charset="0"/>
                <a:ea typeface="メイリオ" pitchFamily="34" charset="-122"/>
                <a:cs typeface="メイリオ" pitchFamily="34" charset="-120"/>
              </a:rPr>
              <a:t>高速資産形成セミナー 受講者限定</a:t>
            </a:r>
            <a:endParaRPr lang="en-US" sz="1800" dirty="0"/>
          </a:p>
        </p:txBody>
      </p:sp>
      <p:sp>
        <p:nvSpPr>
          <p:cNvPr id="7" name="Text 5"/>
          <p:cNvSpPr/>
          <p:nvPr/>
        </p:nvSpPr>
        <p:spPr>
          <a:xfrm>
            <a:off x="731520" y="1051560"/>
            <a:ext cx="10698480" cy="822960"/>
          </a:xfrm>
          <a:prstGeom prst="rect">
            <a:avLst/>
          </a:prstGeom>
          <a:noFill/>
          <a:ln/>
        </p:spPr>
        <p:txBody>
          <a:bodyPr wrap="square" rtlCol="0" anchor="ctr"/>
          <a:lstStyle/>
          <a:p>
            <a:pPr algn="ctr" indent="0" marL="0">
              <a:buNone/>
            </a:pPr>
            <a:r>
              <a:rPr lang="en-US" sz="4000" b="1" dirty="0">
                <a:solidFill>
                  <a:srgbClr val="FFFFFF"/>
                </a:solidFill>
                <a:latin typeface="メイリオ" pitchFamily="34" charset="0"/>
                <a:ea typeface="メイリオ" pitchFamily="34" charset="-122"/>
                <a:cs typeface="メイリオ" pitchFamily="34" charset="-120"/>
              </a:rPr>
              <a:t>投資の軍資金を作る</a:t>
            </a:r>
            <a:endParaRPr lang="en-US" sz="4000" dirty="0"/>
          </a:p>
        </p:txBody>
      </p:sp>
      <p:sp>
        <p:nvSpPr>
          <p:cNvPr id="8" name="Text 6"/>
          <p:cNvSpPr/>
          <p:nvPr/>
        </p:nvSpPr>
        <p:spPr>
          <a:xfrm>
            <a:off x="731520" y="1874520"/>
            <a:ext cx="10698480" cy="1097280"/>
          </a:xfrm>
          <a:prstGeom prst="rect">
            <a:avLst/>
          </a:prstGeom>
          <a:noFill/>
          <a:ln/>
        </p:spPr>
        <p:txBody>
          <a:bodyPr wrap="square" rtlCol="0" anchor="ctr"/>
          <a:lstStyle/>
          <a:p>
            <a:pPr algn="ctr" indent="0" marL="0">
              <a:buNone/>
            </a:pPr>
            <a:r>
              <a:rPr lang="en-US" sz="5800" b="1" dirty="0">
                <a:solidFill>
                  <a:srgbClr val="D4A843"/>
                </a:solidFill>
                <a:latin typeface="メイリオ" pitchFamily="34" charset="0"/>
                <a:ea typeface="メイリオ" pitchFamily="34" charset="-122"/>
                <a:cs typeface="メイリオ" pitchFamily="34" charset="-120"/>
              </a:rPr>
              <a:t>8つの方法</a:t>
            </a:r>
            <a:endParaRPr lang="en-US" sz="5800" dirty="0"/>
          </a:p>
        </p:txBody>
      </p:sp>
      <p:sp>
        <p:nvSpPr>
          <p:cNvPr id="9" name="Text 7"/>
          <p:cNvSpPr/>
          <p:nvPr/>
        </p:nvSpPr>
        <p:spPr>
          <a:xfrm>
            <a:off x="731520" y="3063240"/>
            <a:ext cx="10698480" cy="457200"/>
          </a:xfrm>
          <a:prstGeom prst="rect">
            <a:avLst/>
          </a:prstGeom>
          <a:noFill/>
          <a:ln/>
        </p:spPr>
        <p:txBody>
          <a:bodyPr wrap="square" rtlCol="0" anchor="ctr"/>
          <a:lstStyle/>
          <a:p>
            <a:pPr algn="ctr" indent="0" marL="0">
              <a:buNone/>
            </a:pPr>
            <a:r>
              <a:rPr lang="en-US" sz="1600" dirty="0">
                <a:solidFill>
                  <a:srgbClr val="AABBCC"/>
                </a:solidFill>
                <a:latin typeface="メイリオ" pitchFamily="34" charset="0"/>
                <a:ea typeface="メイリオ" pitchFamily="34" charset="-122"/>
                <a:cs typeface="メイリオ" pitchFamily="34" charset="-120"/>
              </a:rPr>
              <a:t>〜 軍資金不足を解消し、最速でトレードをスタートする実践ガイド 〜</a:t>
            </a:r>
            <a:endParaRPr lang="en-US" sz="1600" dirty="0"/>
          </a:p>
        </p:txBody>
      </p:sp>
      <p:sp>
        <p:nvSpPr>
          <p:cNvPr id="10" name="Shape 8"/>
          <p:cNvSpPr/>
          <p:nvPr/>
        </p:nvSpPr>
        <p:spPr>
          <a:xfrm>
            <a:off x="3200400" y="3703320"/>
            <a:ext cx="5760720" cy="45720"/>
          </a:xfrm>
          <a:prstGeom prst="rect">
            <a:avLst/>
          </a:prstGeom>
          <a:solidFill>
            <a:srgbClr val="00695C"/>
          </a:solidFill>
          <a:ln/>
        </p:spPr>
      </p:sp>
      <p:sp>
        <p:nvSpPr>
          <p:cNvPr id="11" name="Text 9"/>
          <p:cNvSpPr/>
          <p:nvPr/>
        </p:nvSpPr>
        <p:spPr>
          <a:xfrm>
            <a:off x="731520" y="3840480"/>
            <a:ext cx="10698480" cy="457200"/>
          </a:xfrm>
          <a:prstGeom prst="rect">
            <a:avLst/>
          </a:prstGeom>
          <a:noFill/>
          <a:ln/>
        </p:spPr>
        <p:txBody>
          <a:bodyPr wrap="square" rtlCol="0" anchor="ctr"/>
          <a:lstStyle/>
          <a:p>
            <a:pPr algn="ctr" indent="0" marL="0">
              <a:buNone/>
            </a:pPr>
            <a:r>
              <a:rPr lang="en-US" sz="1800" b="1" dirty="0">
                <a:solidFill>
                  <a:srgbClr val="D4A843"/>
                </a:solidFill>
                <a:latin typeface="メイリオ" pitchFamily="34" charset="0"/>
                <a:ea typeface="メイリオ" pitchFamily="34" charset="-122"/>
                <a:cs typeface="メイリオ" pitchFamily="34" charset="-120"/>
              </a:rPr>
              <a:t>「学んでいるのに動けない」を今日で終わりにする</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365760" y="457200"/>
            <a:ext cx="73152" cy="640080"/>
          </a:xfrm>
          <a:prstGeom prst="rect">
            <a:avLst/>
          </a:prstGeom>
          <a:solidFill>
            <a:srgbClr val="00695C"/>
          </a:solidFill>
          <a:ln/>
        </p:spPr>
      </p:sp>
      <p:sp>
        <p:nvSpPr>
          <p:cNvPr id="4" name="Text 2"/>
          <p:cNvSpPr/>
          <p:nvPr/>
        </p:nvSpPr>
        <p:spPr>
          <a:xfrm>
            <a:off x="594360" y="457200"/>
            <a:ext cx="10698480" cy="640080"/>
          </a:xfrm>
          <a:prstGeom prst="rect">
            <a:avLst/>
          </a:prstGeom>
          <a:noFill/>
          <a:ln/>
        </p:spPr>
        <p:txBody>
          <a:bodyPr wrap="square" rtlCol="0" anchor="ctr"/>
          <a:lstStyle/>
          <a:p>
            <a:pPr indent="0" marL="0">
              <a:buNone/>
            </a:pPr>
            <a:r>
              <a:rPr lang="en-US" sz="2800" b="1" dirty="0">
                <a:solidFill>
                  <a:srgbClr val="1A2744"/>
                </a:solidFill>
                <a:latin typeface="メイリオ" pitchFamily="34" charset="0"/>
                <a:ea typeface="メイリオ" pitchFamily="34" charset="-122"/>
                <a:cs typeface="メイリオ" pitchFamily="34" charset="-120"/>
              </a:rPr>
              <a:t>「学んでいるのに動けない」の正体</a:t>
            </a:r>
            <a:endParaRPr lang="en-US" sz="2800" dirty="0"/>
          </a:p>
        </p:txBody>
      </p:sp>
      <p:sp>
        <p:nvSpPr>
          <p:cNvPr id="5" name="Shape 3"/>
          <p:cNvSpPr/>
          <p:nvPr/>
        </p:nvSpPr>
        <p:spPr>
          <a:xfrm>
            <a:off x="365760" y="1280160"/>
            <a:ext cx="11247120" cy="594360"/>
          </a:xfrm>
          <a:prstGeom prst="rect">
            <a:avLst/>
          </a:prstGeom>
          <a:solidFill>
            <a:srgbClr val="1A2744"/>
          </a:solidFill>
          <a:ln/>
        </p:spPr>
      </p:sp>
      <p:sp>
        <p:nvSpPr>
          <p:cNvPr id="6" name="Text 4"/>
          <p:cNvSpPr/>
          <p:nvPr/>
        </p:nvSpPr>
        <p:spPr>
          <a:xfrm>
            <a:off x="457200" y="1298448"/>
            <a:ext cx="11064240" cy="557784"/>
          </a:xfrm>
          <a:prstGeom prst="rect">
            <a:avLst/>
          </a:prstGeom>
          <a:noFill/>
          <a:ln/>
        </p:spPr>
        <p:txBody>
          <a:bodyPr wrap="square" rtlCol="0" anchor="ctr"/>
          <a:lstStyle/>
          <a:p>
            <a:pPr algn="ctr" indent="0" marL="0">
              <a:buNone/>
            </a:pPr>
            <a:r>
              <a:rPr lang="en-US" sz="1600" b="1" dirty="0">
                <a:solidFill>
                  <a:srgbClr val="D4A843"/>
                </a:solidFill>
                <a:latin typeface="メイリオ" pitchFamily="34" charset="0"/>
                <a:ea typeface="メイリオ" pitchFamily="34" charset="-122"/>
                <a:cs typeface="メイリオ" pitchFamily="34" charset="-120"/>
              </a:rPr>
              <a:t>これはあなただけではありません。受講者の多くが通る"あるある"です。</a:t>
            </a:r>
            <a:endParaRPr lang="en-US" sz="1600" dirty="0"/>
          </a:p>
        </p:txBody>
      </p:sp>
      <p:sp>
        <p:nvSpPr>
          <p:cNvPr id="7" name="Shape 5"/>
          <p:cNvSpPr/>
          <p:nvPr/>
        </p:nvSpPr>
        <p:spPr>
          <a:xfrm>
            <a:off x="365760" y="2057400"/>
            <a:ext cx="11247120" cy="777240"/>
          </a:xfrm>
          <a:prstGeom prst="rect">
            <a:avLst/>
          </a:prstGeom>
          <a:solidFill>
            <a:srgbClr val="FFFFFF"/>
          </a:solidFill>
          <a:ln w="12700">
            <a:solidFill>
              <a:srgbClr val="DDDDDD"/>
            </a:solidFill>
            <a:prstDash val="solid"/>
          </a:ln>
        </p:spPr>
      </p:sp>
      <p:sp>
        <p:nvSpPr>
          <p:cNvPr id="8" name="Shape 6"/>
          <p:cNvSpPr/>
          <p:nvPr/>
        </p:nvSpPr>
        <p:spPr>
          <a:xfrm>
            <a:off x="365760" y="2057400"/>
            <a:ext cx="1554480" cy="777240"/>
          </a:xfrm>
          <a:prstGeom prst="rect">
            <a:avLst/>
          </a:prstGeom>
          <a:solidFill>
            <a:srgbClr val="00695C"/>
          </a:solidFill>
          <a:ln/>
        </p:spPr>
      </p:sp>
      <p:sp>
        <p:nvSpPr>
          <p:cNvPr id="9" name="Text 7"/>
          <p:cNvSpPr/>
          <p:nvPr/>
        </p:nvSpPr>
        <p:spPr>
          <a:xfrm>
            <a:off x="365760" y="2194560"/>
            <a:ext cx="1554480" cy="50292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パターン①</a:t>
            </a:r>
            <a:endParaRPr lang="en-US" sz="1300" dirty="0"/>
          </a:p>
        </p:txBody>
      </p:sp>
      <p:sp>
        <p:nvSpPr>
          <p:cNvPr id="10" name="Text 8"/>
          <p:cNvSpPr/>
          <p:nvPr/>
        </p:nvSpPr>
        <p:spPr>
          <a:xfrm>
            <a:off x="2011680" y="2194560"/>
            <a:ext cx="9418320" cy="50292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受講費（44〜66万円）を捻出したことで手元の余裕資金が一時的に減った</a:t>
            </a:r>
            <a:endParaRPr lang="en-US" sz="1500" dirty="0"/>
          </a:p>
        </p:txBody>
      </p:sp>
      <p:sp>
        <p:nvSpPr>
          <p:cNvPr id="11" name="Shape 9"/>
          <p:cNvSpPr/>
          <p:nvPr/>
        </p:nvSpPr>
        <p:spPr>
          <a:xfrm>
            <a:off x="365760" y="2971800"/>
            <a:ext cx="11247120" cy="777240"/>
          </a:xfrm>
          <a:prstGeom prst="rect">
            <a:avLst/>
          </a:prstGeom>
          <a:solidFill>
            <a:srgbClr val="FFFFFF"/>
          </a:solidFill>
          <a:ln w="12700">
            <a:solidFill>
              <a:srgbClr val="DDDDDD"/>
            </a:solidFill>
            <a:prstDash val="solid"/>
          </a:ln>
        </p:spPr>
      </p:sp>
      <p:sp>
        <p:nvSpPr>
          <p:cNvPr id="12" name="Shape 10"/>
          <p:cNvSpPr/>
          <p:nvPr/>
        </p:nvSpPr>
        <p:spPr>
          <a:xfrm>
            <a:off x="365760" y="2971800"/>
            <a:ext cx="1554480" cy="777240"/>
          </a:xfrm>
          <a:prstGeom prst="rect">
            <a:avLst/>
          </a:prstGeom>
          <a:solidFill>
            <a:srgbClr val="00695C"/>
          </a:solidFill>
          <a:ln/>
        </p:spPr>
      </p:sp>
      <p:sp>
        <p:nvSpPr>
          <p:cNvPr id="13" name="Text 11"/>
          <p:cNvSpPr/>
          <p:nvPr/>
        </p:nvSpPr>
        <p:spPr>
          <a:xfrm>
            <a:off x="365760" y="3108960"/>
            <a:ext cx="1554480" cy="50292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パターン②</a:t>
            </a:r>
            <a:endParaRPr lang="en-US" sz="1300" dirty="0"/>
          </a:p>
        </p:txBody>
      </p:sp>
      <p:sp>
        <p:nvSpPr>
          <p:cNvPr id="14" name="Text 12"/>
          <p:cNvSpPr/>
          <p:nvPr/>
        </p:nvSpPr>
        <p:spPr>
          <a:xfrm>
            <a:off x="2011680" y="3108960"/>
            <a:ext cx="9418320" cy="50292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そもそも投資用の余剰資金がなく、講座を受けたが動けていない</a:t>
            </a:r>
            <a:endParaRPr lang="en-US" sz="1500" dirty="0"/>
          </a:p>
        </p:txBody>
      </p:sp>
      <p:sp>
        <p:nvSpPr>
          <p:cNvPr id="15" name="Shape 13"/>
          <p:cNvSpPr/>
          <p:nvPr/>
        </p:nvSpPr>
        <p:spPr>
          <a:xfrm>
            <a:off x="365760" y="3886200"/>
            <a:ext cx="11247120" cy="777240"/>
          </a:xfrm>
          <a:prstGeom prst="rect">
            <a:avLst/>
          </a:prstGeom>
          <a:solidFill>
            <a:srgbClr val="FFFFFF"/>
          </a:solidFill>
          <a:ln w="12700">
            <a:solidFill>
              <a:srgbClr val="DDDDDD"/>
            </a:solidFill>
            <a:prstDash val="solid"/>
          </a:ln>
        </p:spPr>
      </p:sp>
      <p:sp>
        <p:nvSpPr>
          <p:cNvPr id="16" name="Shape 14"/>
          <p:cNvSpPr/>
          <p:nvPr/>
        </p:nvSpPr>
        <p:spPr>
          <a:xfrm>
            <a:off x="365760" y="3886200"/>
            <a:ext cx="1554480" cy="777240"/>
          </a:xfrm>
          <a:prstGeom prst="rect">
            <a:avLst/>
          </a:prstGeom>
          <a:solidFill>
            <a:srgbClr val="00695C"/>
          </a:solidFill>
          <a:ln/>
        </p:spPr>
      </p:sp>
      <p:sp>
        <p:nvSpPr>
          <p:cNvPr id="17" name="Text 15"/>
          <p:cNvSpPr/>
          <p:nvPr/>
        </p:nvSpPr>
        <p:spPr>
          <a:xfrm>
            <a:off x="365760" y="4023360"/>
            <a:ext cx="1554480" cy="50292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パターン③</a:t>
            </a:r>
            <a:endParaRPr lang="en-US" sz="1300" dirty="0"/>
          </a:p>
        </p:txBody>
      </p:sp>
      <p:sp>
        <p:nvSpPr>
          <p:cNvPr id="18" name="Text 16"/>
          <p:cNvSpPr/>
          <p:nvPr/>
        </p:nvSpPr>
        <p:spPr>
          <a:xfrm>
            <a:off x="2011680" y="4023360"/>
            <a:ext cx="9418320" cy="50292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軍資金の作り方を知らなかった・意識していなかった</a:t>
            </a:r>
            <a:endParaRPr lang="en-US" sz="1500" dirty="0"/>
          </a:p>
        </p:txBody>
      </p:sp>
      <p:sp>
        <p:nvSpPr>
          <p:cNvPr id="19" name="Shape 17"/>
          <p:cNvSpPr/>
          <p:nvPr/>
        </p:nvSpPr>
        <p:spPr>
          <a:xfrm>
            <a:off x="365760" y="4800600"/>
            <a:ext cx="11247120" cy="777240"/>
          </a:xfrm>
          <a:prstGeom prst="rect">
            <a:avLst/>
          </a:prstGeom>
          <a:solidFill>
            <a:srgbClr val="FFFFFF"/>
          </a:solidFill>
          <a:ln w="12700">
            <a:solidFill>
              <a:srgbClr val="DDDDDD"/>
            </a:solidFill>
            <a:prstDash val="solid"/>
          </a:ln>
        </p:spPr>
      </p:sp>
      <p:sp>
        <p:nvSpPr>
          <p:cNvPr id="20" name="Shape 18"/>
          <p:cNvSpPr/>
          <p:nvPr/>
        </p:nvSpPr>
        <p:spPr>
          <a:xfrm>
            <a:off x="365760" y="4800600"/>
            <a:ext cx="1554480" cy="777240"/>
          </a:xfrm>
          <a:prstGeom prst="rect">
            <a:avLst/>
          </a:prstGeom>
          <a:solidFill>
            <a:srgbClr val="00695C"/>
          </a:solidFill>
          <a:ln/>
        </p:spPr>
      </p:sp>
      <p:sp>
        <p:nvSpPr>
          <p:cNvPr id="21" name="Text 19"/>
          <p:cNvSpPr/>
          <p:nvPr/>
        </p:nvSpPr>
        <p:spPr>
          <a:xfrm>
            <a:off x="365760" y="4937760"/>
            <a:ext cx="1554480" cy="50292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パターン④</a:t>
            </a:r>
            <a:endParaRPr lang="en-US" sz="1300" dirty="0"/>
          </a:p>
        </p:txBody>
      </p:sp>
      <p:sp>
        <p:nvSpPr>
          <p:cNvPr id="22" name="Text 20"/>
          <p:cNvSpPr/>
          <p:nvPr/>
        </p:nvSpPr>
        <p:spPr>
          <a:xfrm>
            <a:off x="2011680" y="4937760"/>
            <a:ext cx="9418320" cy="50292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収入は十分だが支出管理ができておらず、なかなか貯まらない</a:t>
            </a:r>
            <a:endParaRPr lang="en-US" sz="1500" dirty="0"/>
          </a:p>
        </p:txBody>
      </p:sp>
      <p:sp>
        <p:nvSpPr>
          <p:cNvPr id="23" name="Shape 21"/>
          <p:cNvSpPr/>
          <p:nvPr/>
        </p:nvSpPr>
        <p:spPr>
          <a:xfrm>
            <a:off x="365760" y="5897880"/>
            <a:ext cx="11247120" cy="457200"/>
          </a:xfrm>
          <a:prstGeom prst="rect">
            <a:avLst/>
          </a:prstGeom>
          <a:solidFill>
            <a:srgbClr val="00695C"/>
          </a:solidFill>
          <a:ln/>
        </p:spPr>
      </p:sp>
      <p:sp>
        <p:nvSpPr>
          <p:cNvPr id="24" name="Text 22"/>
          <p:cNvSpPr/>
          <p:nvPr/>
        </p:nvSpPr>
        <p:spPr>
          <a:xfrm>
            <a:off x="365760" y="5897880"/>
            <a:ext cx="11247120" cy="457200"/>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今日の講義で全パターンの解決策をお伝えします</a:t>
            </a:r>
            <a:endParaRPr lang="en-US" sz="1600" dirty="0"/>
          </a:p>
        </p:txBody>
      </p:sp>
      <p:sp>
        <p:nvSpPr>
          <p:cNvPr id="25" name="Text 23"/>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54864"/>
          </a:xfrm>
          <a:prstGeom prst="rect">
            <a:avLst/>
          </a:prstGeom>
          <a:solidFill>
            <a:srgbClr val="00695C"/>
          </a:solidFill>
          <a:ln/>
        </p:spPr>
      </p:sp>
      <p:sp>
        <p:nvSpPr>
          <p:cNvPr id="4" name="Text 2"/>
          <p:cNvSpPr/>
          <p:nvPr/>
        </p:nvSpPr>
        <p:spPr>
          <a:xfrm>
            <a:off x="457200" y="182880"/>
            <a:ext cx="11247120" cy="64008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1ヶ月遅れるたびに「逃がしている利益」がある</a:t>
            </a:r>
            <a:endParaRPr lang="en-US" sz="2600" dirty="0"/>
          </a:p>
        </p:txBody>
      </p:sp>
      <p:sp>
        <p:nvSpPr>
          <p:cNvPr id="5" name="Shape 3"/>
          <p:cNvSpPr/>
          <p:nvPr/>
        </p:nvSpPr>
        <p:spPr>
          <a:xfrm>
            <a:off x="457200" y="960120"/>
            <a:ext cx="11247120" cy="502920"/>
          </a:xfrm>
          <a:prstGeom prst="rect">
            <a:avLst/>
          </a:prstGeom>
          <a:solidFill>
            <a:srgbClr val="00695C"/>
          </a:solidFill>
          <a:ln/>
        </p:spPr>
      </p:sp>
      <p:sp>
        <p:nvSpPr>
          <p:cNvPr id="6" name="Text 4"/>
          <p:cNvSpPr/>
          <p:nvPr/>
        </p:nvSpPr>
        <p:spPr>
          <a:xfrm>
            <a:off x="457200" y="960120"/>
            <a:ext cx="2743200" cy="502920"/>
          </a:xfrm>
          <a:prstGeom prst="rect">
            <a:avLst/>
          </a:prstGeom>
          <a:noFill/>
          <a:ln/>
        </p:spPr>
        <p:txBody>
          <a:bodyPr wrap="square" rtlCol="0" anchor="ctr"/>
          <a:lstStyle/>
          <a:p>
            <a:pPr algn="ctr" indent="0" marL="0">
              <a:buNone/>
            </a:pPr>
            <a:r>
              <a:rPr lang="en-US" sz="1500" b="1" dirty="0">
                <a:solidFill>
                  <a:srgbClr val="FFFFFF"/>
                </a:solidFill>
                <a:latin typeface="メイリオ" pitchFamily="34" charset="0"/>
                <a:ea typeface="メイリオ" pitchFamily="34" charset="-122"/>
                <a:cs typeface="メイリオ" pitchFamily="34" charset="-120"/>
              </a:rPr>
              <a:t>開始時期</a:t>
            </a:r>
            <a:endParaRPr lang="en-US" sz="1500" dirty="0"/>
          </a:p>
        </p:txBody>
      </p:sp>
      <p:sp>
        <p:nvSpPr>
          <p:cNvPr id="7" name="Text 5"/>
          <p:cNvSpPr/>
          <p:nvPr/>
        </p:nvSpPr>
        <p:spPr>
          <a:xfrm>
            <a:off x="3291840" y="960120"/>
            <a:ext cx="2743200" cy="502920"/>
          </a:xfrm>
          <a:prstGeom prst="rect">
            <a:avLst/>
          </a:prstGeom>
          <a:noFill/>
          <a:ln/>
        </p:spPr>
        <p:txBody>
          <a:bodyPr wrap="square" rtlCol="0" anchor="ctr"/>
          <a:lstStyle/>
          <a:p>
            <a:pPr algn="ctr" indent="0" marL="0">
              <a:buNone/>
            </a:pPr>
            <a:r>
              <a:rPr lang="en-US" sz="1500" b="1" dirty="0">
                <a:solidFill>
                  <a:srgbClr val="FFFFFF"/>
                </a:solidFill>
                <a:latin typeface="メイリオ" pitchFamily="34" charset="0"/>
                <a:ea typeface="メイリオ" pitchFamily="34" charset="-122"/>
                <a:cs typeface="メイリオ" pitchFamily="34" charset="-120"/>
              </a:rPr>
              <a:t>3ヶ月後</a:t>
            </a:r>
            <a:endParaRPr lang="en-US" sz="1500" dirty="0"/>
          </a:p>
        </p:txBody>
      </p:sp>
      <p:sp>
        <p:nvSpPr>
          <p:cNvPr id="8" name="Text 6"/>
          <p:cNvSpPr/>
          <p:nvPr/>
        </p:nvSpPr>
        <p:spPr>
          <a:xfrm>
            <a:off x="6126480" y="960120"/>
            <a:ext cx="2743200" cy="502920"/>
          </a:xfrm>
          <a:prstGeom prst="rect">
            <a:avLst/>
          </a:prstGeom>
          <a:noFill/>
          <a:ln/>
        </p:spPr>
        <p:txBody>
          <a:bodyPr wrap="square" rtlCol="0" anchor="ctr"/>
          <a:lstStyle/>
          <a:p>
            <a:pPr algn="ctr" indent="0" marL="0">
              <a:buNone/>
            </a:pPr>
            <a:r>
              <a:rPr lang="en-US" sz="1500" b="1" dirty="0">
                <a:solidFill>
                  <a:srgbClr val="FFFFFF"/>
                </a:solidFill>
                <a:latin typeface="メイリオ" pitchFamily="34" charset="0"/>
                <a:ea typeface="メイリオ" pitchFamily="34" charset="-122"/>
                <a:cs typeface="メイリオ" pitchFamily="34" charset="-120"/>
              </a:rPr>
              <a:t>6ヶ月後</a:t>
            </a:r>
            <a:endParaRPr lang="en-US" sz="1500" dirty="0"/>
          </a:p>
        </p:txBody>
      </p:sp>
      <p:sp>
        <p:nvSpPr>
          <p:cNvPr id="9" name="Text 7"/>
          <p:cNvSpPr/>
          <p:nvPr/>
        </p:nvSpPr>
        <p:spPr>
          <a:xfrm>
            <a:off x="8961120" y="960120"/>
            <a:ext cx="2743200" cy="502920"/>
          </a:xfrm>
          <a:prstGeom prst="rect">
            <a:avLst/>
          </a:prstGeom>
          <a:noFill/>
          <a:ln/>
        </p:spPr>
        <p:txBody>
          <a:bodyPr wrap="square" rtlCol="0" anchor="ctr"/>
          <a:lstStyle/>
          <a:p>
            <a:pPr algn="ctr" indent="0" marL="0">
              <a:buNone/>
            </a:pPr>
            <a:r>
              <a:rPr lang="en-US" sz="1500" b="1" dirty="0">
                <a:solidFill>
                  <a:srgbClr val="FFFFFF"/>
                </a:solidFill>
                <a:latin typeface="メイリオ" pitchFamily="34" charset="0"/>
                <a:ea typeface="メイリオ" pitchFamily="34" charset="-122"/>
                <a:cs typeface="メイリオ" pitchFamily="34" charset="-120"/>
              </a:rPr>
              <a:t>12ヶ月後</a:t>
            </a:r>
            <a:endParaRPr lang="en-US" sz="1500" dirty="0"/>
          </a:p>
        </p:txBody>
      </p:sp>
      <p:sp>
        <p:nvSpPr>
          <p:cNvPr id="10" name="Shape 8"/>
          <p:cNvSpPr/>
          <p:nvPr/>
        </p:nvSpPr>
        <p:spPr>
          <a:xfrm>
            <a:off x="457200" y="1554480"/>
            <a:ext cx="11247120" cy="731520"/>
          </a:xfrm>
          <a:prstGeom prst="rect">
            <a:avLst/>
          </a:prstGeom>
          <a:solidFill>
            <a:srgbClr val="243060"/>
          </a:solidFill>
          <a:ln/>
        </p:spPr>
      </p:sp>
      <p:sp>
        <p:nvSpPr>
          <p:cNvPr id="11" name="Text 9"/>
          <p:cNvSpPr/>
          <p:nvPr/>
        </p:nvSpPr>
        <p:spPr>
          <a:xfrm>
            <a:off x="640080" y="1691640"/>
            <a:ext cx="2560320" cy="457200"/>
          </a:xfrm>
          <a:prstGeom prst="rect">
            <a:avLst/>
          </a:prstGeom>
          <a:noFill/>
          <a:ln/>
        </p:spPr>
        <p:txBody>
          <a:bodyPr wrap="square" rtlCol="0" anchor="ctr"/>
          <a:lstStyle/>
          <a:p>
            <a:pPr indent="0" marL="0">
              <a:buNone/>
            </a:pPr>
            <a:r>
              <a:rPr lang="en-US" sz="1500" b="1" dirty="0">
                <a:solidFill>
                  <a:srgbClr val="D4A843"/>
                </a:solidFill>
                <a:latin typeface="メイリオ" pitchFamily="34" charset="0"/>
                <a:ea typeface="メイリオ" pitchFamily="34" charset="-122"/>
                <a:cs typeface="メイリオ" pitchFamily="34" charset="-120"/>
              </a:rPr>
              <a:t>今月スタート</a:t>
            </a:r>
            <a:endParaRPr lang="en-US" sz="1500" dirty="0"/>
          </a:p>
        </p:txBody>
      </p:sp>
      <p:sp>
        <p:nvSpPr>
          <p:cNvPr id="12" name="Text 10"/>
          <p:cNvSpPr/>
          <p:nvPr/>
        </p:nvSpPr>
        <p:spPr>
          <a:xfrm>
            <a:off x="3291840" y="1691640"/>
            <a:ext cx="2743200" cy="457200"/>
          </a:xfrm>
          <a:prstGeom prst="rect">
            <a:avLst/>
          </a:prstGeom>
          <a:noFill/>
          <a:ln/>
        </p:spPr>
        <p:txBody>
          <a:bodyPr wrap="square" rtlCol="0" anchor="ctr"/>
          <a:lstStyle/>
          <a:p>
            <a:pPr algn="ctr" indent="0" marL="0">
              <a:buNone/>
            </a:pPr>
            <a:r>
              <a:rPr lang="en-US" sz="1600" b="1" dirty="0">
                <a:solidFill>
                  <a:srgbClr val="D4A843"/>
                </a:solidFill>
                <a:latin typeface="Calibri" pitchFamily="34" charset="0"/>
                <a:ea typeface="Calibri" pitchFamily="34" charset="-122"/>
                <a:cs typeface="Calibri" pitchFamily="34" charset="-120"/>
              </a:rPr>
              <a:t>約15万円</a:t>
            </a:r>
            <a:endParaRPr lang="en-US" sz="1600" dirty="0"/>
          </a:p>
        </p:txBody>
      </p:sp>
      <p:sp>
        <p:nvSpPr>
          <p:cNvPr id="13" name="Text 11"/>
          <p:cNvSpPr/>
          <p:nvPr/>
        </p:nvSpPr>
        <p:spPr>
          <a:xfrm>
            <a:off x="6126480" y="1691640"/>
            <a:ext cx="2743200" cy="457200"/>
          </a:xfrm>
          <a:prstGeom prst="rect">
            <a:avLst/>
          </a:prstGeom>
          <a:noFill/>
          <a:ln/>
        </p:spPr>
        <p:txBody>
          <a:bodyPr wrap="square" rtlCol="0" anchor="ctr"/>
          <a:lstStyle/>
          <a:p>
            <a:pPr algn="ctr" indent="0" marL="0">
              <a:buNone/>
            </a:pPr>
            <a:r>
              <a:rPr lang="en-US" sz="1600" b="1" dirty="0">
                <a:solidFill>
                  <a:srgbClr val="D4A843"/>
                </a:solidFill>
                <a:latin typeface="Calibri" pitchFamily="34" charset="0"/>
                <a:ea typeface="Calibri" pitchFamily="34" charset="-122"/>
                <a:cs typeface="Calibri" pitchFamily="34" charset="-120"/>
              </a:rPr>
              <a:t>約30万円</a:t>
            </a:r>
            <a:endParaRPr lang="en-US" sz="1600" dirty="0"/>
          </a:p>
        </p:txBody>
      </p:sp>
      <p:sp>
        <p:nvSpPr>
          <p:cNvPr id="14" name="Text 12"/>
          <p:cNvSpPr/>
          <p:nvPr/>
        </p:nvSpPr>
        <p:spPr>
          <a:xfrm>
            <a:off x="8961120" y="1691640"/>
            <a:ext cx="2743200" cy="457200"/>
          </a:xfrm>
          <a:prstGeom prst="rect">
            <a:avLst/>
          </a:prstGeom>
          <a:noFill/>
          <a:ln/>
        </p:spPr>
        <p:txBody>
          <a:bodyPr wrap="square" rtlCol="0" anchor="ctr"/>
          <a:lstStyle/>
          <a:p>
            <a:pPr algn="ctr" indent="0" marL="0">
              <a:buNone/>
            </a:pPr>
            <a:r>
              <a:rPr lang="en-US" sz="1600" b="1" dirty="0">
                <a:solidFill>
                  <a:srgbClr val="D4A843"/>
                </a:solidFill>
                <a:latin typeface="Calibri" pitchFamily="34" charset="0"/>
                <a:ea typeface="Calibri" pitchFamily="34" charset="-122"/>
                <a:cs typeface="Calibri" pitchFamily="34" charset="-120"/>
              </a:rPr>
              <a:t>約60万円</a:t>
            </a:r>
            <a:endParaRPr lang="en-US" sz="1600" dirty="0"/>
          </a:p>
        </p:txBody>
      </p:sp>
      <p:sp>
        <p:nvSpPr>
          <p:cNvPr id="15" name="Shape 13"/>
          <p:cNvSpPr/>
          <p:nvPr/>
        </p:nvSpPr>
        <p:spPr>
          <a:xfrm>
            <a:off x="457200" y="2377440"/>
            <a:ext cx="11247120" cy="731520"/>
          </a:xfrm>
          <a:prstGeom prst="rect">
            <a:avLst/>
          </a:prstGeom>
          <a:solidFill>
            <a:srgbClr val="1E2A44"/>
          </a:solidFill>
          <a:ln/>
        </p:spPr>
      </p:sp>
      <p:sp>
        <p:nvSpPr>
          <p:cNvPr id="16" name="Text 14"/>
          <p:cNvSpPr/>
          <p:nvPr/>
        </p:nvSpPr>
        <p:spPr>
          <a:xfrm>
            <a:off x="640080" y="2514600"/>
            <a:ext cx="2560320" cy="457200"/>
          </a:xfrm>
          <a:prstGeom prst="rect">
            <a:avLst/>
          </a:prstGeom>
          <a:noFill/>
          <a:ln/>
        </p:spPr>
        <p:txBody>
          <a:bodyPr wrap="square" rtlCol="0" anchor="ctr"/>
          <a:lstStyle/>
          <a:p>
            <a:pPr indent="0" marL="0">
              <a:buNone/>
            </a:pPr>
            <a:r>
              <a:rPr lang="en-US" sz="1500" dirty="0">
                <a:solidFill>
                  <a:srgbClr val="AABBCC"/>
                </a:solidFill>
                <a:latin typeface="メイリオ" pitchFamily="34" charset="0"/>
                <a:ea typeface="メイリオ" pitchFamily="34" charset="-122"/>
                <a:cs typeface="メイリオ" pitchFamily="34" charset="-120"/>
              </a:rPr>
              <a:t>3ヶ月後スタート</a:t>
            </a:r>
            <a:endParaRPr lang="en-US" sz="1500" dirty="0"/>
          </a:p>
        </p:txBody>
      </p:sp>
      <p:sp>
        <p:nvSpPr>
          <p:cNvPr id="17" name="Text 15"/>
          <p:cNvSpPr/>
          <p:nvPr/>
        </p:nvSpPr>
        <p:spPr>
          <a:xfrm>
            <a:off x="3291840" y="2514600"/>
            <a:ext cx="2743200" cy="457200"/>
          </a:xfrm>
          <a:prstGeom prst="rect">
            <a:avLst/>
          </a:prstGeom>
          <a:noFill/>
          <a:ln/>
        </p:spPr>
        <p:txBody>
          <a:bodyPr wrap="square" rtlCol="0" anchor="ctr"/>
          <a:lstStyle/>
          <a:p>
            <a:pPr algn="ctr" indent="0" marL="0">
              <a:buNone/>
            </a:pPr>
            <a:r>
              <a:rPr lang="en-US" sz="1600" dirty="0">
                <a:solidFill>
                  <a:srgbClr val="AABBCC"/>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6126480" y="2514600"/>
            <a:ext cx="2743200" cy="457200"/>
          </a:xfrm>
          <a:prstGeom prst="rect">
            <a:avLst/>
          </a:prstGeom>
          <a:noFill/>
          <a:ln/>
        </p:spPr>
        <p:txBody>
          <a:bodyPr wrap="square" rtlCol="0" anchor="ctr"/>
          <a:lstStyle/>
          <a:p>
            <a:pPr algn="ctr" indent="0" marL="0">
              <a:buNone/>
            </a:pPr>
            <a:r>
              <a:rPr lang="en-US" sz="1600" dirty="0">
                <a:solidFill>
                  <a:srgbClr val="AABBCC"/>
                </a:solidFill>
                <a:latin typeface="Calibri" pitchFamily="34" charset="0"/>
                <a:ea typeface="Calibri" pitchFamily="34" charset="-122"/>
                <a:cs typeface="Calibri" pitchFamily="34" charset="-120"/>
              </a:rPr>
              <a:t>約15万円</a:t>
            </a:r>
            <a:endParaRPr lang="en-US" sz="1600" dirty="0"/>
          </a:p>
        </p:txBody>
      </p:sp>
      <p:sp>
        <p:nvSpPr>
          <p:cNvPr id="19" name="Text 17"/>
          <p:cNvSpPr/>
          <p:nvPr/>
        </p:nvSpPr>
        <p:spPr>
          <a:xfrm>
            <a:off x="8961120" y="2514600"/>
            <a:ext cx="2743200" cy="457200"/>
          </a:xfrm>
          <a:prstGeom prst="rect">
            <a:avLst/>
          </a:prstGeom>
          <a:noFill/>
          <a:ln/>
        </p:spPr>
        <p:txBody>
          <a:bodyPr wrap="square" rtlCol="0" anchor="ctr"/>
          <a:lstStyle/>
          <a:p>
            <a:pPr algn="ctr" indent="0" marL="0">
              <a:buNone/>
            </a:pPr>
            <a:r>
              <a:rPr lang="en-US" sz="1600" dirty="0">
                <a:solidFill>
                  <a:srgbClr val="AABBCC"/>
                </a:solidFill>
                <a:latin typeface="Calibri" pitchFamily="34" charset="0"/>
                <a:ea typeface="Calibri" pitchFamily="34" charset="-122"/>
                <a:cs typeface="Calibri" pitchFamily="34" charset="-120"/>
              </a:rPr>
              <a:t>約45万円</a:t>
            </a:r>
            <a:endParaRPr lang="en-US" sz="1600" dirty="0"/>
          </a:p>
        </p:txBody>
      </p:sp>
      <p:sp>
        <p:nvSpPr>
          <p:cNvPr id="20" name="Shape 18"/>
          <p:cNvSpPr/>
          <p:nvPr/>
        </p:nvSpPr>
        <p:spPr>
          <a:xfrm>
            <a:off x="457200" y="3200400"/>
            <a:ext cx="11247120" cy="731520"/>
          </a:xfrm>
          <a:prstGeom prst="rect">
            <a:avLst/>
          </a:prstGeom>
          <a:solidFill>
            <a:srgbClr val="1E2A44"/>
          </a:solidFill>
          <a:ln/>
        </p:spPr>
      </p:sp>
      <p:sp>
        <p:nvSpPr>
          <p:cNvPr id="21" name="Text 19"/>
          <p:cNvSpPr/>
          <p:nvPr/>
        </p:nvSpPr>
        <p:spPr>
          <a:xfrm>
            <a:off x="640080" y="3337560"/>
            <a:ext cx="2560320" cy="457200"/>
          </a:xfrm>
          <a:prstGeom prst="rect">
            <a:avLst/>
          </a:prstGeom>
          <a:noFill/>
          <a:ln/>
        </p:spPr>
        <p:txBody>
          <a:bodyPr wrap="square" rtlCol="0" anchor="ctr"/>
          <a:lstStyle/>
          <a:p>
            <a:pPr indent="0" marL="0">
              <a:buNone/>
            </a:pPr>
            <a:r>
              <a:rPr lang="en-US" sz="1500" dirty="0">
                <a:solidFill>
                  <a:srgbClr val="AABBCC"/>
                </a:solidFill>
                <a:latin typeface="メイリオ" pitchFamily="34" charset="0"/>
                <a:ea typeface="メイリオ" pitchFamily="34" charset="-122"/>
                <a:cs typeface="メイリオ" pitchFamily="34" charset="-120"/>
              </a:rPr>
              <a:t>6ヶ月後スタート</a:t>
            </a:r>
            <a:endParaRPr lang="en-US" sz="1500" dirty="0"/>
          </a:p>
        </p:txBody>
      </p:sp>
      <p:sp>
        <p:nvSpPr>
          <p:cNvPr id="22" name="Text 20"/>
          <p:cNvSpPr/>
          <p:nvPr/>
        </p:nvSpPr>
        <p:spPr>
          <a:xfrm>
            <a:off x="3291840" y="3337560"/>
            <a:ext cx="2743200" cy="457200"/>
          </a:xfrm>
          <a:prstGeom prst="rect">
            <a:avLst/>
          </a:prstGeom>
          <a:noFill/>
          <a:ln/>
        </p:spPr>
        <p:txBody>
          <a:bodyPr wrap="square" rtlCol="0" anchor="ctr"/>
          <a:lstStyle/>
          <a:p>
            <a:pPr algn="ctr" indent="0" marL="0">
              <a:buNone/>
            </a:pPr>
            <a:r>
              <a:rPr lang="en-US" sz="1600" dirty="0">
                <a:solidFill>
                  <a:srgbClr val="AABBCC"/>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6126480" y="3337560"/>
            <a:ext cx="2743200" cy="457200"/>
          </a:xfrm>
          <a:prstGeom prst="rect">
            <a:avLst/>
          </a:prstGeom>
          <a:noFill/>
          <a:ln/>
        </p:spPr>
        <p:txBody>
          <a:bodyPr wrap="square" rtlCol="0" anchor="ctr"/>
          <a:lstStyle/>
          <a:p>
            <a:pPr algn="ctr" indent="0" marL="0">
              <a:buNone/>
            </a:pPr>
            <a:r>
              <a:rPr lang="en-US" sz="1600" dirty="0">
                <a:solidFill>
                  <a:srgbClr val="AABBCC"/>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8961120" y="3337560"/>
            <a:ext cx="2743200" cy="457200"/>
          </a:xfrm>
          <a:prstGeom prst="rect">
            <a:avLst/>
          </a:prstGeom>
          <a:noFill/>
          <a:ln/>
        </p:spPr>
        <p:txBody>
          <a:bodyPr wrap="square" rtlCol="0" anchor="ctr"/>
          <a:lstStyle/>
          <a:p>
            <a:pPr algn="ctr" indent="0" marL="0">
              <a:buNone/>
            </a:pPr>
            <a:r>
              <a:rPr lang="en-US" sz="1600" dirty="0">
                <a:solidFill>
                  <a:srgbClr val="AABBCC"/>
                </a:solidFill>
                <a:latin typeface="Calibri" pitchFamily="34" charset="0"/>
                <a:ea typeface="Calibri" pitchFamily="34" charset="-122"/>
                <a:cs typeface="Calibri" pitchFamily="34" charset="-120"/>
              </a:rPr>
              <a:t>約30万円</a:t>
            </a:r>
            <a:endParaRPr lang="en-US" sz="1600" dirty="0"/>
          </a:p>
        </p:txBody>
      </p:sp>
      <p:sp>
        <p:nvSpPr>
          <p:cNvPr id="25" name="Text 23"/>
          <p:cNvSpPr/>
          <p:nvPr/>
        </p:nvSpPr>
        <p:spPr>
          <a:xfrm>
            <a:off x="457200" y="4114800"/>
            <a:ext cx="11247120" cy="365760"/>
          </a:xfrm>
          <a:prstGeom prst="rect">
            <a:avLst/>
          </a:prstGeom>
          <a:noFill/>
          <a:ln/>
        </p:spPr>
        <p:txBody>
          <a:bodyPr wrap="square" rtlCol="0" anchor="ctr"/>
          <a:lstStyle/>
          <a:p>
            <a:pPr indent="0" marL="0">
              <a:buNone/>
            </a:pPr>
            <a:r>
              <a:rPr lang="en-US" sz="1200" dirty="0">
                <a:solidFill>
                  <a:srgbClr val="AABBCC"/>
                </a:solidFill>
                <a:latin typeface="メイリオ" pitchFamily="34" charset="0"/>
                <a:ea typeface="メイリオ" pitchFamily="34" charset="-122"/>
                <a:cs typeface="メイリオ" pitchFamily="34" charset="-120"/>
              </a:rPr>
              <a:t>※元本100万円、月5%収益目標の試算</a:t>
            </a:r>
            <a:endParaRPr lang="en-US" sz="1200" dirty="0"/>
          </a:p>
        </p:txBody>
      </p:sp>
      <p:sp>
        <p:nvSpPr>
          <p:cNvPr id="26" name="Shape 24"/>
          <p:cNvSpPr/>
          <p:nvPr/>
        </p:nvSpPr>
        <p:spPr>
          <a:xfrm>
            <a:off x="457200" y="4572000"/>
            <a:ext cx="11247120" cy="1188720"/>
          </a:xfrm>
          <a:prstGeom prst="rect">
            <a:avLst/>
          </a:prstGeom>
          <a:solidFill>
            <a:srgbClr val="243060"/>
          </a:solidFill>
          <a:ln w="12700">
            <a:solidFill>
              <a:srgbClr val="D4A843"/>
            </a:solidFill>
            <a:prstDash val="solid"/>
          </a:ln>
        </p:spPr>
      </p:sp>
      <p:sp>
        <p:nvSpPr>
          <p:cNvPr id="27" name="Text 25"/>
          <p:cNvSpPr/>
          <p:nvPr/>
        </p:nvSpPr>
        <p:spPr>
          <a:xfrm>
            <a:off x="640080" y="4663440"/>
            <a:ext cx="4572000" cy="457200"/>
          </a:xfrm>
          <a:prstGeom prst="rect">
            <a:avLst/>
          </a:prstGeom>
          <a:noFill/>
          <a:ln/>
        </p:spPr>
        <p:txBody>
          <a:bodyPr wrap="square" rtlCol="0" anchor="ctr"/>
          <a:lstStyle/>
          <a:p>
            <a:pPr indent="0" marL="0">
              <a:buNone/>
            </a:pPr>
            <a:r>
              <a:rPr lang="en-US" sz="1600" b="1" dirty="0">
                <a:solidFill>
                  <a:srgbClr val="D4A843"/>
                </a:solidFill>
                <a:latin typeface="メイリオ" pitchFamily="34" charset="0"/>
                <a:ea typeface="メイリオ" pitchFamily="34" charset="-122"/>
                <a:cs typeface="メイリオ" pitchFamily="34" charset="-120"/>
              </a:rPr>
              <a:t>受講費の回収シミュレーション</a:t>
            </a:r>
            <a:endParaRPr lang="en-US" sz="1600" dirty="0"/>
          </a:p>
        </p:txBody>
      </p:sp>
      <p:sp>
        <p:nvSpPr>
          <p:cNvPr id="28" name="Text 26"/>
          <p:cNvSpPr/>
          <p:nvPr/>
        </p:nvSpPr>
        <p:spPr>
          <a:xfrm>
            <a:off x="640080" y="5074920"/>
            <a:ext cx="10881360" cy="365760"/>
          </a:xfrm>
          <a:prstGeom prst="rect">
            <a:avLst/>
          </a:prstGeom>
          <a:noFill/>
          <a:ln/>
        </p:spPr>
        <p:txBody>
          <a:bodyPr wrap="square" rtlCol="0" anchor="ctr"/>
          <a:lstStyle/>
          <a:p>
            <a:pPr indent="0" marL="0">
              <a:buNone/>
            </a:pPr>
            <a:r>
              <a:rPr lang="en-US" sz="1500" dirty="0">
                <a:solidFill>
                  <a:srgbClr val="FFFFFF"/>
                </a:solidFill>
                <a:latin typeface="メイリオ" pitchFamily="34" charset="0"/>
                <a:ea typeface="メイリオ" pitchFamily="34" charset="-122"/>
                <a:cs typeface="メイリオ" pitchFamily="34" charset="-120"/>
              </a:rPr>
              <a:t>44万円コース：月5万円収益なら 約9ヶ月で回収</a:t>
            </a:r>
            <a:endParaRPr lang="en-US" sz="1500" dirty="0"/>
          </a:p>
        </p:txBody>
      </p:sp>
      <p:sp>
        <p:nvSpPr>
          <p:cNvPr id="29" name="Text 27"/>
          <p:cNvSpPr/>
          <p:nvPr/>
        </p:nvSpPr>
        <p:spPr>
          <a:xfrm>
            <a:off x="640080" y="5440680"/>
            <a:ext cx="10881360" cy="365760"/>
          </a:xfrm>
          <a:prstGeom prst="rect">
            <a:avLst/>
          </a:prstGeom>
          <a:noFill/>
          <a:ln/>
        </p:spPr>
        <p:txBody>
          <a:bodyPr wrap="square" rtlCol="0" anchor="ctr"/>
          <a:lstStyle/>
          <a:p>
            <a:pPr indent="0" marL="0">
              <a:buNone/>
            </a:pPr>
            <a:r>
              <a:rPr lang="en-US" sz="1500" dirty="0">
                <a:solidFill>
                  <a:srgbClr val="FFFFFF"/>
                </a:solidFill>
                <a:latin typeface="メイリオ" pitchFamily="34" charset="0"/>
                <a:ea typeface="メイリオ" pitchFamily="34" charset="-122"/>
                <a:cs typeface="メイリオ" pitchFamily="34" charset="-120"/>
              </a:rPr>
              <a:t>66万円コース：月10万円収益なら 約7ヶ月で回収</a:t>
            </a:r>
            <a:endParaRPr lang="en-US" sz="1500" dirty="0"/>
          </a:p>
        </p:txBody>
      </p:sp>
      <p:sp>
        <p:nvSpPr>
          <p:cNvPr id="30" name="Text 28"/>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先取り貯蓄の自動化</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月 2〜5万円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軍資金専用口座への自動積立を今日設定する</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証券口座（楽天証券・SBI証券等）に「軍資金専用」の積立設定を今日中に行う</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手取りの10〜20%を目標に。月収25万円なら2.5〜5万円を先に確保</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「オプション資金」と明示したラベルの口座を作り、他の貯蓄と分ける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マイルストーン：翌月末までに自動積立が1回完了していること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固定費の徹底見直し</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月 5千〜3万円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一度やれば毎月ずっと削減効果が続く</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今週中：スマホ料金プランを確認し、格安SIM（MVNO）への切り替えを検討する</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今月中：生命保険の月額を確認し、FP無料相談を1件予約する</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今日：有料サブスクを全てリストアップし、使っていないものを解約する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マイルストーン：来月の固定費が今月比5,000円以上減っていること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変動費の最適化</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月 3千〜2万円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「助走期間」の一時的な生活コンパクト化</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今週から：外食を週1回減らし、その分を現金で軍資金口座に入金する</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今日から：コンビニ利用をスーパーに切り替えるルールを設定する</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今月中：家計の「ノースペンドデー（消費ゼロの日）」を週1回設ける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マイルストーン：今月の変動費が先月比10%（5,000〜10,000円）削減できていること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キャッシュレス還元の集約</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月 2千〜1万円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すでに使っているお金をポイントに変換し即投資</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高還元クレカ（楽天・PayPay等）に支出を集中させる設定を今月中に完了する</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楽天カードなら楽天証券の「ハッピープログラム」でポイントを直接投資に設定</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毎月末にポイント残高を確認し、全額を軍資金口座に移動するルーティンを作る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マイルストーン：来月から毎月のポイント収益が軍資金口座に入金されていること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05</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ポイントサイト活用（自己アフィリ）</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初月 1〜5万円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オプション取引の準備作業でお金をもらう</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今日：ハピタスまたはモッピーに登録（無料・5分）</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今週中：オプション取引に必要な証券口座をポイントサイト経由で開設する（1〜3万pt）</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毎月：ネットショッピング・各種サービスの利用を全てポイントサイト経由にする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マイルストーン：初月に1万円以上のポイント収入を軍資金に加算していること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06</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不用品売却・断捨離収益化</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初回 3〜10万円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眠っている資産をオプションの種銭に変換</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今日：家の中を15分で見回し「半年使っていないもの」をスマホでメモする</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今週末：メルカリまたはヤフオクに5点以上出品する（写真撮影含め1〜2時間）</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来月末まで：不用品売却で3〜10万円の一時収入を軍資金に加算する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マイルストーン：1ヶ月以内に不用品売却で3万円以上を軍資金に追加していること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07</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副業・スキル収益化</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月 1〜10万円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「軍資金フェーズ限定の副業」で加速する</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今月中：クラウドワークスまたはランサーズに登録し、受注可能な案件を3件リストアップ</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今月中：ストアカまたはココナラで「自分が教えられること」を1件出品する</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副業収益は生活費に使わず「全額オプション口座に入金」ルールを今日決める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マイルストーン：翌月末までに副業で1万円以上を稼ぎ、軍資金口座に入金していること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1005840"/>
          </a:xfrm>
          <a:prstGeom prst="rect">
            <a:avLst/>
          </a:prstGeom>
          <a:solidFill>
            <a:srgbClr val="1A2744"/>
          </a:solidFill>
          <a:ln/>
        </p:spPr>
      </p:sp>
      <p:sp>
        <p:nvSpPr>
          <p:cNvPr id="4" name="Shape 2"/>
          <p:cNvSpPr/>
          <p:nvPr/>
        </p:nvSpPr>
        <p:spPr>
          <a:xfrm>
            <a:off x="0" y="987552"/>
            <a:ext cx="12192000" cy="45720"/>
          </a:xfrm>
          <a:prstGeom prst="rect">
            <a:avLst/>
          </a:prstGeom>
          <a:solidFill>
            <a:srgbClr val="00695C"/>
          </a:solidFill>
          <a:ln/>
        </p:spPr>
      </p:sp>
      <p:sp>
        <p:nvSpPr>
          <p:cNvPr id="5" name="Shape 3"/>
          <p:cNvSpPr/>
          <p:nvPr/>
        </p:nvSpPr>
        <p:spPr>
          <a:xfrm>
            <a:off x="365760" y="137160"/>
            <a:ext cx="731520" cy="731520"/>
          </a:xfrm>
          <a:prstGeom prst="rect">
            <a:avLst/>
          </a:prstGeom>
          <a:solidFill>
            <a:srgbClr val="00695C"/>
          </a:solidFill>
          <a:ln/>
        </p:spPr>
      </p:sp>
      <p:sp>
        <p:nvSpPr>
          <p:cNvPr id="6" name="Text 4"/>
          <p:cNvSpPr/>
          <p:nvPr/>
        </p:nvSpPr>
        <p:spPr>
          <a:xfrm>
            <a:off x="365760" y="13716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08</a:t>
            </a:r>
            <a:endParaRPr lang="en-US" sz="2800" dirty="0"/>
          </a:p>
        </p:txBody>
      </p:sp>
      <p:sp>
        <p:nvSpPr>
          <p:cNvPr id="7" name="Text 5"/>
          <p:cNvSpPr/>
          <p:nvPr/>
        </p:nvSpPr>
        <p:spPr>
          <a:xfrm>
            <a:off x="1280160" y="137160"/>
            <a:ext cx="7772400" cy="731520"/>
          </a:xfrm>
          <a:prstGeom prst="rect">
            <a:avLst/>
          </a:prstGeom>
          <a:noFill/>
          <a:ln/>
        </p:spPr>
        <p:txBody>
          <a:bodyPr wrap="square" rtlCol="0" anchor="ctr"/>
          <a:lstStyle/>
          <a:p>
            <a:pPr indent="0" marL="0">
              <a:buNone/>
            </a:pPr>
            <a:r>
              <a:rPr lang="en-US" sz="2600" b="1" dirty="0">
                <a:solidFill>
                  <a:srgbClr val="FFFFFF"/>
                </a:solidFill>
                <a:latin typeface="メイリオ" pitchFamily="34" charset="0"/>
                <a:ea typeface="メイリオ" pitchFamily="34" charset="-122"/>
                <a:cs typeface="メイリオ" pitchFamily="34" charset="-120"/>
              </a:rPr>
              <a:t>税制優遇制度の活用</a:t>
            </a:r>
            <a:endParaRPr lang="en-US" sz="2600" dirty="0"/>
          </a:p>
        </p:txBody>
      </p:sp>
      <p:sp>
        <p:nvSpPr>
          <p:cNvPr id="8" name="Shape 6"/>
          <p:cNvSpPr/>
          <p:nvPr/>
        </p:nvSpPr>
        <p:spPr>
          <a:xfrm>
            <a:off x="9235440" y="182880"/>
            <a:ext cx="2468880" cy="640080"/>
          </a:xfrm>
          <a:prstGeom prst="rect">
            <a:avLst/>
          </a:prstGeom>
          <a:solidFill>
            <a:srgbClr val="D4A843"/>
          </a:solidFill>
          <a:ln/>
        </p:spPr>
      </p:sp>
      <p:sp>
        <p:nvSpPr>
          <p:cNvPr id="9" name="Text 7"/>
          <p:cNvSpPr/>
          <p:nvPr/>
        </p:nvSpPr>
        <p:spPr>
          <a:xfrm>
            <a:off x="9235440" y="182880"/>
            <a:ext cx="2468880" cy="640080"/>
          </a:xfrm>
          <a:prstGeom prst="rect">
            <a:avLst/>
          </a:prstGeom>
          <a:noFill/>
          <a:ln/>
        </p:spPr>
        <p:txBody>
          <a:bodyPr wrap="square" rtlCol="0" anchor="ctr"/>
          <a:lstStyle/>
          <a:p>
            <a:pPr algn="ctr" indent="0" marL="0">
              <a:buNone/>
            </a:pPr>
            <a:r>
              <a:rPr lang="en-US" sz="1700" b="1" dirty="0">
                <a:solidFill>
                  <a:srgbClr val="1A2744"/>
                </a:solidFill>
                <a:latin typeface="メイリオ" pitchFamily="34" charset="0"/>
                <a:ea typeface="メイリオ" pitchFamily="34" charset="-122"/>
                <a:cs typeface="メイリオ" pitchFamily="34" charset="-120"/>
              </a:rPr>
              <a:t>年 5〜20万円</a:t>
            </a:r>
            <a:endParaRPr lang="en-US" sz="1700" dirty="0"/>
          </a:p>
        </p:txBody>
      </p:sp>
      <p:sp>
        <p:nvSpPr>
          <p:cNvPr id="10" name="Text 8"/>
          <p:cNvSpPr/>
          <p:nvPr/>
        </p:nvSpPr>
        <p:spPr>
          <a:xfrm>
            <a:off x="457200" y="1097280"/>
            <a:ext cx="1124712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節税効果で軍資金を増やしながら確定申告の準備もする</a:t>
            </a:r>
            <a:endParaRPr lang="en-US" sz="1400" dirty="0"/>
          </a:p>
        </p:txBody>
      </p:sp>
      <p:sp>
        <p:nvSpPr>
          <p:cNvPr id="11" name="Shape 9"/>
          <p:cNvSpPr/>
          <p:nvPr/>
        </p:nvSpPr>
        <p:spPr>
          <a:xfrm>
            <a:off x="365760" y="1600200"/>
            <a:ext cx="2011680" cy="365760"/>
          </a:xfrm>
          <a:prstGeom prst="rect">
            <a:avLst/>
          </a:prstGeom>
          <a:solidFill>
            <a:srgbClr val="E8602C"/>
          </a:solidFill>
          <a:ln/>
        </p:spPr>
      </p:sp>
      <p:sp>
        <p:nvSpPr>
          <p:cNvPr id="12" name="Text 10"/>
          <p:cNvSpPr/>
          <p:nvPr/>
        </p:nvSpPr>
        <p:spPr>
          <a:xfrm>
            <a:off x="365760" y="1600200"/>
            <a:ext cx="2011680" cy="365760"/>
          </a:xfrm>
          <a:prstGeom prst="rect">
            <a:avLst/>
          </a:prstGeom>
          <a:noFill/>
          <a:ln/>
        </p:spPr>
        <p:txBody>
          <a:bodyPr wrap="square"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今日のアクション</a:t>
            </a:r>
            <a:endParaRPr lang="en-US" sz="1300" dirty="0"/>
          </a:p>
        </p:txBody>
      </p:sp>
      <p:sp>
        <p:nvSpPr>
          <p:cNvPr id="13" name="Shape 11"/>
          <p:cNvSpPr/>
          <p:nvPr/>
        </p:nvSpPr>
        <p:spPr>
          <a:xfrm>
            <a:off x="365760" y="2057400"/>
            <a:ext cx="457200" cy="502920"/>
          </a:xfrm>
          <a:prstGeom prst="rect">
            <a:avLst/>
          </a:prstGeom>
          <a:solidFill>
            <a:srgbClr val="E8602C"/>
          </a:solidFill>
          <a:ln/>
        </p:spPr>
      </p:sp>
      <p:sp>
        <p:nvSpPr>
          <p:cNvPr id="14" name="Text 12"/>
          <p:cNvSpPr/>
          <p:nvPr/>
        </p:nvSpPr>
        <p:spPr>
          <a:xfrm>
            <a:off x="365760" y="2057400"/>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Shape 13"/>
          <p:cNvSpPr/>
          <p:nvPr/>
        </p:nvSpPr>
        <p:spPr>
          <a:xfrm>
            <a:off x="914400" y="2057400"/>
            <a:ext cx="10698480" cy="502920"/>
          </a:xfrm>
          <a:prstGeom prst="rect">
            <a:avLst/>
          </a:prstGeom>
          <a:solidFill>
            <a:srgbClr val="FFFFFF"/>
          </a:solidFill>
          <a:ln w="12700">
            <a:solidFill>
              <a:srgbClr val="DDDDDD"/>
            </a:solidFill>
            <a:prstDash val="solid"/>
          </a:ln>
        </p:spPr>
      </p:sp>
      <p:sp>
        <p:nvSpPr>
          <p:cNvPr id="16" name="Text 14"/>
          <p:cNvSpPr/>
          <p:nvPr/>
        </p:nvSpPr>
        <p:spPr>
          <a:xfrm>
            <a:off x="1005840" y="2103120"/>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今日：ふるさと納税のシミュレーションサイトで上限額を確認し、1件注文する</a:t>
            </a:r>
            <a:endParaRPr lang="en-US" sz="1500" dirty="0"/>
          </a:p>
        </p:txBody>
      </p:sp>
      <p:sp>
        <p:nvSpPr>
          <p:cNvPr id="17" name="Shape 15"/>
          <p:cNvSpPr/>
          <p:nvPr/>
        </p:nvSpPr>
        <p:spPr>
          <a:xfrm>
            <a:off x="365760" y="2770632"/>
            <a:ext cx="457200" cy="502920"/>
          </a:xfrm>
          <a:prstGeom prst="rect">
            <a:avLst/>
          </a:prstGeom>
          <a:solidFill>
            <a:srgbClr val="E8602C"/>
          </a:solidFill>
          <a:ln/>
        </p:spPr>
      </p:sp>
      <p:sp>
        <p:nvSpPr>
          <p:cNvPr id="18" name="Text 16"/>
          <p:cNvSpPr/>
          <p:nvPr/>
        </p:nvSpPr>
        <p:spPr>
          <a:xfrm>
            <a:off x="365760" y="2770632"/>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914400" y="2770632"/>
            <a:ext cx="10698480" cy="502920"/>
          </a:xfrm>
          <a:prstGeom prst="rect">
            <a:avLst/>
          </a:prstGeom>
          <a:solidFill>
            <a:srgbClr val="FFFFFF"/>
          </a:solidFill>
          <a:ln w="12700">
            <a:solidFill>
              <a:srgbClr val="DDDDDD"/>
            </a:solidFill>
            <a:prstDash val="solid"/>
          </a:ln>
        </p:spPr>
      </p:sp>
      <p:sp>
        <p:nvSpPr>
          <p:cNvPr id="20" name="Text 18"/>
          <p:cNvSpPr/>
          <p:nvPr/>
        </p:nvSpPr>
        <p:spPr>
          <a:xfrm>
            <a:off x="1005840" y="2816352"/>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今月中：iDeCoの公式サイトで掛金シミュレーションを行い、申込書を取り寄せる</a:t>
            </a:r>
            <a:endParaRPr lang="en-US" sz="1500" dirty="0"/>
          </a:p>
        </p:txBody>
      </p:sp>
      <p:sp>
        <p:nvSpPr>
          <p:cNvPr id="21" name="Shape 19"/>
          <p:cNvSpPr/>
          <p:nvPr/>
        </p:nvSpPr>
        <p:spPr>
          <a:xfrm>
            <a:off x="365760" y="3483864"/>
            <a:ext cx="457200" cy="502920"/>
          </a:xfrm>
          <a:prstGeom prst="rect">
            <a:avLst/>
          </a:prstGeom>
          <a:solidFill>
            <a:srgbClr val="E8602C"/>
          </a:solidFill>
          <a:ln/>
        </p:spPr>
      </p:sp>
      <p:sp>
        <p:nvSpPr>
          <p:cNvPr id="22" name="Text 20"/>
          <p:cNvSpPr/>
          <p:nvPr/>
        </p:nvSpPr>
        <p:spPr>
          <a:xfrm>
            <a:off x="365760" y="3483864"/>
            <a:ext cx="4572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Shape 21"/>
          <p:cNvSpPr/>
          <p:nvPr/>
        </p:nvSpPr>
        <p:spPr>
          <a:xfrm>
            <a:off x="914400" y="3483864"/>
            <a:ext cx="10698480" cy="502920"/>
          </a:xfrm>
          <a:prstGeom prst="rect">
            <a:avLst/>
          </a:prstGeom>
          <a:solidFill>
            <a:srgbClr val="FFFFFF"/>
          </a:solidFill>
          <a:ln w="12700">
            <a:solidFill>
              <a:srgbClr val="DDDDDD"/>
            </a:solidFill>
            <a:prstDash val="solid"/>
          </a:ln>
        </p:spPr>
      </p:sp>
      <p:sp>
        <p:nvSpPr>
          <p:cNvPr id="24" name="Text 22"/>
          <p:cNvSpPr/>
          <p:nvPr/>
        </p:nvSpPr>
        <p:spPr>
          <a:xfrm>
            <a:off x="1005840" y="3529584"/>
            <a:ext cx="10515600" cy="411480"/>
          </a:xfrm>
          <a:prstGeom prst="rect">
            <a:avLst/>
          </a:prstGeom>
          <a:noFill/>
          <a:ln/>
        </p:spPr>
        <p:txBody>
          <a:bodyPr wrap="square" rtlCol="0" anchor="ctr"/>
          <a:lstStyle/>
          <a:p>
            <a:pPr indent="0" marL="0">
              <a:buNone/>
            </a:pPr>
            <a:r>
              <a:rPr lang="en-US" sz="1500" dirty="0">
                <a:solidFill>
                  <a:srgbClr val="333333"/>
                </a:solidFill>
                <a:latin typeface="メイリオ" pitchFamily="34" charset="0"/>
                <a:ea typeface="メイリオ" pitchFamily="34" charset="-122"/>
                <a:cs typeface="メイリオ" pitchFamily="34" charset="-120"/>
              </a:rPr>
              <a:t>今日から：投資関連の経費（書籍・通信費等）のレシートを保管し始める</a:t>
            </a:r>
            <a:endParaRPr lang="en-US" sz="1500" dirty="0"/>
          </a:p>
        </p:txBody>
      </p:sp>
      <p:sp>
        <p:nvSpPr>
          <p:cNvPr id="25" name="Shape 23"/>
          <p:cNvSpPr/>
          <p:nvPr/>
        </p:nvSpPr>
        <p:spPr>
          <a:xfrm>
            <a:off x="365760" y="4379976"/>
            <a:ext cx="11247120" cy="685800"/>
          </a:xfrm>
          <a:prstGeom prst="rect">
            <a:avLst/>
          </a:prstGeom>
          <a:solidFill>
            <a:srgbClr val="E8F5E9"/>
          </a:solidFill>
          <a:ln w="12700">
            <a:solidFill>
              <a:srgbClr val="2E7D32"/>
            </a:solidFill>
            <a:prstDash val="solid"/>
          </a:ln>
        </p:spPr>
      </p:sp>
      <p:sp>
        <p:nvSpPr>
          <p:cNvPr id="26" name="Text 24"/>
          <p:cNvSpPr/>
          <p:nvPr/>
        </p:nvSpPr>
        <p:spPr>
          <a:xfrm>
            <a:off x="502920" y="4471416"/>
            <a:ext cx="10972800" cy="502920"/>
          </a:xfrm>
          <a:prstGeom prst="rect">
            <a:avLst/>
          </a:prstGeom>
          <a:noFill/>
          <a:ln/>
        </p:spPr>
        <p:txBody>
          <a:bodyPr wrap="square" rtlCol="0" anchor="ctr"/>
          <a:lstStyle/>
          <a:p>
            <a:pPr indent="0" marL="0">
              <a:buNone/>
            </a:pPr>
            <a:r>
              <a:rPr lang="en-US" sz="1400" b="1" dirty="0">
                <a:solidFill>
                  <a:srgbClr val="2E7D32"/>
                </a:solidFill>
                <a:latin typeface="メイリオ" pitchFamily="34" charset="0"/>
                <a:ea typeface="メイリオ" pitchFamily="34" charset="-122"/>
                <a:cs typeface="メイリオ" pitchFamily="34" charset="-120"/>
              </a:rPr>
              <a:t>🎯 マイルストーン：今年度中にふるさと納税・iDeCoの両方を設定していること</a:t>
            </a:r>
            <a:endParaRPr lang="en-US" sz="1400" dirty="0"/>
          </a:p>
        </p:txBody>
      </p:sp>
      <p:sp>
        <p:nvSpPr>
          <p:cNvPr id="27" name="Text 25"/>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365760" y="457200"/>
            <a:ext cx="73152" cy="640080"/>
          </a:xfrm>
          <a:prstGeom prst="rect">
            <a:avLst/>
          </a:prstGeom>
          <a:solidFill>
            <a:srgbClr val="00695C"/>
          </a:solidFill>
          <a:ln/>
        </p:spPr>
      </p:sp>
      <p:sp>
        <p:nvSpPr>
          <p:cNvPr id="4" name="Text 2"/>
          <p:cNvSpPr/>
          <p:nvPr/>
        </p:nvSpPr>
        <p:spPr>
          <a:xfrm>
            <a:off x="594360" y="457200"/>
            <a:ext cx="10698480" cy="640080"/>
          </a:xfrm>
          <a:prstGeom prst="rect">
            <a:avLst/>
          </a:prstGeom>
          <a:noFill/>
          <a:ln/>
        </p:spPr>
        <p:txBody>
          <a:bodyPr wrap="square" rtlCol="0" anchor="ctr"/>
          <a:lstStyle/>
          <a:p>
            <a:pPr indent="0" marL="0">
              <a:buNone/>
            </a:pPr>
            <a:r>
              <a:rPr lang="en-US" sz="2800" b="1" dirty="0">
                <a:solidFill>
                  <a:srgbClr val="1A2744"/>
                </a:solidFill>
                <a:latin typeface="メイリオ" pitchFamily="34" charset="0"/>
                <a:ea typeface="メイリオ" pitchFamily="34" charset="-122"/>
                <a:cs typeface="メイリオ" pitchFamily="34" charset="-120"/>
              </a:rPr>
              <a:t>個人別ロードマップを今日作る</a:t>
            </a:r>
            <a:endParaRPr lang="en-US" sz="2800" dirty="0"/>
          </a:p>
        </p:txBody>
      </p:sp>
      <p:sp>
        <p:nvSpPr>
          <p:cNvPr id="5" name="Text 3"/>
          <p:cNvSpPr/>
          <p:nvPr/>
        </p:nvSpPr>
        <p:spPr>
          <a:xfrm>
            <a:off x="594360" y="1143000"/>
            <a:ext cx="10698480" cy="365760"/>
          </a:xfrm>
          <a:prstGeom prst="rect">
            <a:avLst/>
          </a:prstGeom>
          <a:noFill/>
          <a:ln/>
        </p:spPr>
        <p:txBody>
          <a:bodyPr wrap="square" rtlCol="0" anchor="ctr"/>
          <a:lstStyle/>
          <a:p>
            <a:pPr indent="0" marL="0">
              <a:buNone/>
            </a:pPr>
            <a:r>
              <a:rPr lang="en-US" sz="1400" dirty="0">
                <a:solidFill>
                  <a:srgbClr val="666666"/>
                </a:solidFill>
                <a:latin typeface="メイリオ" pitchFamily="34" charset="0"/>
                <a:ea typeface="メイリオ" pitchFamily="34" charset="-122"/>
                <a:cs typeface="メイリオ" pitchFamily="34" charset="-120"/>
              </a:rPr>
              <a:t>〜 ワークシート 〜</a:t>
            </a:r>
            <a:endParaRPr lang="en-US" sz="1400" dirty="0"/>
          </a:p>
        </p:txBody>
      </p:sp>
      <p:sp>
        <p:nvSpPr>
          <p:cNvPr id="6" name="Shape 4"/>
          <p:cNvSpPr/>
          <p:nvPr/>
        </p:nvSpPr>
        <p:spPr>
          <a:xfrm>
            <a:off x="365760" y="1280160"/>
            <a:ext cx="5303520" cy="4754880"/>
          </a:xfrm>
          <a:prstGeom prst="rect">
            <a:avLst/>
          </a:prstGeom>
          <a:solidFill>
            <a:srgbClr val="FFFFFF"/>
          </a:solidFill>
          <a:ln w="12700">
            <a:solidFill>
              <a:srgbClr val="DDDDDD"/>
            </a:solidFill>
            <a:prstDash val="solid"/>
          </a:ln>
        </p:spPr>
      </p:sp>
      <p:sp>
        <p:nvSpPr>
          <p:cNvPr id="7" name="Shape 5"/>
          <p:cNvSpPr/>
          <p:nvPr/>
        </p:nvSpPr>
        <p:spPr>
          <a:xfrm>
            <a:off x="365760" y="1280160"/>
            <a:ext cx="5303520" cy="548640"/>
          </a:xfrm>
          <a:prstGeom prst="rect">
            <a:avLst/>
          </a:prstGeom>
          <a:solidFill>
            <a:srgbClr val="00695C"/>
          </a:solidFill>
          <a:ln/>
        </p:spPr>
      </p:sp>
      <p:sp>
        <p:nvSpPr>
          <p:cNvPr id="8" name="Text 6"/>
          <p:cNvSpPr/>
          <p:nvPr/>
        </p:nvSpPr>
        <p:spPr>
          <a:xfrm>
            <a:off x="365760" y="1280160"/>
            <a:ext cx="5303520" cy="548640"/>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現在の状況を確認</a:t>
            </a:r>
            <a:endParaRPr lang="en-US" sz="1600" dirty="0"/>
          </a:p>
        </p:txBody>
      </p:sp>
      <p:sp>
        <p:nvSpPr>
          <p:cNvPr id="9" name="Shape 7"/>
          <p:cNvSpPr/>
          <p:nvPr/>
        </p:nvSpPr>
        <p:spPr>
          <a:xfrm>
            <a:off x="457200" y="1965960"/>
            <a:ext cx="5120640" cy="685800"/>
          </a:xfrm>
          <a:prstGeom prst="rect">
            <a:avLst/>
          </a:prstGeom>
          <a:solidFill>
            <a:srgbClr val="F9F9F9"/>
          </a:solidFill>
          <a:ln w="12700">
            <a:solidFill>
              <a:srgbClr val="CCCCCC"/>
            </a:solidFill>
            <a:prstDash val="solid"/>
          </a:ln>
        </p:spPr>
      </p:sp>
      <p:sp>
        <p:nvSpPr>
          <p:cNvPr id="10" name="Text 8"/>
          <p:cNvSpPr/>
          <p:nvPr/>
        </p:nvSpPr>
        <p:spPr>
          <a:xfrm>
            <a:off x="594360" y="2057400"/>
            <a:ext cx="4937760" cy="502920"/>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現在の軍資金：＿＿＿万円</a:t>
            </a:r>
            <a:endParaRPr lang="en-US" sz="1400" dirty="0"/>
          </a:p>
        </p:txBody>
      </p:sp>
      <p:sp>
        <p:nvSpPr>
          <p:cNvPr id="11" name="Shape 9"/>
          <p:cNvSpPr/>
          <p:nvPr/>
        </p:nvSpPr>
        <p:spPr>
          <a:xfrm>
            <a:off x="457200" y="2834640"/>
            <a:ext cx="5120640" cy="685800"/>
          </a:xfrm>
          <a:prstGeom prst="rect">
            <a:avLst/>
          </a:prstGeom>
          <a:solidFill>
            <a:srgbClr val="F9F9F9"/>
          </a:solidFill>
          <a:ln w="12700">
            <a:solidFill>
              <a:srgbClr val="CCCCCC"/>
            </a:solidFill>
            <a:prstDash val="solid"/>
          </a:ln>
        </p:spPr>
      </p:sp>
      <p:sp>
        <p:nvSpPr>
          <p:cNvPr id="12" name="Text 10"/>
          <p:cNvSpPr/>
          <p:nvPr/>
        </p:nvSpPr>
        <p:spPr>
          <a:xfrm>
            <a:off x="594360" y="2926080"/>
            <a:ext cx="4937760" cy="502920"/>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目標の軍資金：＿＿＿万円（最低50万円）</a:t>
            </a:r>
            <a:endParaRPr lang="en-US" sz="1400" dirty="0"/>
          </a:p>
        </p:txBody>
      </p:sp>
      <p:sp>
        <p:nvSpPr>
          <p:cNvPr id="13" name="Shape 11"/>
          <p:cNvSpPr/>
          <p:nvPr/>
        </p:nvSpPr>
        <p:spPr>
          <a:xfrm>
            <a:off x="457200" y="3703320"/>
            <a:ext cx="5120640" cy="685800"/>
          </a:xfrm>
          <a:prstGeom prst="rect">
            <a:avLst/>
          </a:prstGeom>
          <a:solidFill>
            <a:srgbClr val="F9F9F9"/>
          </a:solidFill>
          <a:ln w="12700">
            <a:solidFill>
              <a:srgbClr val="CCCCCC"/>
            </a:solidFill>
            <a:prstDash val="solid"/>
          </a:ln>
        </p:spPr>
      </p:sp>
      <p:sp>
        <p:nvSpPr>
          <p:cNvPr id="14" name="Text 12"/>
          <p:cNvSpPr/>
          <p:nvPr/>
        </p:nvSpPr>
        <p:spPr>
          <a:xfrm>
            <a:off x="594360" y="3794760"/>
            <a:ext cx="4937760" cy="502920"/>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不足額：＿＿＿万円</a:t>
            </a:r>
            <a:endParaRPr lang="en-US" sz="1400" dirty="0"/>
          </a:p>
        </p:txBody>
      </p:sp>
      <p:sp>
        <p:nvSpPr>
          <p:cNvPr id="15" name="Shape 13"/>
          <p:cNvSpPr/>
          <p:nvPr/>
        </p:nvSpPr>
        <p:spPr>
          <a:xfrm>
            <a:off x="457200" y="4572000"/>
            <a:ext cx="5120640" cy="685800"/>
          </a:xfrm>
          <a:prstGeom prst="rect">
            <a:avLst/>
          </a:prstGeom>
          <a:solidFill>
            <a:srgbClr val="F9F9F9"/>
          </a:solidFill>
          <a:ln w="12700">
            <a:solidFill>
              <a:srgbClr val="CCCCCC"/>
            </a:solidFill>
            <a:prstDash val="solid"/>
          </a:ln>
        </p:spPr>
      </p:sp>
      <p:sp>
        <p:nvSpPr>
          <p:cNvPr id="16" name="Text 14"/>
          <p:cNvSpPr/>
          <p:nvPr/>
        </p:nvSpPr>
        <p:spPr>
          <a:xfrm>
            <a:off x="594360" y="4663440"/>
            <a:ext cx="4937760" cy="502920"/>
          </a:xfrm>
          <a:prstGeom prst="rect">
            <a:avLst/>
          </a:prstGeom>
          <a:noFill/>
          <a:ln/>
        </p:spPr>
        <p:txBody>
          <a:bodyPr wrap="square" rtlCol="0" anchor="ctr"/>
          <a:lstStyle/>
          <a:p>
            <a:pPr indent="0" marL="0">
              <a:buNone/>
            </a:pPr>
            <a:r>
              <a:rPr lang="en-US" sz="1400" dirty="0">
                <a:solidFill>
                  <a:srgbClr val="333333"/>
                </a:solidFill>
                <a:latin typeface="メイリオ" pitchFamily="34" charset="0"/>
                <a:ea typeface="メイリオ" pitchFamily="34" charset="-122"/>
                <a:cs typeface="メイリオ" pitchFamily="34" charset="-120"/>
              </a:rPr>
              <a:t>目標スタート月：20＿＿年＿＿月</a:t>
            </a:r>
            <a:endParaRPr lang="en-US" sz="1400" dirty="0"/>
          </a:p>
        </p:txBody>
      </p:sp>
      <p:sp>
        <p:nvSpPr>
          <p:cNvPr id="17" name="Shape 15"/>
          <p:cNvSpPr/>
          <p:nvPr/>
        </p:nvSpPr>
        <p:spPr>
          <a:xfrm>
            <a:off x="5943600" y="1280160"/>
            <a:ext cx="5760720" cy="4754880"/>
          </a:xfrm>
          <a:prstGeom prst="rect">
            <a:avLst/>
          </a:prstGeom>
          <a:solidFill>
            <a:srgbClr val="FFFFFF"/>
          </a:solidFill>
          <a:ln w="12700">
            <a:solidFill>
              <a:srgbClr val="DDDDDD"/>
            </a:solidFill>
            <a:prstDash val="solid"/>
          </a:ln>
        </p:spPr>
      </p:sp>
      <p:sp>
        <p:nvSpPr>
          <p:cNvPr id="18" name="Shape 16"/>
          <p:cNvSpPr/>
          <p:nvPr/>
        </p:nvSpPr>
        <p:spPr>
          <a:xfrm>
            <a:off x="5943600" y="1280160"/>
            <a:ext cx="5760720" cy="548640"/>
          </a:xfrm>
          <a:prstGeom prst="rect">
            <a:avLst/>
          </a:prstGeom>
          <a:solidFill>
            <a:srgbClr val="E8602C"/>
          </a:solidFill>
          <a:ln/>
        </p:spPr>
      </p:sp>
      <p:sp>
        <p:nvSpPr>
          <p:cNvPr id="19" name="Text 17"/>
          <p:cNvSpPr/>
          <p:nvPr/>
        </p:nvSpPr>
        <p:spPr>
          <a:xfrm>
            <a:off x="5943600" y="1280160"/>
            <a:ext cx="5760720" cy="548640"/>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活用する手法と月間効果</a:t>
            </a:r>
            <a:endParaRPr lang="en-US" sz="1600" dirty="0"/>
          </a:p>
        </p:txBody>
      </p:sp>
      <p:sp>
        <p:nvSpPr>
          <p:cNvPr id="20" name="Text 18"/>
          <p:cNvSpPr/>
          <p:nvPr/>
        </p:nvSpPr>
        <p:spPr>
          <a:xfrm>
            <a:off x="6126480" y="1920240"/>
            <a:ext cx="5394960" cy="548640"/>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①先取り貯蓄：月＿＿＿円</a:t>
            </a:r>
            <a:endParaRPr lang="en-US" sz="1300" dirty="0"/>
          </a:p>
        </p:txBody>
      </p:sp>
      <p:sp>
        <p:nvSpPr>
          <p:cNvPr id="21" name="Shape 19"/>
          <p:cNvSpPr/>
          <p:nvPr/>
        </p:nvSpPr>
        <p:spPr>
          <a:xfrm>
            <a:off x="5943600" y="2423160"/>
            <a:ext cx="5760720" cy="36576"/>
          </a:xfrm>
          <a:prstGeom prst="rect">
            <a:avLst/>
          </a:prstGeom>
          <a:solidFill>
            <a:srgbClr val="EEEEEE"/>
          </a:solidFill>
          <a:ln/>
        </p:spPr>
      </p:sp>
      <p:sp>
        <p:nvSpPr>
          <p:cNvPr id="22" name="Text 20"/>
          <p:cNvSpPr/>
          <p:nvPr/>
        </p:nvSpPr>
        <p:spPr>
          <a:xfrm>
            <a:off x="6126480" y="2606040"/>
            <a:ext cx="5394960" cy="548640"/>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②固定費削減：月＿＿＿円</a:t>
            </a:r>
            <a:endParaRPr lang="en-US" sz="1300" dirty="0"/>
          </a:p>
        </p:txBody>
      </p:sp>
      <p:sp>
        <p:nvSpPr>
          <p:cNvPr id="23" name="Shape 21"/>
          <p:cNvSpPr/>
          <p:nvPr/>
        </p:nvSpPr>
        <p:spPr>
          <a:xfrm>
            <a:off x="5943600" y="3108960"/>
            <a:ext cx="5760720" cy="36576"/>
          </a:xfrm>
          <a:prstGeom prst="rect">
            <a:avLst/>
          </a:prstGeom>
          <a:solidFill>
            <a:srgbClr val="EEEEEE"/>
          </a:solidFill>
          <a:ln/>
        </p:spPr>
      </p:sp>
      <p:sp>
        <p:nvSpPr>
          <p:cNvPr id="24" name="Text 22"/>
          <p:cNvSpPr/>
          <p:nvPr/>
        </p:nvSpPr>
        <p:spPr>
          <a:xfrm>
            <a:off x="6126480" y="3291840"/>
            <a:ext cx="5394960" cy="548640"/>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③変動費最適化：月＿＿＿円</a:t>
            </a:r>
            <a:endParaRPr lang="en-US" sz="1300" dirty="0"/>
          </a:p>
        </p:txBody>
      </p:sp>
      <p:sp>
        <p:nvSpPr>
          <p:cNvPr id="25" name="Shape 23"/>
          <p:cNvSpPr/>
          <p:nvPr/>
        </p:nvSpPr>
        <p:spPr>
          <a:xfrm>
            <a:off x="5943600" y="3794760"/>
            <a:ext cx="5760720" cy="36576"/>
          </a:xfrm>
          <a:prstGeom prst="rect">
            <a:avLst/>
          </a:prstGeom>
          <a:solidFill>
            <a:srgbClr val="EEEEEE"/>
          </a:solidFill>
          <a:ln/>
        </p:spPr>
      </p:sp>
      <p:sp>
        <p:nvSpPr>
          <p:cNvPr id="26" name="Text 24"/>
          <p:cNvSpPr/>
          <p:nvPr/>
        </p:nvSpPr>
        <p:spPr>
          <a:xfrm>
            <a:off x="6126480" y="3977640"/>
            <a:ext cx="5394960" cy="548640"/>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④キャッシュレス：月＿＿＿円</a:t>
            </a:r>
            <a:endParaRPr lang="en-US" sz="1300" dirty="0"/>
          </a:p>
        </p:txBody>
      </p:sp>
      <p:sp>
        <p:nvSpPr>
          <p:cNvPr id="27" name="Shape 25"/>
          <p:cNvSpPr/>
          <p:nvPr/>
        </p:nvSpPr>
        <p:spPr>
          <a:xfrm>
            <a:off x="5943600" y="4480560"/>
            <a:ext cx="5760720" cy="36576"/>
          </a:xfrm>
          <a:prstGeom prst="rect">
            <a:avLst/>
          </a:prstGeom>
          <a:solidFill>
            <a:srgbClr val="EEEEEE"/>
          </a:solidFill>
          <a:ln/>
        </p:spPr>
      </p:sp>
      <p:sp>
        <p:nvSpPr>
          <p:cNvPr id="28" name="Text 26"/>
          <p:cNvSpPr/>
          <p:nvPr/>
        </p:nvSpPr>
        <p:spPr>
          <a:xfrm>
            <a:off x="6126480" y="4663440"/>
            <a:ext cx="5394960" cy="548640"/>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⑤ポイントサイト：月＿＿＿円</a:t>
            </a:r>
            <a:endParaRPr lang="en-US" sz="1300" dirty="0"/>
          </a:p>
        </p:txBody>
      </p:sp>
      <p:sp>
        <p:nvSpPr>
          <p:cNvPr id="29" name="Shape 27"/>
          <p:cNvSpPr/>
          <p:nvPr/>
        </p:nvSpPr>
        <p:spPr>
          <a:xfrm>
            <a:off x="5943600" y="5166360"/>
            <a:ext cx="5760720" cy="36576"/>
          </a:xfrm>
          <a:prstGeom prst="rect">
            <a:avLst/>
          </a:prstGeom>
          <a:solidFill>
            <a:srgbClr val="EEEEEE"/>
          </a:solidFill>
          <a:ln/>
        </p:spPr>
      </p:sp>
      <p:sp>
        <p:nvSpPr>
          <p:cNvPr id="30" name="Text 28"/>
          <p:cNvSpPr/>
          <p:nvPr/>
        </p:nvSpPr>
        <p:spPr>
          <a:xfrm>
            <a:off x="6126480" y="5349240"/>
            <a:ext cx="5394960" cy="548640"/>
          </a:xfrm>
          <a:prstGeom prst="rect">
            <a:avLst/>
          </a:prstGeom>
          <a:noFill/>
          <a:ln/>
        </p:spPr>
        <p:txBody>
          <a:bodyPr wrap="square" rtlCol="0" anchor="ctr"/>
          <a:lstStyle/>
          <a:p>
            <a:pPr indent="0" marL="0">
              <a:buNone/>
            </a:pPr>
            <a:r>
              <a:rPr lang="en-US" sz="1300" dirty="0">
                <a:solidFill>
                  <a:srgbClr val="333333"/>
                </a:solidFill>
                <a:latin typeface="メイリオ" pitchFamily="34" charset="0"/>
                <a:ea typeface="メイリオ" pitchFamily="34" charset="-122"/>
                <a:cs typeface="メイリオ" pitchFamily="34" charset="-120"/>
              </a:rPr>
              <a:t>⑦副業：月＿＿＿円</a:t>
            </a:r>
            <a:endParaRPr lang="en-US" sz="1300" dirty="0"/>
          </a:p>
        </p:txBody>
      </p:sp>
      <p:sp>
        <p:nvSpPr>
          <p:cNvPr id="31" name="Shape 29"/>
          <p:cNvSpPr/>
          <p:nvPr/>
        </p:nvSpPr>
        <p:spPr>
          <a:xfrm>
            <a:off x="5943600" y="5852160"/>
            <a:ext cx="5760720" cy="36576"/>
          </a:xfrm>
          <a:prstGeom prst="rect">
            <a:avLst/>
          </a:prstGeom>
          <a:solidFill>
            <a:srgbClr val="EEEEEE"/>
          </a:solidFill>
          <a:ln/>
        </p:spPr>
      </p:sp>
      <p:sp>
        <p:nvSpPr>
          <p:cNvPr id="32" name="Shape 30"/>
          <p:cNvSpPr/>
          <p:nvPr/>
        </p:nvSpPr>
        <p:spPr>
          <a:xfrm>
            <a:off x="5943600" y="5532120"/>
            <a:ext cx="5760720" cy="502920"/>
          </a:xfrm>
          <a:prstGeom prst="rect">
            <a:avLst/>
          </a:prstGeom>
          <a:solidFill>
            <a:srgbClr val="D4A843"/>
          </a:solidFill>
          <a:ln/>
        </p:spPr>
      </p:sp>
      <p:sp>
        <p:nvSpPr>
          <p:cNvPr id="33" name="Text 31"/>
          <p:cNvSpPr/>
          <p:nvPr/>
        </p:nvSpPr>
        <p:spPr>
          <a:xfrm>
            <a:off x="5943600" y="5532120"/>
            <a:ext cx="5760720" cy="502920"/>
          </a:xfrm>
          <a:prstGeom prst="rect">
            <a:avLst/>
          </a:prstGeom>
          <a:noFill/>
          <a:ln/>
        </p:spPr>
        <p:txBody>
          <a:bodyPr wrap="square" rtlCol="0" anchor="ctr"/>
          <a:lstStyle/>
          <a:p>
            <a:pPr algn="ctr" indent="0" marL="0">
              <a:buNone/>
            </a:pPr>
            <a:r>
              <a:rPr lang="en-US" sz="1300" b="1" dirty="0">
                <a:solidFill>
                  <a:srgbClr val="1A2744"/>
                </a:solidFill>
                <a:latin typeface="メイリオ" pitchFamily="34" charset="0"/>
                <a:ea typeface="メイリオ" pitchFamily="34" charset="-122"/>
                <a:cs typeface="メイリオ" pitchFamily="34" charset="-120"/>
              </a:rPr>
              <a:t>合計：月＿＿＿円　→　あと＿＿ヶ月でスタート</a:t>
            </a:r>
            <a:endParaRPr lang="en-US" sz="1300" dirty="0"/>
          </a:p>
        </p:txBody>
      </p:sp>
      <p:sp>
        <p:nvSpPr>
          <p:cNvPr id="34" name="Text 32"/>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744"/>
          </a:solidFill>
          <a:ln/>
        </p:spPr>
      </p:sp>
      <p:sp>
        <p:nvSpPr>
          <p:cNvPr id="3" name="Shape 1"/>
          <p:cNvSpPr/>
          <p:nvPr/>
        </p:nvSpPr>
        <p:spPr>
          <a:xfrm>
            <a:off x="0" y="0"/>
            <a:ext cx="12192000" cy="54864"/>
          </a:xfrm>
          <a:prstGeom prst="rect">
            <a:avLst/>
          </a:prstGeom>
          <a:solidFill>
            <a:srgbClr val="00695C"/>
          </a:solidFill>
          <a:ln/>
        </p:spPr>
      </p:sp>
      <p:sp>
        <p:nvSpPr>
          <p:cNvPr id="4" name="Text 2"/>
          <p:cNvSpPr/>
          <p:nvPr/>
        </p:nvSpPr>
        <p:spPr>
          <a:xfrm>
            <a:off x="457200" y="182880"/>
            <a:ext cx="11247120" cy="548640"/>
          </a:xfrm>
          <a:prstGeom prst="rect">
            <a:avLst/>
          </a:prstGeom>
          <a:noFill/>
          <a:ln/>
        </p:spPr>
        <p:txBody>
          <a:bodyPr wrap="square" rtlCol="0" anchor="ctr"/>
          <a:lstStyle/>
          <a:p>
            <a:pPr algn="ctr" indent="0" marL="0">
              <a:buNone/>
            </a:pPr>
            <a:r>
              <a:rPr lang="en-US" sz="2800" b="1" dirty="0">
                <a:solidFill>
                  <a:srgbClr val="D4A843"/>
                </a:solidFill>
                <a:latin typeface="メイリオ" pitchFamily="34" charset="0"/>
                <a:ea typeface="メイリオ" pitchFamily="34" charset="-122"/>
                <a:cs typeface="メイリオ" pitchFamily="34" charset="-120"/>
              </a:rPr>
              <a:t>コミット宣言</a:t>
            </a:r>
            <a:endParaRPr lang="en-US" sz="2800" dirty="0"/>
          </a:p>
        </p:txBody>
      </p:sp>
      <p:sp>
        <p:nvSpPr>
          <p:cNvPr id="5" name="Shape 3"/>
          <p:cNvSpPr/>
          <p:nvPr/>
        </p:nvSpPr>
        <p:spPr>
          <a:xfrm>
            <a:off x="731520" y="914400"/>
            <a:ext cx="10698480" cy="2926080"/>
          </a:xfrm>
          <a:prstGeom prst="rect">
            <a:avLst/>
          </a:prstGeom>
          <a:solidFill>
            <a:srgbClr val="243060"/>
          </a:solidFill>
          <a:ln w="12700">
            <a:solidFill>
              <a:srgbClr val="00695C"/>
            </a:solidFill>
            <a:prstDash val="solid"/>
          </a:ln>
        </p:spPr>
      </p:sp>
      <p:sp>
        <p:nvSpPr>
          <p:cNvPr id="6" name="Text 4"/>
          <p:cNvSpPr/>
          <p:nvPr/>
        </p:nvSpPr>
        <p:spPr>
          <a:xfrm>
            <a:off x="914400" y="1097280"/>
            <a:ext cx="10332720" cy="640080"/>
          </a:xfrm>
          <a:prstGeom prst="rect">
            <a:avLst/>
          </a:prstGeom>
          <a:noFill/>
          <a:ln/>
        </p:spPr>
        <p:txBody>
          <a:bodyPr wrap="square" rtlCol="0" anchor="ctr"/>
          <a:lstStyle/>
          <a:p>
            <a:pPr indent="0" marL="0">
              <a:buNone/>
            </a:pPr>
            <a:r>
              <a:rPr lang="en-US" sz="2000" dirty="0">
                <a:solidFill>
                  <a:srgbClr val="FFFFFF"/>
                </a:solidFill>
                <a:latin typeface="メイリオ" pitchFamily="34" charset="0"/>
                <a:ea typeface="メイリオ" pitchFamily="34" charset="-122"/>
                <a:cs typeface="メイリオ" pitchFamily="34" charset="-120"/>
              </a:rPr>
              <a:t>「 私は　　　　ヶ月後（20　　年　　月）までに、</a:t>
            </a:r>
            <a:endParaRPr lang="en-US" sz="2000" dirty="0"/>
          </a:p>
        </p:txBody>
      </p:sp>
      <p:sp>
        <p:nvSpPr>
          <p:cNvPr id="7" name="Text 5"/>
          <p:cNvSpPr/>
          <p:nvPr/>
        </p:nvSpPr>
        <p:spPr>
          <a:xfrm>
            <a:off x="914400" y="1737360"/>
            <a:ext cx="10332720" cy="640080"/>
          </a:xfrm>
          <a:prstGeom prst="rect">
            <a:avLst/>
          </a:prstGeom>
          <a:noFill/>
          <a:ln/>
        </p:spPr>
        <p:txBody>
          <a:bodyPr wrap="square" rtlCol="0" anchor="ctr"/>
          <a:lstStyle/>
          <a:p>
            <a:pPr indent="0" marL="0">
              <a:buNone/>
            </a:pPr>
            <a:r>
              <a:rPr lang="en-US" sz="2000" dirty="0">
                <a:solidFill>
                  <a:srgbClr val="FFFFFF"/>
                </a:solidFill>
                <a:latin typeface="メイリオ" pitchFamily="34" charset="0"/>
                <a:ea typeface="メイリオ" pitchFamily="34" charset="-122"/>
                <a:cs typeface="メイリオ" pitchFamily="34" charset="-120"/>
              </a:rPr>
              <a:t>　月　　　　万円の軍資金を準備して、</a:t>
            </a:r>
            <a:endParaRPr lang="en-US" sz="2000" dirty="0"/>
          </a:p>
        </p:txBody>
      </p:sp>
      <p:sp>
        <p:nvSpPr>
          <p:cNvPr id="8" name="Text 6"/>
          <p:cNvSpPr/>
          <p:nvPr/>
        </p:nvSpPr>
        <p:spPr>
          <a:xfrm>
            <a:off x="914400" y="2377440"/>
            <a:ext cx="10332720" cy="640080"/>
          </a:xfrm>
          <a:prstGeom prst="rect">
            <a:avLst/>
          </a:prstGeom>
          <a:noFill/>
          <a:ln/>
        </p:spPr>
        <p:txBody>
          <a:bodyPr wrap="square" rtlCol="0" anchor="ctr"/>
          <a:lstStyle/>
          <a:p>
            <a:pPr indent="0" marL="0">
              <a:buNone/>
            </a:pPr>
            <a:r>
              <a:rPr lang="en-US" sz="2000" dirty="0">
                <a:solidFill>
                  <a:srgbClr val="FFFFFF"/>
                </a:solidFill>
                <a:latin typeface="メイリオ" pitchFamily="34" charset="0"/>
                <a:ea typeface="メイリオ" pitchFamily="34" charset="-122"/>
                <a:cs typeface="メイリオ" pitchFamily="34" charset="-120"/>
              </a:rPr>
              <a:t>　オプション取引を開始します。</a:t>
            </a:r>
            <a:endParaRPr lang="en-US" sz="2000" dirty="0"/>
          </a:p>
        </p:txBody>
      </p:sp>
      <p:sp>
        <p:nvSpPr>
          <p:cNvPr id="9" name="Text 7"/>
          <p:cNvSpPr/>
          <p:nvPr/>
        </p:nvSpPr>
        <p:spPr>
          <a:xfrm>
            <a:off x="914400" y="3017520"/>
            <a:ext cx="10332720" cy="640080"/>
          </a:xfrm>
          <a:prstGeom prst="rect">
            <a:avLst/>
          </a:prstGeom>
          <a:noFill/>
          <a:ln/>
        </p:spPr>
        <p:txBody>
          <a:bodyPr wrap="square" rtlCol="0" anchor="ctr"/>
          <a:lstStyle/>
          <a:p>
            <a:pPr indent="0" marL="0">
              <a:buNone/>
            </a:pPr>
            <a:r>
              <a:rPr lang="en-US" sz="1800" dirty="0">
                <a:solidFill>
                  <a:srgbClr val="D4A843"/>
                </a:solidFill>
                <a:latin typeface="メイリオ" pitchFamily="34" charset="0"/>
                <a:ea typeface="メイリオ" pitchFamily="34" charset="-122"/>
                <a:cs typeface="メイリオ" pitchFamily="34" charset="-120"/>
              </a:rPr>
              <a:t>　そのために今月中に＿＿＿＿＿を実行します。 」</a:t>
            </a:r>
            <a:endParaRPr lang="en-US" sz="1800" dirty="0"/>
          </a:p>
        </p:txBody>
      </p:sp>
      <p:sp>
        <p:nvSpPr>
          <p:cNvPr id="10" name="Shape 8"/>
          <p:cNvSpPr/>
          <p:nvPr/>
        </p:nvSpPr>
        <p:spPr>
          <a:xfrm>
            <a:off x="457200" y="4023360"/>
            <a:ext cx="11247120" cy="457200"/>
          </a:xfrm>
          <a:prstGeom prst="rect">
            <a:avLst/>
          </a:prstGeom>
          <a:solidFill>
            <a:srgbClr val="00695C"/>
          </a:solidFill>
          <a:ln/>
        </p:spPr>
      </p:sp>
      <p:sp>
        <p:nvSpPr>
          <p:cNvPr id="11" name="Text 9"/>
          <p:cNvSpPr/>
          <p:nvPr/>
        </p:nvSpPr>
        <p:spPr>
          <a:xfrm>
            <a:off x="457200" y="4023360"/>
            <a:ext cx="11247120" cy="457200"/>
          </a:xfrm>
          <a:prstGeom prst="rect">
            <a:avLst/>
          </a:prstGeom>
          <a:noFill/>
          <a:ln/>
        </p:spPr>
        <p:txBody>
          <a:bodyPr wrap="square" rtlCol="0" anchor="ctr"/>
          <a:lstStyle/>
          <a:p>
            <a:pPr algn="ctr" indent="0" marL="0">
              <a:buNone/>
            </a:pPr>
            <a:r>
              <a:rPr lang="en-US" sz="1600" b="1" dirty="0">
                <a:solidFill>
                  <a:srgbClr val="FFFFFF"/>
                </a:solidFill>
                <a:latin typeface="メイリオ" pitchFamily="34" charset="0"/>
                <a:ea typeface="メイリオ" pitchFamily="34" charset="-122"/>
                <a:cs typeface="メイリオ" pitchFamily="34" charset="-120"/>
              </a:rPr>
              <a:t>サポート体制</a:t>
            </a:r>
            <a:endParaRPr lang="en-US" sz="1600" dirty="0"/>
          </a:p>
        </p:txBody>
      </p:sp>
      <p:sp>
        <p:nvSpPr>
          <p:cNvPr id="12" name="Shape 10"/>
          <p:cNvSpPr/>
          <p:nvPr/>
        </p:nvSpPr>
        <p:spPr>
          <a:xfrm>
            <a:off x="457200" y="4617720"/>
            <a:ext cx="5394960" cy="502920"/>
          </a:xfrm>
          <a:prstGeom prst="rect">
            <a:avLst/>
          </a:prstGeom>
          <a:solidFill>
            <a:srgbClr val="243060"/>
          </a:solidFill>
          <a:ln/>
        </p:spPr>
      </p:sp>
      <p:sp>
        <p:nvSpPr>
          <p:cNvPr id="13" name="Text 11"/>
          <p:cNvSpPr/>
          <p:nvPr/>
        </p:nvSpPr>
        <p:spPr>
          <a:xfrm>
            <a:off x="640080" y="4663440"/>
            <a:ext cx="5120640" cy="411480"/>
          </a:xfrm>
          <a:prstGeom prst="rect">
            <a:avLst/>
          </a:prstGeom>
          <a:noFill/>
          <a:ln/>
        </p:spPr>
        <p:txBody>
          <a:bodyPr wrap="square" rtlCol="0" anchor="ctr"/>
          <a:lstStyle/>
          <a:p>
            <a:pPr indent="0" marL="0">
              <a:buNone/>
            </a:pPr>
            <a:r>
              <a:rPr lang="en-US" sz="1400" dirty="0">
                <a:solidFill>
                  <a:srgbClr val="FFFFFF"/>
                </a:solidFill>
                <a:latin typeface="メイリオ" pitchFamily="34" charset="0"/>
                <a:ea typeface="メイリオ" pitchFamily="34" charset="-122"/>
                <a:cs typeface="メイリオ" pitchFamily="34" charset="-120"/>
              </a:rPr>
              <a:t>✅  コミュニティ（進捗報告・情報共有）</a:t>
            </a:r>
            <a:endParaRPr lang="en-US" sz="1400" dirty="0"/>
          </a:p>
        </p:txBody>
      </p:sp>
      <p:sp>
        <p:nvSpPr>
          <p:cNvPr id="14" name="Shape 12"/>
          <p:cNvSpPr/>
          <p:nvPr/>
        </p:nvSpPr>
        <p:spPr>
          <a:xfrm>
            <a:off x="6126480" y="4617720"/>
            <a:ext cx="5394960" cy="502920"/>
          </a:xfrm>
          <a:prstGeom prst="rect">
            <a:avLst/>
          </a:prstGeom>
          <a:solidFill>
            <a:srgbClr val="243060"/>
          </a:solidFill>
          <a:ln/>
        </p:spPr>
      </p:sp>
      <p:sp>
        <p:nvSpPr>
          <p:cNvPr id="15" name="Text 13"/>
          <p:cNvSpPr/>
          <p:nvPr/>
        </p:nvSpPr>
        <p:spPr>
          <a:xfrm>
            <a:off x="6309360" y="4663440"/>
            <a:ext cx="5120640" cy="411480"/>
          </a:xfrm>
          <a:prstGeom prst="rect">
            <a:avLst/>
          </a:prstGeom>
          <a:noFill/>
          <a:ln/>
        </p:spPr>
        <p:txBody>
          <a:bodyPr wrap="square" rtlCol="0" anchor="ctr"/>
          <a:lstStyle/>
          <a:p>
            <a:pPr indent="0" marL="0">
              <a:buNone/>
            </a:pPr>
            <a:r>
              <a:rPr lang="en-US" sz="1400" dirty="0">
                <a:solidFill>
                  <a:srgbClr val="FFFFFF"/>
                </a:solidFill>
                <a:latin typeface="メイリオ" pitchFamily="34" charset="0"/>
                <a:ea typeface="メイリオ" pitchFamily="34" charset="-122"/>
                <a:cs typeface="メイリオ" pitchFamily="34" charset="-120"/>
              </a:rPr>
              <a:t>✅  月次フォローアップ講義</a:t>
            </a:r>
            <a:endParaRPr lang="en-US" sz="1400" dirty="0"/>
          </a:p>
        </p:txBody>
      </p:sp>
      <p:sp>
        <p:nvSpPr>
          <p:cNvPr id="16" name="Shape 14"/>
          <p:cNvSpPr/>
          <p:nvPr/>
        </p:nvSpPr>
        <p:spPr>
          <a:xfrm>
            <a:off x="457200" y="5257800"/>
            <a:ext cx="5394960" cy="502920"/>
          </a:xfrm>
          <a:prstGeom prst="rect">
            <a:avLst/>
          </a:prstGeom>
          <a:solidFill>
            <a:srgbClr val="243060"/>
          </a:solidFill>
          <a:ln/>
        </p:spPr>
      </p:sp>
      <p:sp>
        <p:nvSpPr>
          <p:cNvPr id="17" name="Text 15"/>
          <p:cNvSpPr/>
          <p:nvPr/>
        </p:nvSpPr>
        <p:spPr>
          <a:xfrm>
            <a:off x="640080" y="5303520"/>
            <a:ext cx="5120640" cy="411480"/>
          </a:xfrm>
          <a:prstGeom prst="rect">
            <a:avLst/>
          </a:prstGeom>
          <a:noFill/>
          <a:ln/>
        </p:spPr>
        <p:txBody>
          <a:bodyPr wrap="square" rtlCol="0" anchor="ctr"/>
          <a:lstStyle/>
          <a:p>
            <a:pPr indent="0" marL="0">
              <a:buNone/>
            </a:pPr>
            <a:r>
              <a:rPr lang="en-US" sz="1400" dirty="0">
                <a:solidFill>
                  <a:srgbClr val="FFFFFF"/>
                </a:solidFill>
                <a:latin typeface="メイリオ" pitchFamily="34" charset="0"/>
                <a:ea typeface="メイリオ" pitchFamily="34" charset="-122"/>
                <a:cs typeface="メイリオ" pitchFamily="34" charset="-120"/>
              </a:rPr>
              <a:t>✅  個別相談（家計・副業アドバイス）</a:t>
            </a:r>
            <a:endParaRPr lang="en-US" sz="1400" dirty="0"/>
          </a:p>
        </p:txBody>
      </p:sp>
      <p:sp>
        <p:nvSpPr>
          <p:cNvPr id="18" name="Shape 16"/>
          <p:cNvSpPr/>
          <p:nvPr/>
        </p:nvSpPr>
        <p:spPr>
          <a:xfrm>
            <a:off x="6126480" y="5257800"/>
            <a:ext cx="5394960" cy="502920"/>
          </a:xfrm>
          <a:prstGeom prst="rect">
            <a:avLst/>
          </a:prstGeom>
          <a:solidFill>
            <a:srgbClr val="243060"/>
          </a:solidFill>
          <a:ln/>
        </p:spPr>
      </p:sp>
      <p:sp>
        <p:nvSpPr>
          <p:cNvPr id="19" name="Text 17"/>
          <p:cNvSpPr/>
          <p:nvPr/>
        </p:nvSpPr>
        <p:spPr>
          <a:xfrm>
            <a:off x="6309360" y="5303520"/>
            <a:ext cx="5120640" cy="411480"/>
          </a:xfrm>
          <a:prstGeom prst="rect">
            <a:avLst/>
          </a:prstGeom>
          <a:noFill/>
          <a:ln/>
        </p:spPr>
        <p:txBody>
          <a:bodyPr wrap="square" rtlCol="0" anchor="ctr"/>
          <a:lstStyle/>
          <a:p>
            <a:pPr indent="0" marL="0">
              <a:buNone/>
            </a:pPr>
            <a:r>
              <a:rPr lang="en-US" sz="1400" dirty="0">
                <a:solidFill>
                  <a:srgbClr val="FFFFFF"/>
                </a:solidFill>
                <a:latin typeface="メイリオ" pitchFamily="34" charset="0"/>
                <a:ea typeface="メイリオ" pitchFamily="34" charset="-122"/>
                <a:cs typeface="メイリオ" pitchFamily="34" charset="-120"/>
              </a:rPr>
              <a:t>✅  取引開始サポート（最初の注文を一緒に確認）</a:t>
            </a:r>
            <a:endParaRPr lang="en-US" sz="1400" dirty="0"/>
          </a:p>
        </p:txBody>
      </p:sp>
      <p:sp>
        <p:nvSpPr>
          <p:cNvPr id="20" name="Text 18"/>
          <p:cNvSpPr/>
          <p:nvPr/>
        </p:nvSpPr>
        <p:spPr>
          <a:xfrm>
            <a:off x="274320" y="6309360"/>
            <a:ext cx="11612880" cy="274320"/>
          </a:xfrm>
          <a:prstGeom prst="rect">
            <a:avLst/>
          </a:prstGeom>
          <a:noFill/>
          <a:ln/>
        </p:spPr>
        <p:txBody>
          <a:bodyPr wrap="square" rtlCol="0" anchor="ctr"/>
          <a:lstStyle/>
          <a:p>
            <a:pPr algn="r" indent="0" marL="0">
              <a:buNone/>
            </a:pPr>
            <a:r>
              <a:rPr lang="en-US" sz="900" dirty="0">
                <a:solidFill>
                  <a:srgbClr val="666666"/>
                </a:solidFill>
                <a:latin typeface="メイリオ" pitchFamily="34" charset="0"/>
                <a:ea typeface="メイリオ" pitchFamily="34" charset="-122"/>
                <a:cs typeface="メイリオ" pitchFamily="34" charset="-120"/>
              </a:rPr>
              <a:t>高速資産形成セミナー ／ 受講者限定講義</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2026-03-02T17:34:55Z</dcterms:created>
  <dcterms:modified xsi:type="dcterms:W3CDTF">2026-03-02T17:34:55Z</dcterms:modified>
</cp:coreProperties>
</file>